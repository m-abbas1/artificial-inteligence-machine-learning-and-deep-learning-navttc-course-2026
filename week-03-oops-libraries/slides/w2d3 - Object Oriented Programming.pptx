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69" r:id="rId2"/>
    <p:sldId id="270" r:id="rId3"/>
    <p:sldId id="309" r:id="rId4"/>
    <p:sldId id="310" r:id="rId5"/>
    <p:sldId id="311" r:id="rId6"/>
    <p:sldId id="336" r:id="rId7"/>
    <p:sldId id="337" r:id="rId8"/>
    <p:sldId id="343" r:id="rId9"/>
    <p:sldId id="344" r:id="rId10"/>
    <p:sldId id="345" r:id="rId11"/>
    <p:sldId id="346" r:id="rId12"/>
    <p:sldId id="335" r:id="rId13"/>
    <p:sldId id="347" r:id="rId14"/>
    <p:sldId id="339" r:id="rId15"/>
    <p:sldId id="348" r:id="rId16"/>
    <p:sldId id="349" r:id="rId17"/>
    <p:sldId id="350" r:id="rId18"/>
    <p:sldId id="351" r:id="rId19"/>
    <p:sldId id="356" r:id="rId20"/>
    <p:sldId id="360" r:id="rId21"/>
    <p:sldId id="30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81908" autoAdjust="0"/>
  </p:normalViewPr>
  <p:slideViewPr>
    <p:cSldViewPr snapToGrid="0" snapToObjects="1">
      <p:cViewPr varScale="1">
        <p:scale>
          <a:sx n="52" d="100"/>
          <a:sy n="52" d="100"/>
        </p:scale>
        <p:origin x="1016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"HOW to do it"</a:t>
            </a:r>
            <a:r>
              <a:rPr lang="en-US" dirty="0"/>
              <a:t> - Step-by-step instructions</a:t>
            </a:r>
          </a:p>
          <a:p>
            <a:r>
              <a:rPr lang="en-US" b="1" dirty="0"/>
              <a:t>"WHAT to do"</a:t>
            </a:r>
            <a:r>
              <a:rPr lang="en-US" dirty="0"/>
              <a:t> - Describe desired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FE4E0-99C2-4C7B-9FAA-C1CC546357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52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Class</a:t>
            </a:r>
            <a:r>
              <a:rPr lang="en-US" dirty="0"/>
              <a:t>: A blueprint in code that defines </a:t>
            </a:r>
            <a:r>
              <a:rPr lang="en-US" b="1" dirty="0"/>
              <a:t>attributes</a:t>
            </a:r>
            <a:r>
              <a:rPr lang="en-US" dirty="0"/>
              <a:t> (data) and </a:t>
            </a:r>
            <a:r>
              <a:rPr lang="en-US" b="1" dirty="0"/>
              <a:t>methods</a:t>
            </a:r>
            <a:r>
              <a:rPr lang="en-US" dirty="0"/>
              <a:t> (behaviors) for objects.</a:t>
            </a:r>
          </a:p>
          <a:p>
            <a:r>
              <a:rPr lang="en-US" b="1" dirty="0"/>
              <a:t>Object</a:t>
            </a:r>
            <a:r>
              <a:rPr lang="en-US" dirty="0"/>
              <a:t>: A specific instance of the class, created using the blueprint.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34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variable is called an attribute inside a class in object-oriented programming </a:t>
            </a:r>
            <a:r>
              <a:rPr lang="en-US" dirty="0"/>
              <a:t>because it represents a feature of the class or object</a:t>
            </a:r>
          </a:p>
          <a:p>
            <a:r>
              <a:rPr lang="en-US" dirty="0"/>
              <a:t>Attributes can be defined:</a:t>
            </a:r>
          </a:p>
          <a:p>
            <a:pPr marL="171450" indent="-171450">
              <a:buFontTx/>
              <a:buChar char="-"/>
            </a:pPr>
            <a:r>
              <a:rPr lang="en-US" dirty="0"/>
              <a:t>Inside the class but outside any methods (</a:t>
            </a:r>
            <a:r>
              <a:rPr lang="en-US" b="1" dirty="0"/>
              <a:t>class attributes</a:t>
            </a:r>
            <a:r>
              <a:rPr lang="en-US" dirty="0"/>
              <a:t>).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- Inside instance methods, especially the constructor (</a:t>
            </a:r>
            <a:r>
              <a:rPr lang="en-US" b="1" dirty="0"/>
              <a:t>instance attributes</a:t>
            </a:r>
            <a:r>
              <a:rPr lang="en-US" dirty="0"/>
              <a:t>).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functions defined inside a class are referred to as </a:t>
            </a:r>
            <a:r>
              <a:rPr lang="en-US" b="1" dirty="0"/>
              <a:t>methods</a:t>
            </a:r>
            <a:r>
              <a:rPr lang="en-US" dirty="0"/>
              <a:t>.</a:t>
            </a:r>
          </a:p>
          <a:p>
            <a:pPr marL="628650" lvl="1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is associated with an object, while a function is independent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43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self </a:t>
            </a:r>
            <a:r>
              <a:rPr lang="en-US" dirty="0"/>
              <a:t>refers to the current instance of the class.</a:t>
            </a:r>
          </a:p>
          <a:p>
            <a:r>
              <a:rPr lang="en-US" dirty="0"/>
              <a:t>- It is used to access instance attributes and methods within the class.</a:t>
            </a:r>
          </a:p>
          <a:p>
            <a:pPr marL="0" indent="0">
              <a:buFontTx/>
              <a:buNone/>
            </a:pPr>
            <a:r>
              <a:rPr lang="en-US" dirty="0"/>
              <a:t>- It is not a reserved keyword; you can use any name, but by convention, self is used.</a:t>
            </a:r>
          </a:p>
          <a:p>
            <a:pPr marL="0" indent="0">
              <a:buFontTx/>
              <a:buNone/>
            </a:pPr>
            <a:endParaRPr lang="en-US" dirty="0"/>
          </a:p>
          <a:p>
            <a:r>
              <a:rPr lang="en-US" dirty="0"/>
              <a:t>- When you call dog1.greet(), Python automatically passes the dog1 object as the first argument (self), so that the method can access the instance's attributes and behavior.</a:t>
            </a:r>
          </a:p>
          <a:p>
            <a:endParaRPr lang="en-US" dirty="0"/>
          </a:p>
          <a:p>
            <a:r>
              <a:rPr lang="en-US" dirty="0"/>
              <a:t>No, a class is not required to have a constructor (__</a:t>
            </a:r>
            <a:r>
              <a:rPr lang="en-US" dirty="0" err="1"/>
              <a:t>init</a:t>
            </a:r>
            <a:r>
              <a:rPr lang="en-US" dirty="0"/>
              <a:t>__). If no constructor is defined, Python provides a default one that does nothing.</a:t>
            </a:r>
          </a:p>
          <a:p>
            <a:endParaRPr lang="en-US" dirty="0"/>
          </a:p>
          <a:p>
            <a:r>
              <a:rPr lang="en-US" dirty="0"/>
              <a:t>constructor in Python must be named __</a:t>
            </a:r>
            <a:r>
              <a:rPr lang="en-US" dirty="0" err="1"/>
              <a:t>init</a:t>
            </a:r>
            <a:r>
              <a:rPr lang="en-US" dirty="0"/>
              <a:t>__. It is a special method recognized by Python and is automatically called when an object is created.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2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Class attributes</a:t>
            </a:r>
            <a:r>
              <a:rPr lang="en-US" dirty="0"/>
              <a:t> are variables defined at the </a:t>
            </a:r>
            <a:r>
              <a:rPr lang="en-US" b="1" dirty="0"/>
              <a:t>class level</a:t>
            </a:r>
            <a:r>
              <a:rPr lang="en-US" dirty="0"/>
              <a:t>, outside of any method.</a:t>
            </a:r>
          </a:p>
          <a:p>
            <a:r>
              <a:rPr lang="en-US" dirty="0"/>
              <a:t>They are shared among all instances of the class.</a:t>
            </a:r>
          </a:p>
          <a:p>
            <a:endParaRPr lang="en-US" dirty="0"/>
          </a:p>
          <a:p>
            <a:pPr algn="just"/>
            <a:r>
              <a:rPr lang="en-US" sz="1400" b="1" dirty="0"/>
              <a:t>Visual Representation:</a:t>
            </a:r>
          </a:p>
          <a:p>
            <a:pPr lvl="1" algn="just"/>
            <a:r>
              <a:rPr lang="en-US" sz="1400" dirty="0"/>
              <a:t>Dog 1: name = 'Rex', age = 2.</a:t>
            </a:r>
          </a:p>
          <a:p>
            <a:pPr lvl="1" algn="just"/>
            <a:r>
              <a:rPr lang="en-US" sz="1400" dirty="0"/>
              <a:t>Dog 2: name = 'Buddy', age = 4.</a:t>
            </a:r>
          </a:p>
          <a:p>
            <a:pPr lvl="1" algn="just"/>
            <a:r>
              <a:rPr lang="en-US" sz="1400" dirty="0"/>
              <a:t>Both have species = 'Canine' as a shared class attribute.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Instance attributes</a:t>
            </a:r>
            <a:r>
              <a:rPr lang="en-US" dirty="0"/>
              <a:t> are variables that belong to a specific instance of the class.</a:t>
            </a:r>
          </a:p>
          <a:p>
            <a:r>
              <a:rPr lang="en-US" dirty="0"/>
              <a:t>These are typically defined in the constructor (__</a:t>
            </a:r>
            <a:r>
              <a:rPr lang="en-US" dirty="0" err="1"/>
              <a:t>init</a:t>
            </a:r>
            <a:r>
              <a:rPr lang="en-US" dirty="0"/>
              <a:t>__) or in other instance methods using self.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1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Tx/>
              <a:buChar char="-"/>
            </a:pPr>
            <a:r>
              <a:rPr lang="en-US" b="0" dirty="0"/>
              <a:t>When</a:t>
            </a:r>
            <a:r>
              <a:rPr lang="en-US" b="0" baseline="0" dirty="0"/>
              <a:t> we talk about instance of the class, the most commonly used is the instance method.</a:t>
            </a:r>
          </a:p>
          <a:p>
            <a:pPr marL="628650" lvl="1" indent="-171450" algn="just">
              <a:buFontTx/>
              <a:buChar char="-"/>
            </a:pPr>
            <a:r>
              <a:rPr lang="en-US" b="0" baseline="0" dirty="0"/>
              <a:t>Instance method takes object as the first argument.</a:t>
            </a:r>
            <a:endParaRPr lang="en-US" b="1" dirty="0"/>
          </a:p>
          <a:p>
            <a:pPr algn="just"/>
            <a:r>
              <a:rPr lang="en-US" b="1" dirty="0"/>
              <a:t>Use Cases:</a:t>
            </a:r>
            <a:endParaRPr lang="en-US" dirty="0"/>
          </a:p>
          <a:p>
            <a:pPr lvl="1" algn="just"/>
            <a:r>
              <a:rPr lang="en-US" sz="1800" dirty="0"/>
              <a:t>Instance methods for object-specific behavior.</a:t>
            </a:r>
          </a:p>
          <a:p>
            <a:pPr lvl="1" algn="just"/>
            <a:r>
              <a:rPr lang="en-US" sz="1800" dirty="0"/>
              <a:t>Class methods for operations related to the class as a whole (e.g., factory methods).</a:t>
            </a:r>
          </a:p>
          <a:p>
            <a:pPr lvl="1" algn="just"/>
            <a:r>
              <a:rPr lang="en-US" sz="1800" dirty="0"/>
              <a:t>Static methods for utility/helper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09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69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@</a:t>
            </a:r>
            <a:r>
              <a:rPr lang="en-US" dirty="0" err="1"/>
              <a:t>classmethod</a:t>
            </a:r>
            <a:r>
              <a:rPr lang="en-US" dirty="0"/>
              <a:t> decorator indicates that the method it decorates is a </a:t>
            </a:r>
            <a:r>
              <a:rPr lang="en-US" b="1" dirty="0"/>
              <a:t>class method</a:t>
            </a:r>
            <a:r>
              <a:rPr lang="en-US" dirty="0"/>
              <a:t>, not an instance method.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cls</a:t>
            </a:r>
            <a:r>
              <a:rPr lang="en-US" dirty="0"/>
              <a:t> stands for </a:t>
            </a:r>
            <a:r>
              <a:rPr lang="en-US" b="1" dirty="0"/>
              <a:t>class</a:t>
            </a:r>
            <a:r>
              <a:rPr lang="en-US" dirty="0"/>
              <a:t>, and it is the first parameter passed to the class method.</a:t>
            </a:r>
          </a:p>
          <a:p>
            <a:pPr marL="171450" indent="-171450">
              <a:buFontTx/>
              <a:buChar char="-"/>
            </a:pPr>
            <a:r>
              <a:rPr lang="en-US" dirty="0"/>
              <a:t>Yes, you can use any valid variable name instead of </a:t>
            </a:r>
            <a:r>
              <a:rPr lang="en-US" dirty="0" err="1"/>
              <a:t>cls</a:t>
            </a:r>
            <a:endParaRPr lang="en-US" dirty="0"/>
          </a:p>
          <a:p>
            <a:endParaRPr lang="en-US" baseline="0" dirty="0"/>
          </a:p>
          <a:p>
            <a:r>
              <a:rPr lang="en-US" dirty="0"/>
              <a:t>A </a:t>
            </a:r>
            <a:r>
              <a:rPr lang="en-US" b="1" dirty="0"/>
              <a:t>decorator</a:t>
            </a:r>
            <a:r>
              <a:rPr lang="en-US" dirty="0"/>
              <a:t> is a function that </a:t>
            </a:r>
            <a:r>
              <a:rPr lang="en-US" b="1" dirty="0"/>
              <a:t>modifies or enhances another function or method</a:t>
            </a:r>
            <a:r>
              <a:rPr lang="en-US" dirty="0"/>
              <a:t> — </a:t>
            </a:r>
            <a:r>
              <a:rPr lang="en-US" i="1" dirty="0"/>
              <a:t>without changing its actual code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28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Static methods</a:t>
            </a:r>
            <a:r>
              <a:rPr lang="en-US" dirty="0"/>
              <a:t> in Python do </a:t>
            </a:r>
            <a:r>
              <a:rPr lang="en-US" b="1" dirty="0"/>
              <a:t>not</a:t>
            </a:r>
            <a:r>
              <a:rPr lang="en-US" dirty="0"/>
              <a:t> use instance or class attributes, which is one of their defining characteristics. </a:t>
            </a:r>
          </a:p>
          <a:p>
            <a:endParaRPr lang="en-US" baseline="0" dirty="0"/>
          </a:p>
          <a:p>
            <a:r>
              <a:rPr lang="en-US" baseline="0" dirty="0"/>
              <a:t>- Utility function </a:t>
            </a:r>
            <a:r>
              <a:rPr lang="en-US" baseline="0" dirty="0">
                <a:sym typeface="Wingdings" panose="05000000000000000000" pitchFamily="2" charset="2"/>
              </a:rPr>
              <a:t> Helper function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10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Analogy: </a:t>
            </a:r>
            <a:r>
              <a:rPr lang="ar-AE" dirty="0"/>
              <a:t>تشبیہ</a:t>
            </a:r>
            <a:endParaRPr lang="en-US" dirty="0"/>
          </a:p>
          <a:p>
            <a:r>
              <a:rPr lang="en-US" baseline="0" dirty="0"/>
              <a:t>- The process of creating new classes by </a:t>
            </a:r>
            <a:r>
              <a:rPr lang="en-US" b="1" baseline="0" dirty="0"/>
              <a:t>extending</a:t>
            </a:r>
            <a:r>
              <a:rPr lang="en-US" baseline="0" dirty="0"/>
              <a:t> the properties and functionality of an existing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36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contains attributes and methods that are common to all derived classes.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73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super().__</a:t>
            </a:r>
            <a:r>
              <a:rPr lang="en-US" dirty="0" err="1"/>
              <a:t>init</a:t>
            </a:r>
            <a:r>
              <a:rPr lang="en-US" dirty="0"/>
              <a:t>__() calls the parent class constructor to reuse initialization code.</a:t>
            </a:r>
          </a:p>
          <a:p>
            <a:endParaRPr lang="en-US" baseline="0" dirty="0"/>
          </a:p>
          <a:p>
            <a:r>
              <a:rPr lang="en-US" sz="1200" dirty="0"/>
              <a:t>The child class, also known as the derived class or sub class.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90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63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38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998" y="459815"/>
            <a:ext cx="7504917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03 – Implementation of OOP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(Classes and Objects)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99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Classes and Objects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Instance Variables and Methods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Class Variables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Inheritance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Special Methods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35921B8-E61C-181D-7373-575C738981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91" r="49463" b="-1"/>
          <a:stretch>
            <a:fillRect/>
          </a:stretch>
        </p:blipFill>
        <p:spPr>
          <a:xfrm>
            <a:off x="-615095" y="10"/>
            <a:ext cx="4196496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FF1330-D4AB-BFF1-C14C-51C970612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97"/>
          <a:stretch>
            <a:fillRect/>
          </a:stretch>
        </p:blipFill>
        <p:spPr>
          <a:xfrm>
            <a:off x="1689200" y="1194319"/>
            <a:ext cx="8132133" cy="54304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9B65651-0184-9A43-00D2-98124492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70" y="335836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Object Oriented Programming (OOP)</a:t>
            </a:r>
          </a:p>
        </p:txBody>
      </p:sp>
    </p:spTree>
    <p:extLst>
      <p:ext uri="{BB962C8B-B14F-4D97-AF65-F5344CB8AC3E}">
        <p14:creationId xmlns:p14="http://schemas.microsoft.com/office/powerpoint/2010/main" val="2637155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8618-D1D3-9C0F-3A94-8CAEAAE4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DCD1DF-CE98-E7D4-5966-D5AC6516B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77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97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A46C-1C5D-FA2D-CB05-E0602C58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ogramming Paradigms. Programming paradigms are a way to… | by Pradeesh  Kumar | Medium">
            <a:extLst>
              <a:ext uri="{FF2B5EF4-FFF2-40B4-BE49-F238E27FC236}">
                <a16:creationId xmlns:a16="http://schemas.microsoft.com/office/drawing/2014/main" id="{8FCCD0E0-70DC-369B-835C-0BFA3680B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16" y="1530220"/>
            <a:ext cx="10814968" cy="490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8D829-69CA-6F1F-2726-AE36E4EC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70" y="335836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Different Programming Paradigms</a:t>
            </a:r>
          </a:p>
        </p:txBody>
      </p:sp>
    </p:spTree>
    <p:extLst>
      <p:ext uri="{BB962C8B-B14F-4D97-AF65-F5344CB8AC3E}">
        <p14:creationId xmlns:p14="http://schemas.microsoft.com/office/powerpoint/2010/main" val="3293474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Classes &amp;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3"/>
            <a:ext cx="6442084" cy="5608481"/>
          </a:xfrm>
        </p:spPr>
        <p:txBody>
          <a:bodyPr>
            <a:noAutofit/>
          </a:bodyPr>
          <a:lstStyle/>
          <a:p>
            <a:pPr algn="just">
              <a:spcBef>
                <a:spcPts val="200"/>
              </a:spcBef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Classes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blueprints or templates for creating objects. Think of them as a real-world entity.</a:t>
            </a:r>
          </a:p>
          <a:p>
            <a:pPr algn="just">
              <a:spcBef>
                <a:spcPts val="200"/>
              </a:spcBef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Objects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instances of classes, representing a specific example of the class.</a:t>
            </a:r>
          </a:p>
          <a:p>
            <a:pPr algn="just">
              <a:spcBef>
                <a:spcPts val="2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Objects can store data (attributes) and have behavior (methods).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class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Dog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pass</a:t>
            </a:r>
          </a:p>
          <a:p>
            <a:pPr marL="274320" lvl="1" indent="0" algn="just">
              <a:buNone/>
            </a:pP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my_dog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Dog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()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Concept: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Each object shares the class structure but holds unique data.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Classes improve modularity and reusability.</a:t>
            </a:r>
          </a:p>
          <a:p>
            <a:pPr lvl="2" algn="just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Reusability: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Once a class is defined, you can create multiple objects from it.</a:t>
            </a:r>
          </a:p>
          <a:p>
            <a:pPr lvl="2" algn="just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Modularity: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Encapsulation of data and methods within a class.</a:t>
            </a:r>
          </a:p>
        </p:txBody>
      </p:sp>
      <p:pic>
        <p:nvPicPr>
          <p:cNvPr id="1026" name="Picture 2" descr="Objects and Classes in Java - W3schoo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87" y="850501"/>
            <a:ext cx="3881470" cy="306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lasses and Objects in Python with Code: A Comprehensive Guide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058" y="4464322"/>
            <a:ext cx="4180599" cy="237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14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Attributes and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7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06073"/>
            <a:ext cx="6344356" cy="56084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Attributes (Properties): 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Variables that store the state of an object.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Methods: 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Functions defined inside a class that describe the behaviors of the object.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class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Dog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dirty="0" err="1">
                <a:solidFill>
                  <a:srgbClr val="00B05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dirty="0">
                <a:solidFill>
                  <a:srgbClr val="00B05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(self, name, breed):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self.name = name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Attribute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self.breed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= breed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Attribute</a:t>
            </a:r>
          </a:p>
          <a:p>
            <a:pPr marL="274320" lvl="1" indent="0" algn="just">
              <a:buNone/>
            </a:pPr>
            <a:endParaRPr lang="en-US" dirty="0">
              <a:latin typeface="Monaco" panose="020B0500000000000000" pitchFamily="34" charset="0"/>
              <a:cs typeface="Segoe UI" panose="020B0502040204020203" pitchFamily="34" charset="0"/>
            </a:endParaRP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bark(self):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Method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print(f“{self.name} is barking!”)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Methods’ Role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Operate on the instance’s data and can change the object’s state.</a:t>
            </a:r>
          </a:p>
          <a:p>
            <a:pPr algn="just">
              <a:spcBef>
                <a:spcPts val="200"/>
              </a:spcBef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Attributes’ Role: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Represent the object’s characteristics (e.g., name, breed, age).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6543" t="14820" r="6666" b="16563"/>
          <a:stretch/>
        </p:blipFill>
        <p:spPr>
          <a:xfrm>
            <a:off x="7049871" y="3421293"/>
            <a:ext cx="4201746" cy="34062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7284" t="21022" r="11902" b="16556"/>
          <a:stretch/>
        </p:blipFill>
        <p:spPr>
          <a:xfrm>
            <a:off x="7049871" y="342781"/>
            <a:ext cx="4201746" cy="284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52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sz="2800" b="1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sz="2800" b="1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 </a:t>
            </a:r>
            <a:r>
              <a:rPr lang="en-US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Method (Constructor)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4"/>
            <a:ext cx="6940077" cy="570055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Special method automatically called when a new object of the class is created.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Purpose: 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Used to initialize the object’s attributes.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1800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sz="1800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sz="1800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sz="1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method sets the initial values for attributes like name and age upon object creation.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class Dog: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 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(</a:t>
            </a:r>
            <a:r>
              <a:rPr lang="en-US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, name, age):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</a:t>
            </a:r>
            <a:r>
              <a:rPr lang="en-US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.name = name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</a:t>
            </a:r>
            <a:r>
              <a:rPr lang="en-US" dirty="0" err="1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.age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= age</a:t>
            </a:r>
          </a:p>
          <a:p>
            <a:pPr marL="274320" lvl="1" indent="0" algn="just">
              <a:buNone/>
            </a:pPr>
            <a:endParaRPr lang="en-US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74320" lvl="1" indent="0" algn="just">
              <a:buNone/>
            </a:pPr>
            <a:endParaRPr lang="en-US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20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self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keyword: 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Refers to the instance of the class and allows access to its attributes and methods.</a:t>
            </a:r>
          </a:p>
        </p:txBody>
      </p:sp>
      <p:pic>
        <p:nvPicPr>
          <p:cNvPr id="3074" name="Picture 2" descr="What is __init__ in Python? – Be on the Right Side of Chan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49"/>
          <a:stretch/>
        </p:blipFill>
        <p:spPr bwMode="auto">
          <a:xfrm>
            <a:off x="5498722" y="3321838"/>
            <a:ext cx="5728455" cy="2186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59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Class vs Instance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9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4"/>
            <a:ext cx="6460227" cy="570055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Instance Attributes: 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Specific to a particular instance/object, defined within </a:t>
            </a:r>
            <a:r>
              <a:rPr lang="en-US" sz="1800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sz="1800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sz="1800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 </a:t>
            </a:r>
            <a:endParaRPr lang="en-US" sz="1800" dirty="0">
              <a:latin typeface="Monaco" panose="020B0500000000000000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Class Attributes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Shared across all instances, defined directly within the class.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class </a:t>
            </a:r>
            <a:r>
              <a:rPr lang="en-US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Dog: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species = ‘Canine’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Class Attribute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 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(</a:t>
            </a:r>
            <a:r>
              <a:rPr lang="en-US" dirty="0">
                <a:solidFill>
                  <a:srgbClr val="00B05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, name, age):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</a:t>
            </a:r>
            <a:r>
              <a:rPr lang="en-US" dirty="0">
                <a:solidFill>
                  <a:srgbClr val="00B05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.name = name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Instance Attribute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</a:t>
            </a:r>
            <a:r>
              <a:rPr lang="en-US" dirty="0" err="1">
                <a:solidFill>
                  <a:srgbClr val="00B05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.age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= age</a:t>
            </a:r>
          </a:p>
          <a:p>
            <a:pPr algn="just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Class attributes are the same for all objects created from that class.</a:t>
            </a:r>
          </a:p>
          <a:p>
            <a:pPr algn="just"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Instance attributes vary from object to object.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12488" r="1209" b="2375"/>
          <a:stretch/>
        </p:blipFill>
        <p:spPr>
          <a:xfrm>
            <a:off x="7061200" y="3235274"/>
            <a:ext cx="4231639" cy="352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Types of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10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064978"/>
            <a:ext cx="10564441" cy="487571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Instance Methods: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Operate on an instance of the class and access/modify instance attributes.</a:t>
            </a:r>
          </a:p>
          <a:p>
            <a:pPr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Class Methods: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Operate on the class itself and have access to class attributes.</a:t>
            </a:r>
          </a:p>
          <a:p>
            <a:pPr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Static Methods: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Standalone functions within a class. Don’t operate on instances or the class itself.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347" y="2743201"/>
            <a:ext cx="6617502" cy="407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Instance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11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4"/>
            <a:ext cx="6146959" cy="487571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Operate on individual objects of the class and typically modify instance attributes.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Requires </a:t>
            </a:r>
            <a:r>
              <a:rPr lang="en-US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as the first parameter to refer to the specific instance.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class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Dog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dirty="0" err="1">
                <a:solidFill>
                  <a:srgbClr val="00B05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dirty="0">
                <a:solidFill>
                  <a:srgbClr val="00B05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__ 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(</a:t>
            </a:r>
            <a:r>
              <a:rPr lang="en-US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, name):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</a:t>
            </a:r>
            <a:r>
              <a:rPr lang="en-US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 self.name 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= name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bark(</a:t>
            </a:r>
            <a:r>
              <a:rPr lang="en-US" dirty="0">
                <a:solidFill>
                  <a:srgbClr val="7030A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):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print(f”{self.name} barks!”)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Explanation: </a:t>
            </a:r>
            <a:r>
              <a:rPr lang="en-US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self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allows each instance to access its own data.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Key Points: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Used to manipulate or retrieve instance-specific data.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Can modify object state.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88" y="2329542"/>
            <a:ext cx="4558233" cy="273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66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Class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3"/>
            <a:ext cx="6300569" cy="5276013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Methods that operate on the class itself and typically use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classmethod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decorator.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Uses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cls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as the first parameter to refer to the class.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class Dog: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species = ‘Canine’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classmethod</a:t>
            </a:r>
            <a:endParaRPr lang="en-US" dirty="0">
              <a:solidFill>
                <a:srgbClr val="FF0000"/>
              </a:solidFill>
              <a:latin typeface="Monaco" panose="020B0500000000000000" pitchFamily="34" charset="0"/>
              <a:cs typeface="Segoe UI" panose="020B0502040204020203" pitchFamily="34" charset="0"/>
            </a:endParaRP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show_species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(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cls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):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print(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f”All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dogs are {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cls.species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}.”)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Explanation: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Class methods are often used for operations that affect the class as a whole, like modifying class-level attributes.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4580" t="9012" r="17176" b="13950"/>
          <a:stretch/>
        </p:blipFill>
        <p:spPr>
          <a:xfrm>
            <a:off x="7382760" y="1334766"/>
            <a:ext cx="3674534" cy="393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2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Static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5899696" cy="487571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static method does not depend on instance or class; behaves like a regular function, but it is inside a class.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Uses the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staticmethod</a:t>
            </a: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decorator.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class Dog: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staticmethod</a:t>
            </a:r>
            <a:endParaRPr lang="en-US" dirty="0">
              <a:solidFill>
                <a:srgbClr val="FF0000"/>
              </a:solidFill>
              <a:latin typeface="Monaco" panose="020B0500000000000000" pitchFamily="34" charset="0"/>
              <a:cs typeface="Segoe UI" panose="020B0502040204020203" pitchFamily="34" charset="0"/>
            </a:endParaRP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info():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    print(“Dogs are loyal animals.”)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Explanation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Static methods are used for utility functions within the class that don’t need access to class or instance attributes.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Key Points: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No self or </a:t>
            </a:r>
            <a:r>
              <a:rPr lang="en-US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cls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arguments required.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Useful for grouping logically related functions with the class, even if they don’t modify object or class state.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8611" t="8024" r="8022" b="20121"/>
          <a:stretch/>
        </p:blipFill>
        <p:spPr>
          <a:xfrm>
            <a:off x="6500670" y="2649112"/>
            <a:ext cx="4792170" cy="411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7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80837" y="2440491"/>
            <a:ext cx="11907748" cy="14070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dirty="0"/>
              <a:t>Object-Oriented Programming (OOP)</a:t>
            </a:r>
            <a:br>
              <a:rPr lang="en-US" sz="4800" dirty="0"/>
            </a:br>
            <a:r>
              <a:rPr lang="en-US" sz="6700" dirty="0"/>
              <a:t>Inheritance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1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Inheritance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15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3"/>
            <a:ext cx="6190244" cy="5438565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Inheritance is a fundamental concept in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OOP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that allows one class (</a:t>
            </a:r>
            <a:r>
              <a:rPr lang="en-US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child class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 to inherit the properties and behaviors (methods) of another class (</a:t>
            </a:r>
            <a:r>
              <a:rPr lang="en-US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parent class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Analogy: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Consider inheritance as a family tree, where traits and behaviors are passed down from parents to children.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Purpose: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Code Reusability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Extend properties and functionality of an existing class in new class.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No need to repeat code in sub classes.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It allows for a more organized and maintainable code structure.</a:t>
            </a:r>
          </a:p>
          <a:p>
            <a:pPr lvl="1" algn="just"/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17037"/>
          <a:stretch/>
        </p:blipFill>
        <p:spPr>
          <a:xfrm>
            <a:off x="6791218" y="168515"/>
            <a:ext cx="4477930" cy="30253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218" y="3372954"/>
            <a:ext cx="4477930" cy="3444056"/>
          </a:xfrm>
          <a:prstGeom prst="roundRect">
            <a:avLst>
              <a:gd name="adj" fmla="val 11926"/>
            </a:avLst>
          </a:prstGeom>
        </p:spPr>
      </p:pic>
    </p:spTree>
    <p:extLst>
      <p:ext uri="{BB962C8B-B14F-4D97-AF65-F5344CB8AC3E}">
        <p14:creationId xmlns:p14="http://schemas.microsoft.com/office/powerpoint/2010/main" val="245606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Parent Class (Super Class)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16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943134"/>
            <a:ext cx="6827242" cy="5976510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Serves as a base class for other classes to inherit from.</a:t>
            </a:r>
          </a:p>
          <a:p>
            <a:pPr algn="just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Can define:</a:t>
            </a:r>
          </a:p>
          <a:p>
            <a:pPr lvl="2"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Attributes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(e.g., 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species, age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lvl="2"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Methods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 (e.g., </a:t>
            </a:r>
            <a:r>
              <a:rPr lang="en-US" sz="2000" dirty="0" err="1">
                <a:latin typeface="Monaco" panose="020B0500000000000000" pitchFamily="34" charset="0"/>
                <a:cs typeface="Segoe UI" panose="020B0502040204020203" pitchFamily="34" charset="0"/>
              </a:rPr>
              <a:t>make_sound</a:t>
            </a:r>
            <a:r>
              <a:rPr lang="en-US" sz="2000" dirty="0">
                <a:latin typeface="Monaco" panose="020B0500000000000000" pitchFamily="34" charset="0"/>
                <a:cs typeface="Segoe UI" panose="020B0502040204020203" pitchFamily="34" charset="0"/>
              </a:rPr>
              <a:t>()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274320" lvl="1" indent="0" algn="just">
              <a:buNone/>
            </a:pP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class Animal: 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Parent Class</a:t>
            </a:r>
          </a:p>
          <a:p>
            <a:pPr marL="822960" lvl="3" indent="0" algn="just">
              <a:buNone/>
            </a:pP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 __</a:t>
            </a: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__(self, species, age): </a:t>
            </a:r>
          </a:p>
          <a:p>
            <a:pPr marL="1097280" lvl="4" indent="0" algn="just">
              <a:buNone/>
            </a:pP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self.species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 = species </a:t>
            </a:r>
          </a:p>
          <a:p>
            <a:pPr marL="1097280" lvl="4" indent="0" algn="just">
              <a:buNone/>
            </a:pP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self.age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 = age </a:t>
            </a:r>
          </a:p>
          <a:p>
            <a:pPr marL="822960" lvl="3" indent="0" algn="just">
              <a:spcBef>
                <a:spcPts val="700"/>
              </a:spcBef>
              <a:buNone/>
            </a:pP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make_sound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(self): </a:t>
            </a:r>
          </a:p>
          <a:p>
            <a:pPr marL="1097280" lvl="4" indent="0" algn="just">
              <a:buNone/>
            </a:pP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return “Some sound”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670" y="1320606"/>
            <a:ext cx="4263293" cy="29260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b="46017"/>
          <a:stretch/>
        </p:blipFill>
        <p:spPr>
          <a:xfrm>
            <a:off x="5855818" y="4347393"/>
            <a:ext cx="5416474" cy="249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5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Child Class (Sub class)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17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941690"/>
            <a:ext cx="6508743" cy="5531032"/>
          </a:xfrm>
        </p:spPr>
        <p:txBody>
          <a:bodyPr>
            <a:noAutofit/>
          </a:bodyPr>
          <a:lstStyle/>
          <a:p>
            <a:pPr algn="just">
              <a:spcBef>
                <a:spcPts val="5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Inherits properties and methods from the parent class. </a:t>
            </a:r>
          </a:p>
          <a:p>
            <a:pPr algn="just">
              <a:spcBef>
                <a:spcPts val="5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can also have additional attributes and methods or override existing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ones.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Characteristics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Inheritance: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Inherits attributes and methods from the parent class.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Overriding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Can redefine methods to provide specific implementations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Class Name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Dog (inherits from Animal)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Additional Attribute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breed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Overridden Method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make_sound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()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return “Bark!”</a:t>
            </a:r>
          </a:p>
          <a:p>
            <a:pPr marL="274320" lvl="1" indent="0" algn="just">
              <a:buNone/>
            </a:pP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class Dog(Animal): </a:t>
            </a:r>
          </a:p>
          <a:p>
            <a:pPr marL="548640" lvl="2" indent="0" algn="just">
              <a:buNone/>
            </a:pP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 __</a:t>
            </a: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__(self, species, age, breed): </a:t>
            </a:r>
          </a:p>
          <a:p>
            <a:pPr marL="822960" lvl="3" indent="0" algn="just">
              <a:buNone/>
            </a:pP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super().__</a:t>
            </a: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__(species, age) </a:t>
            </a:r>
          </a:p>
          <a:p>
            <a:pPr marL="822960" lvl="3" indent="0" algn="just">
              <a:buNone/>
            </a:pP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self.breed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 = breed </a:t>
            </a:r>
          </a:p>
          <a:p>
            <a:pPr marL="548640" lvl="2" indent="0" algn="just">
              <a:buNone/>
            </a:pP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sz="1800" dirty="0" err="1">
                <a:latin typeface="Monaco" panose="020B0500000000000000" pitchFamily="34" charset="0"/>
                <a:cs typeface="Segoe UI" panose="020B0502040204020203" pitchFamily="34" charset="0"/>
              </a:rPr>
              <a:t>make_sound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(self): </a:t>
            </a:r>
          </a:p>
          <a:p>
            <a:pPr marL="822960" lvl="3" indent="0" algn="just">
              <a:buNone/>
            </a:pP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return “Bark!” </a:t>
            </a:r>
            <a:endParaRPr lang="en-US" sz="1200" dirty="0">
              <a:latin typeface="Monaco" panose="020B0500000000000000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49048"/>
          <a:stretch/>
        </p:blipFill>
        <p:spPr>
          <a:xfrm>
            <a:off x="6441896" y="3924916"/>
            <a:ext cx="4849521" cy="29021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18065" r="21247"/>
          <a:stretch/>
        </p:blipFill>
        <p:spPr>
          <a:xfrm>
            <a:off x="7248737" y="57504"/>
            <a:ext cx="3867902" cy="378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4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Overriding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18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5899696" cy="487571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child class can override a method from the parent class by redefining it.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Enables polymorphism: Same method name behaves differently across classes.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In the </a:t>
            </a:r>
            <a:r>
              <a:rPr lang="en-US" sz="1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Dog class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, the </a:t>
            </a:r>
            <a:r>
              <a:rPr lang="en-US" sz="1800" dirty="0" err="1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make_sound</a:t>
            </a:r>
            <a:r>
              <a:rPr lang="en-US" sz="1800" dirty="0">
                <a:solidFill>
                  <a:srgbClr val="FF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()</a:t>
            </a:r>
            <a:r>
              <a:rPr lang="en-US" sz="1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method is overridden to return “</a:t>
            </a:r>
            <a:r>
              <a:rPr lang="en-US" sz="1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Bark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!” instead of the generic “</a:t>
            </a:r>
            <a:r>
              <a:rPr lang="en-US" sz="1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Some sound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” from the Animal class.</a:t>
            </a:r>
          </a:p>
          <a:p>
            <a:pPr lvl="1" algn="just"/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Using </a:t>
            </a:r>
            <a:r>
              <a:rPr lang="en-US" sz="2000" b="1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super()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 algn="just"/>
            <a:r>
              <a:rPr lang="en-US" sz="1800" dirty="0">
                <a:solidFill>
                  <a:srgbClr val="00B0F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super()</a:t>
            </a:r>
            <a:r>
              <a:rPr lang="en-US" sz="18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lets the child class access methods of the parent class, especially useful in constructors.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Keeps the code clean and maintainable by avoiding hardcoding the parent class name.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928" y="417173"/>
            <a:ext cx="4552950" cy="34766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t="40328" r="53628" b="14076"/>
          <a:stretch/>
        </p:blipFill>
        <p:spPr>
          <a:xfrm>
            <a:off x="6688928" y="4152899"/>
            <a:ext cx="4559433" cy="254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8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Hierarchical Inheritance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19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5" y="969338"/>
            <a:ext cx="6784919" cy="5700556"/>
          </a:xfrm>
        </p:spPr>
        <p:txBody>
          <a:bodyPr>
            <a:noAutofit/>
          </a:bodyPr>
          <a:lstStyle/>
          <a:p>
            <a:pPr algn="just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Multiple child classes inherit from the same parent class.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Characteristics: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Allows for shared attributes and methods from a common parent class.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Promotes code reusability.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Different child classes can have additional, unique functionality.</a:t>
            </a: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Parent Class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Animal</a:t>
            </a:r>
          </a:p>
          <a:p>
            <a:pPr lvl="1"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Child Classes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Dog, Cat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class Animal: </a:t>
            </a:r>
          </a:p>
          <a:p>
            <a:pPr marL="548640" lvl="2" indent="0" algn="just">
              <a:buNone/>
            </a:pPr>
            <a:r>
              <a:rPr lang="en-US" sz="1600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sz="1600" dirty="0"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Monaco" panose="020B0500000000000000" pitchFamily="34" charset="0"/>
                <a:cs typeface="Segoe UI" panose="020B0502040204020203" pitchFamily="34" charset="0"/>
              </a:rPr>
              <a:t>make_sound</a:t>
            </a:r>
            <a:r>
              <a:rPr lang="en-US" sz="1600" dirty="0">
                <a:latin typeface="Monaco" panose="020B0500000000000000" pitchFamily="34" charset="0"/>
                <a:cs typeface="Segoe UI" panose="020B0502040204020203" pitchFamily="34" charset="0"/>
              </a:rPr>
              <a:t>(self): </a:t>
            </a:r>
          </a:p>
          <a:p>
            <a:pPr marL="548640" lvl="2" indent="0" algn="just">
              <a:buNone/>
            </a:pPr>
            <a:r>
              <a:rPr lang="en-US" sz="1600" dirty="0">
                <a:latin typeface="Monaco" panose="020B0500000000000000" pitchFamily="34" charset="0"/>
                <a:cs typeface="Segoe UI" panose="020B0502040204020203" pitchFamily="34" charset="0"/>
              </a:rPr>
              <a:t>	return “Some sound”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class Dog(Animal): </a:t>
            </a:r>
          </a:p>
          <a:p>
            <a:pPr marL="548640" lvl="2" indent="0" algn="just">
              <a:buNone/>
            </a:pPr>
            <a:r>
              <a:rPr lang="en-US" sz="1600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sz="1600" dirty="0">
                <a:latin typeface="Monaco" panose="020B0500000000000000" pitchFamily="34" charset="0"/>
                <a:cs typeface="Segoe UI" panose="020B0502040204020203" pitchFamily="34" charset="0"/>
              </a:rPr>
              <a:t> bark(self): </a:t>
            </a:r>
          </a:p>
          <a:p>
            <a:pPr marL="548640" lvl="2" indent="0" algn="just">
              <a:buNone/>
            </a:pPr>
            <a:r>
              <a:rPr lang="en-US" sz="1600" dirty="0">
                <a:latin typeface="Monaco" panose="020B0500000000000000" pitchFamily="34" charset="0"/>
                <a:cs typeface="Segoe UI" panose="020B0502040204020203" pitchFamily="34" charset="0"/>
              </a:rPr>
              <a:t>	return “Woof!” 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class Cat(Animal): </a:t>
            </a:r>
          </a:p>
          <a:p>
            <a:pPr marL="548640" lvl="2" indent="0" algn="just">
              <a:buNone/>
            </a:pPr>
            <a:r>
              <a:rPr lang="en-US" sz="1600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sz="1600" dirty="0">
                <a:latin typeface="Monaco" panose="020B0500000000000000" pitchFamily="34" charset="0"/>
                <a:cs typeface="Segoe UI" panose="020B0502040204020203" pitchFamily="34" charset="0"/>
              </a:rPr>
              <a:t> meow(self): </a:t>
            </a:r>
          </a:p>
          <a:p>
            <a:pPr marL="548640" lvl="2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	return “Meow!” </a:t>
            </a:r>
          </a:p>
        </p:txBody>
      </p:sp>
      <p:pic>
        <p:nvPicPr>
          <p:cNvPr id="6146" name="Picture 2" descr="Hierarchical inheritance in C++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464" y="4075482"/>
            <a:ext cx="6030601" cy="275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++ hierarchical inheritance - programmingk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317" y="432467"/>
            <a:ext cx="3875748" cy="292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35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Key Takeaways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20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015925"/>
            <a:ext cx="6082855" cy="5608481"/>
          </a:xfrm>
        </p:spPr>
        <p:txBody>
          <a:bodyPr>
            <a:noAutofit/>
          </a:bodyPr>
          <a:lstStyle/>
          <a:p>
            <a:pPr algn="just">
              <a:spcBef>
                <a:spcPts val="200"/>
              </a:spcBef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Functions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provide structure, clarity, and reusability.</a:t>
            </a:r>
          </a:p>
          <a:p>
            <a:pPr algn="just">
              <a:spcBef>
                <a:spcPts val="2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Learn to use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, return, arguments,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scope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effectively.</a:t>
            </a:r>
          </a:p>
          <a:p>
            <a:pPr algn="just">
              <a:spcBef>
                <a:spcPts val="2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positional, keyword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and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variable-length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arguments where appropriate.</a:t>
            </a:r>
          </a:p>
          <a:p>
            <a:pPr algn="just">
              <a:spcBef>
                <a:spcPts val="200"/>
              </a:spcBef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Bef>
                <a:spcPts val="200"/>
              </a:spcBef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Class: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Template for objects.</a:t>
            </a:r>
          </a:p>
          <a:p>
            <a:pPr algn="just">
              <a:spcBef>
                <a:spcPts val="200"/>
              </a:spcBef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Object: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Instance of a class.</a:t>
            </a:r>
          </a:p>
          <a:p>
            <a:pPr algn="just">
              <a:spcBef>
                <a:spcPts val="200"/>
              </a:spcBef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Attributes: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Represent state.</a:t>
            </a:r>
          </a:p>
          <a:p>
            <a:pPr algn="just">
              <a:spcBef>
                <a:spcPts val="200"/>
              </a:spcBef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Methods: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Represent behavior.</a:t>
            </a:r>
          </a:p>
          <a:p>
            <a:pPr algn="just">
              <a:spcBef>
                <a:spcPts val="200"/>
              </a:spcBef>
              <a:buFont typeface="Courier New" panose="02070309020205020404" pitchFamily="49" charset="0"/>
              <a:buChar char="o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Types of Methods: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Instance, Class, Static.</a:t>
            </a:r>
          </a:p>
          <a:p>
            <a:pPr algn="just">
              <a:spcBef>
                <a:spcPts val="200"/>
              </a:spcBef>
              <a:buFont typeface="Courier New" panose="02070309020205020404" pitchFamily="49" charset="0"/>
              <a:buChar char="o"/>
            </a:pPr>
            <a:r>
              <a:rPr lang="en-US" b="1" dirty="0"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b="1" dirty="0" err="1">
                <a:latin typeface="Monaco" panose="020B0500000000000000" pitchFamily="34" charset="0"/>
                <a:cs typeface="Segoe UI" panose="020B0502040204020203" pitchFamily="34" charset="0"/>
              </a:rPr>
              <a:t>init</a:t>
            </a:r>
            <a:r>
              <a:rPr lang="en-US" b="1" dirty="0">
                <a:latin typeface="Monaco" panose="020B0500000000000000" pitchFamily="34" charset="0"/>
                <a:cs typeface="Segoe UI" panose="020B0502040204020203" pitchFamily="34" charset="0"/>
              </a:rPr>
              <a:t>__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Constructor for initialization.</a:t>
            </a:r>
          </a:p>
          <a:p>
            <a:pPr algn="just">
              <a:spcBef>
                <a:spcPts val="200"/>
              </a:spcBef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608" t="4898" r="3149" b="5754"/>
          <a:stretch/>
        </p:blipFill>
        <p:spPr>
          <a:xfrm>
            <a:off x="6683829" y="1015925"/>
            <a:ext cx="4587239" cy="39573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7829" y="5276428"/>
            <a:ext cx="9035142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Inheritance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helps create an organized, reusable, and extendable class structure.</a:t>
            </a:r>
          </a:p>
          <a:p>
            <a:pPr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 inheritance to model “is-a” relationships (e.g., A Dog is an Animal).</a:t>
            </a:r>
          </a:p>
          <a:p>
            <a:pPr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Choose the right type of inheritance based on design needs.</a:t>
            </a:r>
          </a:p>
          <a:p>
            <a:pPr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 cautious with multiple and hybrid inheritance due to increased complexity.</a:t>
            </a:r>
          </a:p>
        </p:txBody>
      </p:sp>
    </p:spTree>
    <p:extLst>
      <p:ext uri="{BB962C8B-B14F-4D97-AF65-F5344CB8AC3E}">
        <p14:creationId xmlns:p14="http://schemas.microsoft.com/office/powerpoint/2010/main" val="150353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Happy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822</TotalTime>
  <Words>2057</Words>
  <Application>Microsoft Office PowerPoint</Application>
  <PresentationFormat>Widescreen</PresentationFormat>
  <Paragraphs>271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Arial</vt:lpstr>
      <vt:lpstr>Century Schoolbook</vt:lpstr>
      <vt:lpstr>Courier New</vt:lpstr>
      <vt:lpstr>Monaco</vt:lpstr>
      <vt:lpstr>Segoe UI</vt:lpstr>
      <vt:lpstr>Tahoma</vt:lpstr>
      <vt:lpstr>Wingdings</vt:lpstr>
      <vt:lpstr>Wingdings 2</vt:lpstr>
      <vt:lpstr>View</vt:lpstr>
      <vt:lpstr>Spring of Code Artificial Intelligence (Machine Learning &amp; Deep Learning)</vt:lpstr>
      <vt:lpstr>Day 03 – Implementation of OOP (Classes and Objects)</vt:lpstr>
      <vt:lpstr>Object Oriented Programming (OOP)</vt:lpstr>
      <vt:lpstr>PowerPoint Presentation</vt:lpstr>
      <vt:lpstr>Different Programming Paradigms</vt:lpstr>
      <vt:lpstr>Classes &amp; Objects</vt:lpstr>
      <vt:lpstr>Attributes and Methods</vt:lpstr>
      <vt:lpstr>The __init__  Method (Constructor)</vt:lpstr>
      <vt:lpstr>Class vs Instance Attributes</vt:lpstr>
      <vt:lpstr>Types of Methods</vt:lpstr>
      <vt:lpstr>Instance Methods</vt:lpstr>
      <vt:lpstr>Class Methods</vt:lpstr>
      <vt:lpstr>Static Methods</vt:lpstr>
      <vt:lpstr>Object-Oriented Programming (OOP) Inheritance</vt:lpstr>
      <vt:lpstr>Inheritance</vt:lpstr>
      <vt:lpstr>Parent Class (Super Class)</vt:lpstr>
      <vt:lpstr>Child Class (Sub class)</vt:lpstr>
      <vt:lpstr>Overriding Methods</vt:lpstr>
      <vt:lpstr>Hierarchical Inheritance</vt:lpstr>
      <vt:lpstr>Key Takeaways</vt:lpstr>
      <vt:lpstr>Happy Coding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Asad Afridi</dc:creator>
  <cp:keywords/>
  <dc:description>generated using python-pptx</dc:description>
  <cp:lastModifiedBy>Asad Afridi</cp:lastModifiedBy>
  <cp:revision>18</cp:revision>
  <dcterms:created xsi:type="dcterms:W3CDTF">2013-01-27T09:14:16Z</dcterms:created>
  <dcterms:modified xsi:type="dcterms:W3CDTF">2026-02-25T00:03:27Z</dcterms:modified>
  <cp:category/>
</cp:coreProperties>
</file>