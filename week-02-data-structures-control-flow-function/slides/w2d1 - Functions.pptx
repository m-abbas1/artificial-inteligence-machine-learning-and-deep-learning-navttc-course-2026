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69" r:id="rId2"/>
    <p:sldId id="270" r:id="rId3"/>
    <p:sldId id="258" r:id="rId4"/>
    <p:sldId id="311" r:id="rId5"/>
    <p:sldId id="310" r:id="rId6"/>
    <p:sldId id="312" r:id="rId7"/>
    <p:sldId id="324" r:id="rId8"/>
    <p:sldId id="325" r:id="rId9"/>
    <p:sldId id="319" r:id="rId10"/>
    <p:sldId id="330" r:id="rId11"/>
    <p:sldId id="331" r:id="rId12"/>
    <p:sldId id="335" r:id="rId13"/>
    <p:sldId id="339" r:id="rId14"/>
    <p:sldId id="340" r:id="rId15"/>
    <p:sldId id="336" r:id="rId16"/>
    <p:sldId id="345" r:id="rId17"/>
    <p:sldId id="346" r:id="rId18"/>
    <p:sldId id="347" r:id="rId19"/>
    <p:sldId id="30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99" autoAdjust="0"/>
    <p:restoredTop sz="95165" autoAdjust="0"/>
  </p:normalViewPr>
  <p:slideViewPr>
    <p:cSldViewPr snapToGrid="0" snapToObjects="1">
      <p:cViewPr varScale="1">
        <p:scale>
          <a:sx n="63" d="100"/>
          <a:sy n="63" d="100"/>
        </p:scale>
        <p:origin x="57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Redundancy</a:t>
            </a:r>
            <a:r>
              <a:rPr lang="en-US" dirty="0"/>
              <a:t> means </a:t>
            </a:r>
            <a:r>
              <a:rPr lang="en-US" b="1" dirty="0"/>
              <a:t>repeating the same code or logic multiple times</a:t>
            </a:r>
            <a:r>
              <a:rPr lang="en-US" dirty="0"/>
              <a:t> in a program.</a:t>
            </a:r>
          </a:p>
          <a:p>
            <a:r>
              <a:rPr lang="en-US" dirty="0"/>
              <a:t>- Python has </a:t>
            </a:r>
            <a:r>
              <a:rPr lang="en-US" b="1" dirty="0"/>
              <a:t>69 built-in functions</a:t>
            </a:r>
            <a:r>
              <a:rPr lang="en-US" dirty="0"/>
              <a:t> as of Python 3.12 (you can view them with </a:t>
            </a:r>
            <a:r>
              <a:rPr lang="en-US" i="1" dirty="0" err="1"/>
              <a:t>dir</a:t>
            </a:r>
            <a:r>
              <a:rPr lang="en-US" i="1" dirty="0"/>
              <a:t>(__</a:t>
            </a:r>
            <a:r>
              <a:rPr lang="en-US" i="1" dirty="0" err="1"/>
              <a:t>builtins</a:t>
            </a:r>
            <a:r>
              <a:rPr lang="en-US" i="1" dirty="0"/>
              <a:t>__).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Avoid using built-in function names as variable names.</a:t>
            </a:r>
            <a:endParaRPr lang="en-US" i="1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74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Program crashes</a:t>
            </a:r>
            <a:r>
              <a:rPr lang="en-US" dirty="0"/>
              <a:t> means your program </a:t>
            </a:r>
            <a:r>
              <a:rPr lang="en-US" b="1" dirty="0"/>
              <a:t>stops running unexpectedly</a:t>
            </a:r>
            <a:r>
              <a:rPr lang="en-US" dirty="0"/>
              <a:t> and exits completely, often showing error messages to the user.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2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Three main types</a:t>
            </a:r>
            <a:r>
              <a:rPr lang="en-US" dirty="0"/>
              <a:t>: </a:t>
            </a:r>
          </a:p>
          <a:p>
            <a:pPr lvl="1"/>
            <a:r>
              <a:rPr lang="en-US" b="1" dirty="0"/>
              <a:t>Syntax Errors</a:t>
            </a:r>
            <a:r>
              <a:rPr lang="en-US" dirty="0"/>
              <a:t> - Grammar mistakes</a:t>
            </a:r>
          </a:p>
          <a:p>
            <a:pPr lvl="1"/>
            <a:r>
              <a:rPr lang="en-US" b="1" dirty="0"/>
              <a:t>Runtime Errors</a:t>
            </a:r>
            <a:r>
              <a:rPr lang="en-US" dirty="0"/>
              <a:t> - Execution problems</a:t>
            </a:r>
          </a:p>
          <a:p>
            <a:pPr lvl="1"/>
            <a:r>
              <a:rPr lang="en-US" b="1" dirty="0"/>
              <a:t>Logic Errors</a:t>
            </a:r>
            <a:r>
              <a:rPr lang="en-US" dirty="0"/>
              <a:t> - Wrong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97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A run-time error is called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82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Exceptions abnormally terminate the execution of a program.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exceptions abnormally terminate the execution of a program, it is important to handle exceptions. In Python, we use the try...except block to handle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28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can manually throw an exception at any point in our program using the </a:t>
            </a:r>
            <a:r>
              <a:rPr lang="en-US" b="1" dirty="0"/>
              <a:t>raise</a:t>
            </a:r>
            <a:r>
              <a:rPr lang="en-US" dirty="0"/>
              <a:t> keyword.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77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Files are like notebooks - they remember everything even when you close them!</a:t>
            </a:r>
          </a:p>
          <a:p>
            <a:r>
              <a:rPr lang="en-US" dirty="0"/>
              <a:t>Logging is the process of recording structured information about a program's execution to monitor, debug, audit, and understand its behavior over time.</a:t>
            </a:r>
          </a:p>
          <a:p>
            <a:r>
              <a:rPr lang="en-US" dirty="0"/>
              <a:t>It involves writing messages (known as logs) that describe the program's state, actions, or errors at different points during its operation.</a:t>
            </a:r>
          </a:p>
          <a:p>
            <a:endParaRPr lang="en-US" dirty="0"/>
          </a:p>
          <a:p>
            <a:r>
              <a:rPr lang="en-US" dirty="0"/>
              <a:t>Auditing is the systematic recording and reviewing of events to ensure accountability, security, compliance, and system integrity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66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51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kern="1200" spc="10" baseline="0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Read and write mode - file's content is not truncated</a:t>
            </a:r>
          </a:p>
          <a:p>
            <a:endParaRPr lang="en-US" sz="1600" b="1" kern="1200" spc="10" baseline="0" dirty="0">
              <a:solidFill>
                <a:schemeClr val="accent3">
                  <a:lumMod val="75000"/>
                </a:schemeClr>
              </a:solidFill>
              <a:latin typeface="Monaco" panose="020B0500000000000000" pitchFamily="34" charset="0"/>
              <a:ea typeface="Cascadia Code" panose="020B0609020000020004" pitchFamily="49" charset="0"/>
              <a:cs typeface="Segoe UI" panose="020B0502040204020203" pitchFamily="34" charset="0"/>
            </a:endParaRPr>
          </a:p>
          <a:p>
            <a:r>
              <a:rPr lang="en-US" sz="1600" b="1" kern="1200" spc="10" baseline="0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Why Use Binary Mode?</a:t>
            </a:r>
          </a:p>
          <a:p>
            <a:r>
              <a:rPr lang="en-US" sz="1600" b="1" kern="1200" spc="10" baseline="0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Binary Data: It's essential when working with non-text files, such as:</a:t>
            </a:r>
          </a:p>
          <a:p>
            <a:pPr lvl="1"/>
            <a:r>
              <a:rPr lang="en-US" sz="1600" b="1" kern="1200" spc="10" baseline="0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Images (e.g., .</a:t>
            </a:r>
            <a:r>
              <a:rPr lang="en-US" sz="1600" b="1" kern="1200" spc="10" baseline="0" dirty="0" err="1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png</a:t>
            </a:r>
            <a:r>
              <a:rPr lang="en-US" sz="1600" b="1" kern="1200" spc="10" baseline="0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, .jpg)</a:t>
            </a:r>
          </a:p>
          <a:p>
            <a:pPr lvl="1"/>
            <a:r>
              <a:rPr lang="en-US" sz="1600" b="1" kern="1200" spc="10" baseline="0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Audio (e.g., .mp3, .wav)</a:t>
            </a:r>
          </a:p>
          <a:p>
            <a:pPr lvl="1"/>
            <a:r>
              <a:rPr lang="en-US" sz="1600" b="1" kern="1200" spc="10" baseline="0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Video (e.g., .mp4)</a:t>
            </a:r>
          </a:p>
          <a:p>
            <a:pPr lvl="1"/>
            <a:r>
              <a:rPr lang="en-US" dirty="0"/>
              <a:t>Binary executables (e.g., .exe, .bin)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14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read(), the argument is the number of characters to read. For </a:t>
            </a:r>
            <a:r>
              <a:rPr lang="en-US" dirty="0" err="1"/>
              <a:t>readline</a:t>
            </a:r>
            <a:r>
              <a:rPr lang="en-US" dirty="0"/>
              <a:t>() and </a:t>
            </a:r>
            <a:r>
              <a:rPr lang="en-US" dirty="0" err="1"/>
              <a:t>readlines</a:t>
            </a:r>
            <a:r>
              <a:rPr lang="en-US" dirty="0"/>
              <a:t>(), the argument specifies the maximum number of characters for the line or lines.</a:t>
            </a:r>
          </a:p>
          <a:p>
            <a:endParaRPr lang="en-US" dirty="0"/>
          </a:p>
          <a:p>
            <a:r>
              <a:rPr lang="en-US" dirty="0"/>
              <a:t>The difference is in the format of the </a:t>
            </a:r>
            <a:r>
              <a:rPr lang="en-US" dirty="0" err="1"/>
              <a:t>output:read</a:t>
            </a:r>
            <a:r>
              <a:rPr lang="en-US" dirty="0"/>
              <a:t>() returns </a:t>
            </a:r>
            <a:r>
              <a:rPr lang="en-US" b="1" dirty="0"/>
              <a:t>one string</a:t>
            </a:r>
            <a:r>
              <a:rPr lang="en-US" dirty="0"/>
              <a:t>.</a:t>
            </a:r>
          </a:p>
          <a:p>
            <a:r>
              <a:rPr lang="en-US" dirty="0" err="1"/>
              <a:t>readlines</a:t>
            </a:r>
            <a:r>
              <a:rPr lang="en-US" dirty="0"/>
              <a:t>() returns a </a:t>
            </a:r>
            <a:r>
              <a:rPr lang="en-US" b="1" dirty="0"/>
              <a:t>list of strings</a:t>
            </a:r>
            <a:r>
              <a:rPr lang="en-US" dirty="0"/>
              <a:t> (one string per 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43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kern="1200" spc="10" baseline="0" dirty="0">
              <a:solidFill>
                <a:schemeClr val="tx1"/>
              </a:solidFill>
              <a:latin typeface="Monaco" panose="020B0500000000000000" pitchFamily="34" charset="0"/>
              <a:ea typeface="Cascadia Code" panose="020B0609020000020004" pitchFamily="49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3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File Context Manager</a:t>
            </a:r>
            <a:r>
              <a:rPr lang="en-US" dirty="0"/>
              <a:t> in Python is a convenient way to handle files efficiently, ensuring they are properly opened and closed during the execution of a block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444F9E-7B4F-40DE-AFD5-F74F7B195A4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46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does </a:t>
            </a:r>
            <a:r>
              <a:rPr lang="en-US" b="1" dirty="0"/>
              <a:t>not automatically</a:t>
            </a:r>
            <a:r>
              <a:rPr lang="en-US" dirty="0"/>
              <a:t> handle file-related errors by default, so it is important to explicitly write code to handle these exceptions.</a:t>
            </a:r>
          </a:p>
          <a:p>
            <a:pPr marL="171450" indent="-171450">
              <a:buFontTx/>
              <a:buChar char="-"/>
            </a:pPr>
            <a:r>
              <a:rPr lang="en-US" dirty="0"/>
              <a:t>Always wrap file operations in try-except blocks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444F9E-7B4F-40DE-AFD5-F74F7B195A4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47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999" y="459815"/>
            <a:ext cx="7346544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01 and 02 – Python Fundamentals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(Functions)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99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are Functions?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What is Scope?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Lambda Expressions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Error/Exception Handling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Working with Files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35921B8-E61C-181D-7373-575C738981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91" r="49463" b="-1"/>
          <a:stretch>
            <a:fillRect/>
          </a:stretch>
        </p:blipFill>
        <p:spPr>
          <a:xfrm>
            <a:off x="-615095" y="10"/>
            <a:ext cx="4196496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5203925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5"/>
            <a:ext cx="5934999" cy="560848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Functions are named, reusable blocks of code designed to perform a specific task.</a:t>
            </a:r>
          </a:p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Types of Functions: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Built-in functions (e.g., 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print(), 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len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()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lvl="1"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User-defined functions (created using </a:t>
            </a:r>
            <a:r>
              <a:rPr lang="en-US" dirty="0" err="1">
                <a:solidFill>
                  <a:srgbClr val="0070C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0" indent="0" algn="just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Example:</a:t>
            </a:r>
          </a:p>
          <a:p>
            <a:pPr marL="274320" lvl="1" indent="0" algn="just">
              <a:buNone/>
            </a:pPr>
            <a:r>
              <a:rPr lang="en-US" dirty="0" err="1">
                <a:solidFill>
                  <a:srgbClr val="0070C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def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greet(name):</a:t>
            </a:r>
          </a:p>
          <a:p>
            <a:pPr marL="274320" lvl="1" indent="0" algn="just"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print(</a:t>
            </a:r>
            <a:r>
              <a:rPr lang="en-US" dirty="0" err="1">
                <a:latin typeface="Monaco" panose="020B0500000000000000" pitchFamily="34" charset="0"/>
                <a:cs typeface="Segoe UI" panose="020B0502040204020203" pitchFamily="34" charset="0"/>
              </a:rPr>
              <a:t>f”Hello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, {name}!”)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this example, 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greet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is a function that takes one parameter, 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name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026" name="Picture 2" descr="Python Functions (With Examples)">
            <a:extLst>
              <a:ext uri="{FF2B5EF4-FFF2-40B4-BE49-F238E27FC236}">
                <a16:creationId xmlns:a16="http://schemas.microsoft.com/office/drawing/2014/main" id="{8ED3D0CD-36AD-436F-6DA8-E814C5D20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038" y="4302203"/>
            <a:ext cx="6437068" cy="221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Understanding Pure Functions: A Core Concept in Functional Programming | by  Lince Mathew | Medium">
            <a:extLst>
              <a:ext uri="{FF2B5EF4-FFF2-40B4-BE49-F238E27FC236}">
                <a16:creationId xmlns:a16="http://schemas.microsoft.com/office/drawing/2014/main" id="{8FE151DF-B240-1766-FB49-F1ABD0C140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7" r="24692"/>
          <a:stretch>
            <a:fillRect/>
          </a:stretch>
        </p:blipFill>
        <p:spPr bwMode="auto">
          <a:xfrm>
            <a:off x="7466274" y="598092"/>
            <a:ext cx="3101009" cy="351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21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ython Functions | The Ultimate Guide With Code Examples // Unstop">
            <a:extLst>
              <a:ext uri="{FF2B5EF4-FFF2-40B4-BE49-F238E27FC236}">
                <a16:creationId xmlns:a16="http://schemas.microsoft.com/office/drawing/2014/main" id="{E8708B56-FAB2-8B2F-DB88-CFDC0CD262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4173" r="3641" b="11103"/>
          <a:stretch>
            <a:fillRect/>
          </a:stretch>
        </p:blipFill>
        <p:spPr bwMode="auto">
          <a:xfrm>
            <a:off x="174928" y="1423798"/>
            <a:ext cx="10863586" cy="521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41D1086-AB10-7386-9725-5F960EFF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4758" y="789048"/>
            <a:ext cx="5203925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Functions in Python</a:t>
            </a:r>
          </a:p>
        </p:txBody>
      </p:sp>
    </p:spTree>
    <p:extLst>
      <p:ext uri="{BB962C8B-B14F-4D97-AF65-F5344CB8AC3E}">
        <p14:creationId xmlns:p14="http://schemas.microsoft.com/office/powerpoint/2010/main" val="104845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CC1A8C-AECD-8B67-1750-01B971347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4" y="1394494"/>
            <a:ext cx="10623232" cy="38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8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3. Functions, IIb: Scope of variables — AIMS Python 0.7 documentation">
            <a:extLst>
              <a:ext uri="{FF2B5EF4-FFF2-40B4-BE49-F238E27FC236}">
                <a16:creationId xmlns:a16="http://schemas.microsoft.com/office/drawing/2014/main" id="{D851B604-DA37-B6CE-7704-D5FA1F45B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734" y="752475"/>
            <a:ext cx="5715000" cy="535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1E5486-A15A-4F11-E0FC-3BD4EA4F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5203925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Variable Scope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307D79-01AC-12BF-E164-3142850C9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4" y="1157445"/>
            <a:ext cx="4718450" cy="560848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Scope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refers to the visibility and accessibility of variables in different parts of the code.</a:t>
            </a:r>
          </a:p>
          <a:p>
            <a:pPr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Local Scope:</a:t>
            </a:r>
          </a:p>
          <a:p>
            <a:pPr marL="274320" lvl="1" indent="0" algn="just">
              <a:buNone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Variables defined inside a function are local to that function and cannot be accessed outside.</a:t>
            </a:r>
          </a:p>
          <a:p>
            <a:pPr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Global Scope:</a:t>
            </a:r>
          </a:p>
          <a:p>
            <a:pPr marL="274320" lvl="1" indent="0" algn="just">
              <a:buNone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Variables defined outside a function are global and can be accessed inside the function.</a:t>
            </a:r>
          </a:p>
          <a:p>
            <a:pPr algn="just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02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5203925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Errors in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5"/>
            <a:ext cx="5781675" cy="560848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Errors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are unwanted events that disrupt the normal flow of program execution.</a:t>
            </a:r>
          </a:p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They can rise from: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Incorrect syntax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Unexpected user input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Missing files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External system issues</a:t>
            </a:r>
          </a:p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When an error occurs, a computer program crashes.</a:t>
            </a:r>
          </a:p>
          <a:p>
            <a:pPr algn="just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Error handling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is important to prevent program crashes and to improve user experience.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21F6B78-3263-FEB5-551B-FA730C79A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648" y="1173755"/>
            <a:ext cx="4878388" cy="431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0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5203925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Types of Errors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4"/>
            <a:ext cx="5925333" cy="56084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Three main types:</a:t>
            </a:r>
          </a:p>
          <a:p>
            <a:pPr marL="342900" indent="-342900" algn="just">
              <a:spcBef>
                <a:spcPts val="500"/>
              </a:spcBef>
              <a:buFont typeface="+mj-lt"/>
              <a:buAutoNum type="arabicPeriod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Syntax error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occurs when the rules defined by the language are not followed while writing a program and is detected by python interpreter before execution.</a:t>
            </a:r>
          </a:p>
          <a:p>
            <a:pPr marL="274320" lvl="1" indent="0">
              <a:buNone/>
            </a:pPr>
            <a:r>
              <a:rPr lang="en-US" sz="1400" dirty="0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print(“Hello World” </a:t>
            </a:r>
            <a:r>
              <a:rPr lang="en-US" sz="1800" dirty="0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sz="1400" dirty="0">
                <a:solidFill>
                  <a:schemeClr val="accent5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</a:t>
            </a:r>
            <a:r>
              <a:rPr lang="en-US" sz="1800" dirty="0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 </a:t>
            </a:r>
            <a:r>
              <a:rPr lang="en-US" sz="1400" dirty="0">
                <a:solidFill>
                  <a:schemeClr val="accent5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Missing parenthesis</a:t>
            </a:r>
            <a:endParaRPr lang="en-US" b="1" dirty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Font typeface="+mj-lt"/>
              <a:buAutoNum type="arabicPeriod" startAt="2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Runtime error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occurs during the program execution, and it causes the program to terminate.</a:t>
            </a:r>
          </a:p>
          <a:p>
            <a:pPr marL="274320" lvl="1" indent="0" algn="just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result = 10 / 0       </a:t>
            </a:r>
            <a:r>
              <a:rPr lang="en-US" sz="1400" dirty="0">
                <a:solidFill>
                  <a:schemeClr val="accent5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Division by zero</a:t>
            </a:r>
          </a:p>
          <a:p>
            <a:pPr algn="just"/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Font typeface="+mj-lt"/>
              <a:buAutoNum type="arabicPeriod" startAt="3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Logical error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occurs when program runs but produces incorrect results due to incorrect logic of our program. This error is the hardest to detect.</a:t>
            </a:r>
          </a:p>
          <a:p>
            <a:pPr marL="274320" lvl="1" indent="0">
              <a:buNone/>
            </a:pPr>
            <a:r>
              <a:rPr lang="en-US" sz="1400" dirty="0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def </a:t>
            </a:r>
            <a:r>
              <a:rPr lang="en-US" sz="1400" dirty="0" err="1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calculate_average</a:t>
            </a:r>
            <a:r>
              <a:rPr lang="en-US" sz="1400" dirty="0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(numbers): </a:t>
            </a:r>
          </a:p>
          <a:p>
            <a:pPr marL="274320" lvl="1" indent="0">
              <a:buNone/>
            </a:pPr>
            <a:r>
              <a:rPr lang="en-US" sz="1400" dirty="0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	</a:t>
            </a:r>
            <a:r>
              <a:rPr lang="en-US" sz="1400" dirty="0">
                <a:solidFill>
                  <a:schemeClr val="accent5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 # Wrong formula!</a:t>
            </a:r>
            <a:endParaRPr lang="en-US" sz="1400" dirty="0">
              <a:solidFill>
                <a:schemeClr val="tx1"/>
              </a:solidFill>
              <a:latin typeface="Monaco" panose="020B0500000000000000" pitchFamily="34" charset="0"/>
              <a:cs typeface="Segoe UI" panose="020B0502040204020203" pitchFamily="34" charset="0"/>
            </a:endParaRPr>
          </a:p>
          <a:p>
            <a:pPr marL="274320" lvl="1" indent="0">
              <a:buNone/>
            </a:pPr>
            <a:r>
              <a:rPr lang="en-US" sz="1400" dirty="0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       return sum(numbers) / </a:t>
            </a:r>
            <a:r>
              <a:rPr lang="en-US" sz="1400" dirty="0" err="1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len</a:t>
            </a:r>
            <a:r>
              <a:rPr lang="en-US" sz="1400" dirty="0">
                <a:solidFill>
                  <a:schemeClr val="tx1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(numbers) + 1</a:t>
            </a:r>
            <a:endParaRPr lang="en-US" sz="1400" dirty="0">
              <a:solidFill>
                <a:schemeClr val="accent5"/>
              </a:solidFill>
              <a:latin typeface="Monaco" panose="020B0500000000000000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3395" t="9492" r="3026" b="7379"/>
          <a:stretch/>
        </p:blipFill>
        <p:spPr>
          <a:xfrm>
            <a:off x="6826100" y="1603020"/>
            <a:ext cx="4445474" cy="317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5203925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Error vs Exception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9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4942418"/>
              </p:ext>
            </p:extLst>
          </p:nvPr>
        </p:nvGraphicFramePr>
        <p:xfrm>
          <a:off x="600969" y="1041793"/>
          <a:ext cx="9542490" cy="1667481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917329">
                  <a:extLst>
                    <a:ext uri="{9D8B030D-6E8A-4147-A177-3AD203B41FA5}">
                      <a16:colId xmlns:a16="http://schemas.microsoft.com/office/drawing/2014/main" val="1947731907"/>
                    </a:ext>
                  </a:extLst>
                </a:gridCol>
                <a:gridCol w="4625161">
                  <a:extLst>
                    <a:ext uri="{9D8B030D-6E8A-4147-A177-3AD203B41FA5}">
                      <a16:colId xmlns:a16="http://schemas.microsoft.com/office/drawing/2014/main" val="295959913"/>
                    </a:ext>
                  </a:extLst>
                </a:gridCol>
              </a:tblGrid>
              <a:tr h="343068">
                <a:tc>
                  <a:txBody>
                    <a:bodyPr/>
                    <a:lstStyle/>
                    <a:p>
                      <a:r>
                        <a:rPr lang="en-US" sz="2000" b="1" dirty="0"/>
                        <a:t>Error</a:t>
                      </a:r>
                    </a:p>
                  </a:txBody>
                  <a:tcPr marL="66731" marR="66731" marT="33365" marB="3336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Exception</a:t>
                      </a:r>
                    </a:p>
                  </a:txBody>
                  <a:tcPr marL="66731" marR="66731" marT="33365" marB="3336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5405"/>
                  </a:ext>
                </a:extLst>
              </a:tr>
              <a:tr h="487195">
                <a:tc>
                  <a:txBody>
                    <a:bodyPr/>
                    <a:lstStyle/>
                    <a:p>
                      <a:r>
                        <a:rPr lang="en-US" sz="1600" dirty="0"/>
                        <a:t>Serious issues that usually terminate the program</a:t>
                      </a:r>
                    </a:p>
                  </a:txBody>
                  <a:tcPr marL="66731" marR="66731" marT="33365" marB="3336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Manageable issues that can be handled at runtime</a:t>
                      </a:r>
                    </a:p>
                  </a:txBody>
                  <a:tcPr marL="66731" marR="66731" marT="33365" marB="33365" anchor="ctr"/>
                </a:tc>
                <a:extLst>
                  <a:ext uri="{0D108BD9-81ED-4DB2-BD59-A6C34878D82A}">
                    <a16:rowId xmlns:a16="http://schemas.microsoft.com/office/drawing/2014/main" val="52119922"/>
                  </a:ext>
                </a:extLst>
              </a:tr>
              <a:tr h="377740">
                <a:tc>
                  <a:txBody>
                    <a:bodyPr/>
                    <a:lstStyle/>
                    <a:p>
                      <a:r>
                        <a:rPr lang="en-US" sz="1600" dirty="0"/>
                        <a:t>Cannot typically be caught or handled</a:t>
                      </a:r>
                    </a:p>
                  </a:txBody>
                  <a:tcPr marL="66731" marR="66731" marT="33365" marB="3336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Can be caught using try-except blocks</a:t>
                      </a:r>
                    </a:p>
                  </a:txBody>
                  <a:tcPr marL="66731" marR="66731" marT="33365" marB="33365" anchor="ctr"/>
                </a:tc>
                <a:extLst>
                  <a:ext uri="{0D108BD9-81ED-4DB2-BD59-A6C34878D82A}">
                    <a16:rowId xmlns:a16="http://schemas.microsoft.com/office/drawing/2014/main" val="1742321617"/>
                  </a:ext>
                </a:extLst>
              </a:tr>
              <a:tr h="363801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MemoryError</a:t>
                      </a:r>
                      <a:r>
                        <a:rPr lang="en-US" sz="1600" i="1" dirty="0"/>
                        <a:t>, </a:t>
                      </a:r>
                      <a:r>
                        <a:rPr lang="en-US" sz="1600" i="1" dirty="0" err="1"/>
                        <a:t>RecursionError</a:t>
                      </a:r>
                      <a:endParaRPr lang="en-US" sz="1600" i="1" dirty="0"/>
                    </a:p>
                  </a:txBody>
                  <a:tcPr marL="66731" marR="66731" marT="33365" marB="33365" anchor="ctr"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ZeroDivisionError</a:t>
                      </a:r>
                      <a:r>
                        <a:rPr lang="en-US" sz="1600" i="1" dirty="0"/>
                        <a:t>, </a:t>
                      </a:r>
                      <a:r>
                        <a:rPr lang="en-US" sz="1600" i="1" dirty="0" err="1"/>
                        <a:t>FileNotFoundError</a:t>
                      </a:r>
                      <a:endParaRPr lang="en-US" sz="1600" i="1" dirty="0"/>
                    </a:p>
                  </a:txBody>
                  <a:tcPr marL="66731" marR="66731" marT="33365" marB="33365" anchor="ctr"/>
                </a:tc>
                <a:extLst>
                  <a:ext uri="{0D108BD9-81ED-4DB2-BD59-A6C34878D82A}">
                    <a16:rowId xmlns:a16="http://schemas.microsoft.com/office/drawing/2014/main" val="416827520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0969" y="3694156"/>
            <a:ext cx="6607904" cy="3003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Common Exceptions in Python</a:t>
            </a:r>
          </a:p>
          <a:p>
            <a:pPr marL="742950" lvl="1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ZeroDivisionError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Division by zero</a:t>
            </a:r>
          </a:p>
          <a:p>
            <a:pPr marL="742950" lvl="1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IndexError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Invalid index in a list or tuple</a:t>
            </a:r>
          </a:p>
          <a:p>
            <a:pPr marL="742950" lvl="1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KeyError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Accessing a non-existent dictionary key</a:t>
            </a:r>
          </a:p>
          <a:p>
            <a:pPr marL="742950" lvl="1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TypeError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Operation on incompatible data types</a:t>
            </a:r>
          </a:p>
          <a:p>
            <a:pPr marL="742950" lvl="1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ValueError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Incorrect value type</a:t>
            </a:r>
          </a:p>
          <a:p>
            <a:pPr marL="742950" lvl="1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FileNotFoundError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File or directory not found</a:t>
            </a:r>
          </a:p>
          <a:p>
            <a:pPr marL="742950" lvl="1" indent="-285750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ImportError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Module not found or failed to 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969" y="2781729"/>
            <a:ext cx="64542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Exception Handling: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process of systematically responding to exception is called exception handling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CCA2A62-61AE-8A72-32C5-52AD97A584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75"/>
          <a:stretch>
            <a:fillRect/>
          </a:stretch>
        </p:blipFill>
        <p:spPr bwMode="auto">
          <a:xfrm>
            <a:off x="6837118" y="2913068"/>
            <a:ext cx="3306341" cy="378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06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5203925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Exception Handling Syntax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10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5"/>
            <a:ext cx="6272438" cy="560848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Python provides the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try-except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block as a part of its error handling system.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try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block is executed first and it contains code that might cause an exception.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no exception occurs in the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try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block, the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except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block is skipped. Otherwise, program execution jumps to the except block.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 can specify the types of exceptions that we want to catch (possibly multiple).</a:t>
            </a:r>
          </a:p>
          <a:p>
            <a:pPr algn="just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Basic Syntax:</a:t>
            </a:r>
          </a:p>
          <a:p>
            <a:pPr marL="274320" lvl="1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try:</a:t>
            </a:r>
          </a:p>
          <a:p>
            <a:pPr marL="274320" lvl="1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Risky code</a:t>
            </a:r>
          </a:p>
          <a:p>
            <a:pPr marL="274320" lvl="1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except </a:t>
            </a:r>
            <a:r>
              <a:rPr lang="en-US" sz="1800" dirty="0">
                <a:solidFill>
                  <a:srgbClr val="C0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Exception</a:t>
            </a: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buNone/>
            </a:pPr>
            <a:r>
              <a:rPr lang="en-US" sz="1800" dirty="0">
                <a:latin typeface="Monaco" panose="020B0500000000000000" pitchFamily="34" charset="0"/>
                <a:cs typeface="Segoe UI" panose="020B0502040204020203" pitchFamily="34" charset="0"/>
              </a:rPr>
              <a:t>   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Code to handle the exception</a:t>
            </a:r>
          </a:p>
          <a:p>
            <a:pPr marL="274320" lvl="1" indent="0" algn="just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95646FC-F98D-B1D8-CC81-737E227A9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053" y="865597"/>
            <a:ext cx="4098984" cy="595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33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5203925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Optional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11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2" y="1157445"/>
            <a:ext cx="6561827" cy="56084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Monaco" panose="020B0500000000000000" pitchFamily="34" charset="0"/>
                <a:cs typeface="Segoe UI" panose="020B0502040204020203" pitchFamily="34" charset="0"/>
              </a:rPr>
              <a:t>else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block: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Executes only when no exception occurs in </a:t>
            </a: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try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try: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x = 10 / 2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except </a:t>
            </a:r>
            <a:r>
              <a:rPr lang="en-US" dirty="0" err="1">
                <a:solidFill>
                  <a:srgbClr val="C0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ZeroDivisionError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print(“Error”)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else:</a:t>
            </a:r>
          </a:p>
          <a:p>
            <a:pPr marL="274320" lvl="1" indent="0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print(“Success”)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# Runs only if no exception</a:t>
            </a:r>
          </a:p>
          <a:p>
            <a:pPr marL="274320" lvl="1" indent="0" algn="just">
              <a:buNone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Monaco" panose="020B0500000000000000" pitchFamily="34" charset="0"/>
                <a:cs typeface="Segoe UI" panose="020B0502040204020203" pitchFamily="34" charset="0"/>
              </a:rPr>
              <a:t>finally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block: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Always runs, regardless of whether exception occurs.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try: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f = open(“data.txt”)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except </a:t>
            </a:r>
            <a:r>
              <a:rPr lang="en-US" dirty="0" err="1">
                <a:solidFill>
                  <a:srgbClr val="C00000"/>
                </a:solidFill>
                <a:latin typeface="Monaco" panose="020B0500000000000000" pitchFamily="34" charset="0"/>
                <a:cs typeface="Segoe UI" panose="020B0502040204020203" pitchFamily="34" charset="0"/>
              </a:rPr>
              <a:t>FileNotFoundError</a:t>
            </a: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: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print(“File missing”)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finally:</a:t>
            </a: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dirty="0">
                <a:latin typeface="Monaco" panose="020B0500000000000000" pitchFamily="34" charset="0"/>
                <a:cs typeface="Segoe UI" panose="020B0502040204020203" pitchFamily="34" charset="0"/>
              </a:rPr>
              <a:t>    print(“Cleanup or closing actions here”)</a:t>
            </a:r>
          </a:p>
          <a:p>
            <a:pPr marL="274320" lvl="1" indent="0" algn="just">
              <a:buNone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050CC9-AFC0-6465-2A0B-687EC3CE6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508" y="803640"/>
            <a:ext cx="4159808" cy="600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24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6272437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File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5"/>
            <a:ext cx="6778022" cy="5608480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File handling is the process of storing to and retrieving data from a persistent memory.</a:t>
            </a:r>
          </a:p>
          <a:p>
            <a:pPr marL="0" indent="0" algn="just">
              <a:buNone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Why File Handling?</a:t>
            </a:r>
          </a:p>
          <a:p>
            <a:pPr lvl="1" algn="just">
              <a:spcAft>
                <a:spcPts val="500"/>
              </a:spcAft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Persistence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: Data stored in variables is lost when a program ends. Files store data permanently until deleted.</a:t>
            </a:r>
          </a:p>
          <a:p>
            <a:pPr lvl="1" algn="just">
              <a:spcAft>
                <a:spcPts val="500"/>
              </a:spcAft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Data Sharing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: Files help exchange data between different programs or systems.</a:t>
            </a:r>
          </a:p>
          <a:p>
            <a:pPr lvl="1" algn="just">
              <a:spcAft>
                <a:spcPts val="500"/>
              </a:spcAft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Logging and Auditing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: Used to track application activity, debug issues, and maintain records.</a:t>
            </a:r>
          </a:p>
        </p:txBody>
      </p:sp>
      <p:pic>
        <p:nvPicPr>
          <p:cNvPr id="5" name="Picture 6" descr="Python File I/O | Codementor">
            <a:extLst>
              <a:ext uri="{FF2B5EF4-FFF2-40B4-BE49-F238E27FC236}">
                <a16:creationId xmlns:a16="http://schemas.microsoft.com/office/drawing/2014/main" id="{2144C106-ACC9-D660-0062-2ABA05F3C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994" y="463871"/>
            <a:ext cx="3881945" cy="316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339" y="4062127"/>
            <a:ext cx="5870235" cy="2763974"/>
          </a:xfrm>
          <a:prstGeom prst="roundRect">
            <a:avLst>
              <a:gd name="adj" fmla="val 7981"/>
            </a:avLst>
          </a:prstGeom>
        </p:spPr>
      </p:pic>
    </p:spTree>
    <p:extLst>
      <p:ext uri="{BB962C8B-B14F-4D97-AF65-F5344CB8AC3E}">
        <p14:creationId xmlns:p14="http://schemas.microsoft.com/office/powerpoint/2010/main" val="228818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7926338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File Modes: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Different Ways to Access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13</a:t>
            </a:fld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96690" y="953472"/>
            <a:ext cx="5851652" cy="5370677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 file mode determines the kind of operations that can be performed on the file.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Read mode –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‘r’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Opens the file for reading only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File pointer is placed at the beginning of the file</a:t>
            </a:r>
          </a:p>
          <a:p>
            <a:pPr lvl="1" algn="just"/>
            <a:r>
              <a:rPr lang="en-US" dirty="0" err="1">
                <a:solidFill>
                  <a:srgbClr val="C00000"/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FileNotFoundError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is raised, when the file does not exist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Write mode –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‘w’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Opens the file for writing only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If the file exists, its content is truncated (deleted)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 new file is created, when the file does not exist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Append mode –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‘a’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Opens the file for writing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File pointer is placed at the end of the file without modifying existing content</a:t>
            </a:r>
          </a:p>
          <a:p>
            <a:pPr lvl="1" algn="just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 new file is created, when the file does not exist</a:t>
            </a: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02F2B9FB-5F9C-B4F5-1AF3-4C994D60B8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" t="9098" r="3514" b="8315"/>
          <a:stretch/>
        </p:blipFill>
        <p:spPr bwMode="auto">
          <a:xfrm>
            <a:off x="6427076" y="873903"/>
            <a:ext cx="4844498" cy="222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A37266E-8E9E-2C73-8F74-ADDC758757F5}"/>
              </a:ext>
            </a:extLst>
          </p:cNvPr>
          <p:cNvGrpSpPr/>
          <p:nvPr/>
        </p:nvGrpSpPr>
        <p:grpSpPr>
          <a:xfrm>
            <a:off x="6631350" y="4718780"/>
            <a:ext cx="1390680" cy="1778323"/>
            <a:chOff x="6412324" y="4723008"/>
            <a:chExt cx="1390680" cy="1778323"/>
          </a:xfrm>
        </p:grpSpPr>
        <p:sp>
          <p:nvSpPr>
            <p:cNvPr id="27" name="Flowchart: Document 26">
              <a:extLst>
                <a:ext uri="{FF2B5EF4-FFF2-40B4-BE49-F238E27FC236}">
                  <a16:creationId xmlns:a16="http://schemas.microsoft.com/office/drawing/2014/main" id="{E4D88C1A-928E-03CB-A973-74C057A4437A}"/>
                </a:ext>
              </a:extLst>
            </p:cNvPr>
            <p:cNvSpPr/>
            <p:nvPr/>
          </p:nvSpPr>
          <p:spPr>
            <a:xfrm>
              <a:off x="6412324" y="4723008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Lorem ipsum dolor sit amet, consectetuer adipiscing elit…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49B7AFE-A2C9-E161-199A-B1F0EA8C013B}"/>
                </a:ext>
              </a:extLst>
            </p:cNvPr>
            <p:cNvCxnSpPr>
              <a:cxnSpLocks/>
            </p:cNvCxnSpPr>
            <p:nvPr/>
          </p:nvCxnSpPr>
          <p:spPr>
            <a:xfrm>
              <a:off x="6478139" y="4861210"/>
              <a:ext cx="0" cy="1177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Curved 36">
              <a:extLst>
                <a:ext uri="{FF2B5EF4-FFF2-40B4-BE49-F238E27FC236}">
                  <a16:creationId xmlns:a16="http://schemas.microsoft.com/office/drawing/2014/main" id="{1BAB83F2-5E31-6F70-F991-14AA67EFB98D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rot="5400000">
              <a:off x="5854130" y="5577235"/>
              <a:ext cx="1182208" cy="65819"/>
            </a:xfrm>
            <a:prstGeom prst="curvedConnector4">
              <a:avLst>
                <a:gd name="adj1" fmla="val 37308"/>
                <a:gd name="adj2" fmla="val 447316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A7C1E66-87D1-EBAA-8799-7F834C65EE7A}"/>
                </a:ext>
              </a:extLst>
            </p:cNvPr>
            <p:cNvSpPr txBox="1"/>
            <p:nvPr/>
          </p:nvSpPr>
          <p:spPr>
            <a:xfrm>
              <a:off x="6412324" y="5901166"/>
              <a:ext cx="13906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pointer: </a:t>
              </a:r>
              <a:r>
                <a:rPr lang="en-US" sz="1100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read operations will occur here</a:t>
              </a:r>
            </a:p>
          </p:txBody>
        </p:sp>
        <p:sp>
          <p:nvSpPr>
            <p:cNvPr id="53" name="Flowchart: Document 52">
              <a:extLst>
                <a:ext uri="{FF2B5EF4-FFF2-40B4-BE49-F238E27FC236}">
                  <a16:creationId xmlns:a16="http://schemas.microsoft.com/office/drawing/2014/main" id="{E4D88C1A-928E-03CB-A973-74C057A4437A}"/>
                </a:ext>
              </a:extLst>
            </p:cNvPr>
            <p:cNvSpPr/>
            <p:nvPr/>
          </p:nvSpPr>
          <p:spPr>
            <a:xfrm>
              <a:off x="6412324" y="4723009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Lorem ipsum dolor sit amet, consectetuer adipiscing elit…</a:t>
              </a:r>
            </a:p>
          </p:txBody>
        </p:sp>
        <p:cxnSp>
          <p:nvCxnSpPr>
            <p:cNvPr id="54" name="Connector: Curved 36">
              <a:extLst>
                <a:ext uri="{FF2B5EF4-FFF2-40B4-BE49-F238E27FC236}">
                  <a16:creationId xmlns:a16="http://schemas.microsoft.com/office/drawing/2014/main" id="{1BAB83F2-5E31-6F70-F991-14AA67EFB98D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rot="5400000">
              <a:off x="5854130" y="5577236"/>
              <a:ext cx="1182208" cy="65819"/>
            </a:xfrm>
            <a:prstGeom prst="curvedConnector4">
              <a:avLst>
                <a:gd name="adj1" fmla="val 37308"/>
                <a:gd name="adj2" fmla="val 447316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A7C1E66-87D1-EBAA-8799-7F834C65EE7A}"/>
                </a:ext>
              </a:extLst>
            </p:cNvPr>
            <p:cNvSpPr txBox="1"/>
            <p:nvPr/>
          </p:nvSpPr>
          <p:spPr>
            <a:xfrm>
              <a:off x="6412324" y="5901167"/>
              <a:ext cx="13906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pointer: </a:t>
              </a:r>
              <a:r>
                <a:rPr lang="en-US" sz="1100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read operations will occur here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B409001-8066-F93B-8A5D-AF9DD00CB3FE}"/>
              </a:ext>
            </a:extLst>
          </p:cNvPr>
          <p:cNvGrpSpPr/>
          <p:nvPr/>
        </p:nvGrpSpPr>
        <p:grpSpPr>
          <a:xfrm>
            <a:off x="9832496" y="4718936"/>
            <a:ext cx="1390680" cy="1778322"/>
            <a:chOff x="6412324" y="4723008"/>
            <a:chExt cx="1390680" cy="1778322"/>
          </a:xfrm>
        </p:grpSpPr>
        <p:sp>
          <p:nvSpPr>
            <p:cNvPr id="32" name="Flowchart: Document 31">
              <a:extLst>
                <a:ext uri="{FF2B5EF4-FFF2-40B4-BE49-F238E27FC236}">
                  <a16:creationId xmlns:a16="http://schemas.microsoft.com/office/drawing/2014/main" id="{68577043-4A44-1FF2-CB3E-3C76B4A831E0}"/>
                </a:ext>
              </a:extLst>
            </p:cNvPr>
            <p:cNvSpPr/>
            <p:nvPr/>
          </p:nvSpPr>
          <p:spPr>
            <a:xfrm>
              <a:off x="6412324" y="4723008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Lorem ipsum dolor sit amet, consectetuer adipiscing elit…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19E63FE-25D5-FC57-4859-093762185329}"/>
                </a:ext>
              </a:extLst>
            </p:cNvPr>
            <p:cNvCxnSpPr>
              <a:cxnSpLocks/>
            </p:cNvCxnSpPr>
            <p:nvPr/>
          </p:nvCxnSpPr>
          <p:spPr>
            <a:xfrm>
              <a:off x="7375286" y="5301157"/>
              <a:ext cx="0" cy="1177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or: Curved 42">
              <a:extLst>
                <a:ext uri="{FF2B5EF4-FFF2-40B4-BE49-F238E27FC236}">
                  <a16:creationId xmlns:a16="http://schemas.microsoft.com/office/drawing/2014/main" id="{1D519BCC-FE80-BC20-1E74-3B67992DB90B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 rot="10800000" flipV="1">
              <a:off x="6412324" y="5465590"/>
              <a:ext cx="924582" cy="735658"/>
            </a:xfrm>
            <a:prstGeom prst="curvedConnector3">
              <a:avLst>
                <a:gd name="adj1" fmla="val 95467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614C346-4BBF-5D4B-C9CF-0CB045F5D7D5}"/>
                </a:ext>
              </a:extLst>
            </p:cNvPr>
            <p:cNvSpPr txBox="1"/>
            <p:nvPr/>
          </p:nvSpPr>
          <p:spPr>
            <a:xfrm>
              <a:off x="6412324" y="5901166"/>
              <a:ext cx="13906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pointer: </a:t>
              </a:r>
              <a:r>
                <a:rPr lang="en-US" sz="1100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append operations will occur here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8D86924-7207-FAED-CF79-89FE27FEEB25}"/>
              </a:ext>
            </a:extLst>
          </p:cNvPr>
          <p:cNvGrpSpPr/>
          <p:nvPr/>
        </p:nvGrpSpPr>
        <p:grpSpPr>
          <a:xfrm>
            <a:off x="8234735" y="4720961"/>
            <a:ext cx="1390680" cy="1778322"/>
            <a:chOff x="6412324" y="4723008"/>
            <a:chExt cx="1390680" cy="1778322"/>
          </a:xfrm>
        </p:grpSpPr>
        <p:sp>
          <p:nvSpPr>
            <p:cNvPr id="37" name="Flowchart: Document 36">
              <a:extLst>
                <a:ext uri="{FF2B5EF4-FFF2-40B4-BE49-F238E27FC236}">
                  <a16:creationId xmlns:a16="http://schemas.microsoft.com/office/drawing/2014/main" id="{90BB4AAE-D46B-10F7-B84E-59E6866BEE2F}"/>
                </a:ext>
              </a:extLst>
            </p:cNvPr>
            <p:cNvSpPr/>
            <p:nvPr/>
          </p:nvSpPr>
          <p:spPr>
            <a:xfrm>
              <a:off x="6412324" y="4723008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strike="sngStrike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Lorem ipsum dolor sit amet, consectetuer adipiscing elit…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B2618E6-140E-BE81-73BA-6016B7646560}"/>
                </a:ext>
              </a:extLst>
            </p:cNvPr>
            <p:cNvCxnSpPr>
              <a:cxnSpLocks/>
            </p:cNvCxnSpPr>
            <p:nvPr/>
          </p:nvCxnSpPr>
          <p:spPr>
            <a:xfrm>
              <a:off x="6478139" y="4861210"/>
              <a:ext cx="0" cy="1177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or: Curved 47">
              <a:extLst>
                <a:ext uri="{FF2B5EF4-FFF2-40B4-BE49-F238E27FC236}">
                  <a16:creationId xmlns:a16="http://schemas.microsoft.com/office/drawing/2014/main" id="{23404C0F-CE14-C4E2-A59F-2B0B3DA28E22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 rot="5400000">
              <a:off x="5854130" y="5577235"/>
              <a:ext cx="1182208" cy="65819"/>
            </a:xfrm>
            <a:prstGeom prst="curvedConnector4">
              <a:avLst>
                <a:gd name="adj1" fmla="val 37308"/>
                <a:gd name="adj2" fmla="val 447316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11D2526-55E8-0DD5-2FC2-F61A7AF8827F}"/>
                </a:ext>
              </a:extLst>
            </p:cNvPr>
            <p:cNvSpPr txBox="1"/>
            <p:nvPr/>
          </p:nvSpPr>
          <p:spPr>
            <a:xfrm>
              <a:off x="6412324" y="5901166"/>
              <a:ext cx="13906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pointer: </a:t>
              </a:r>
              <a:r>
                <a:rPr lang="en-US" sz="1100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write operations will occur here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4EF377-CB41-61BB-A2A3-651A4846F306}"/>
              </a:ext>
            </a:extLst>
          </p:cNvPr>
          <p:cNvGrpSpPr/>
          <p:nvPr/>
        </p:nvGrpSpPr>
        <p:grpSpPr>
          <a:xfrm>
            <a:off x="7557811" y="3644967"/>
            <a:ext cx="3434847" cy="342401"/>
            <a:chOff x="7226878" y="3782562"/>
            <a:chExt cx="3434847" cy="34240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798A588-DAD1-6A49-DE27-448731D38F79}"/>
                </a:ext>
              </a:extLst>
            </p:cNvPr>
            <p:cNvSpPr txBox="1"/>
            <p:nvPr/>
          </p:nvSpPr>
          <p:spPr>
            <a:xfrm>
              <a:off x="7226878" y="3782562"/>
              <a:ext cx="3434847" cy="3424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400" b="0" dirty="0">
                  <a:solidFill>
                    <a:srgbClr val="0184BC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open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(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'path/to/file'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, </a:t>
              </a:r>
              <a:r>
                <a:rPr lang="en-US" sz="1400" b="0" dirty="0">
                  <a:solidFill>
                    <a:srgbClr val="98680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mode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=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‘w'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43" name="Rectangle: Rounded Corners 61">
              <a:extLst>
                <a:ext uri="{FF2B5EF4-FFF2-40B4-BE49-F238E27FC236}">
                  <a16:creationId xmlns:a16="http://schemas.microsoft.com/office/drawing/2014/main" id="{28802EE3-4EDB-BD6A-2507-44A91995DA81}"/>
                </a:ext>
              </a:extLst>
            </p:cNvPr>
            <p:cNvSpPr/>
            <p:nvPr/>
          </p:nvSpPr>
          <p:spPr>
            <a:xfrm>
              <a:off x="9823731" y="3820743"/>
              <a:ext cx="320933" cy="302029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8BF586-C478-5C8D-0DD4-20A9EEEBF3D6}"/>
              </a:ext>
            </a:extLst>
          </p:cNvPr>
          <p:cNvGrpSpPr/>
          <p:nvPr/>
        </p:nvGrpSpPr>
        <p:grpSpPr>
          <a:xfrm>
            <a:off x="8115070" y="3308941"/>
            <a:ext cx="3434847" cy="342401"/>
            <a:chOff x="7965953" y="4120096"/>
            <a:chExt cx="3434847" cy="34240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695558-B950-1689-D990-FC1E0556A48C}"/>
                </a:ext>
              </a:extLst>
            </p:cNvPr>
            <p:cNvSpPr txBox="1"/>
            <p:nvPr/>
          </p:nvSpPr>
          <p:spPr>
            <a:xfrm>
              <a:off x="7965953" y="4120096"/>
              <a:ext cx="3434847" cy="3424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400" b="0" dirty="0">
                  <a:solidFill>
                    <a:srgbClr val="0184BC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open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(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'path/to/file'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, </a:t>
              </a:r>
              <a:r>
                <a:rPr lang="en-US" sz="1400" b="0" dirty="0">
                  <a:solidFill>
                    <a:srgbClr val="98680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mode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=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'a'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46" name="Rectangle: Rounded Corners 62">
              <a:extLst>
                <a:ext uri="{FF2B5EF4-FFF2-40B4-BE49-F238E27FC236}">
                  <a16:creationId xmlns:a16="http://schemas.microsoft.com/office/drawing/2014/main" id="{207E2F2E-58BC-8A02-C2A2-74769527EF15}"/>
                </a:ext>
              </a:extLst>
            </p:cNvPr>
            <p:cNvSpPr/>
            <p:nvPr/>
          </p:nvSpPr>
          <p:spPr>
            <a:xfrm>
              <a:off x="10450009" y="4127750"/>
              <a:ext cx="393532" cy="302029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5B1C35F-1730-AC05-CC19-4CE6AF36636C}"/>
              </a:ext>
            </a:extLst>
          </p:cNvPr>
          <p:cNvGrpSpPr/>
          <p:nvPr/>
        </p:nvGrpSpPr>
        <p:grpSpPr>
          <a:xfrm>
            <a:off x="7102193" y="3912039"/>
            <a:ext cx="2892499" cy="363817"/>
            <a:chOff x="6605184" y="3432364"/>
            <a:chExt cx="2892499" cy="36381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D0B196E-60E4-F53B-2157-A94EDD6E4879}"/>
                </a:ext>
              </a:extLst>
            </p:cNvPr>
            <p:cNvSpPr txBox="1"/>
            <p:nvPr/>
          </p:nvSpPr>
          <p:spPr>
            <a:xfrm>
              <a:off x="6605184" y="3432364"/>
              <a:ext cx="2801195" cy="3349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400" b="0" dirty="0">
                  <a:solidFill>
                    <a:srgbClr val="0184BC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open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(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'path/to/file'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, </a:t>
              </a:r>
              <a:r>
                <a:rPr lang="en-US" sz="1400" b="0" dirty="0">
                  <a:solidFill>
                    <a:srgbClr val="986801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mode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=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‘r'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)</a:t>
              </a:r>
            </a:p>
          </p:txBody>
        </p:sp>
        <p:sp>
          <p:nvSpPr>
            <p:cNvPr id="49" name="Rectangle: Rounded Corners 1023">
              <a:extLst>
                <a:ext uri="{FF2B5EF4-FFF2-40B4-BE49-F238E27FC236}">
                  <a16:creationId xmlns:a16="http://schemas.microsoft.com/office/drawing/2014/main" id="{EB0206B9-AA60-E60A-5722-B7508173B958}"/>
                </a:ext>
              </a:extLst>
            </p:cNvPr>
            <p:cNvSpPr/>
            <p:nvPr/>
          </p:nvSpPr>
          <p:spPr>
            <a:xfrm>
              <a:off x="9173288" y="3494152"/>
              <a:ext cx="324395" cy="302029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0" name="Connector: Curved 1025">
            <a:extLst>
              <a:ext uri="{FF2B5EF4-FFF2-40B4-BE49-F238E27FC236}">
                <a16:creationId xmlns:a16="http://schemas.microsoft.com/office/drawing/2014/main" id="{559F0A8D-A341-E52D-4F81-C103CC34FFB4}"/>
              </a:ext>
            </a:extLst>
          </p:cNvPr>
          <p:cNvCxnSpPr>
            <a:cxnSpLocks/>
            <a:stCxn id="49" idx="2"/>
            <a:endCxn id="27" idx="0"/>
          </p:cNvCxnSpPr>
          <p:nvPr/>
        </p:nvCxnSpPr>
        <p:spPr>
          <a:xfrm rot="5400000">
            <a:off x="8358131" y="3244416"/>
            <a:ext cx="442924" cy="250580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Connector: Curved 1028">
            <a:extLst>
              <a:ext uri="{FF2B5EF4-FFF2-40B4-BE49-F238E27FC236}">
                <a16:creationId xmlns:a16="http://schemas.microsoft.com/office/drawing/2014/main" id="{223E60DD-86EF-A958-D642-9A479841468F}"/>
              </a:ext>
            </a:extLst>
          </p:cNvPr>
          <p:cNvCxnSpPr>
            <a:cxnSpLocks/>
            <a:stCxn id="43" idx="2"/>
            <a:endCxn id="37" idx="0"/>
          </p:cNvCxnSpPr>
          <p:nvPr/>
        </p:nvCxnSpPr>
        <p:spPr>
          <a:xfrm rot="5400000">
            <a:off x="9254711" y="3660541"/>
            <a:ext cx="735784" cy="1385056"/>
          </a:xfrm>
          <a:prstGeom prst="curvedConnector3">
            <a:avLst>
              <a:gd name="adj1" fmla="val 76966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Connector: Curved 1031">
            <a:extLst>
              <a:ext uri="{FF2B5EF4-FFF2-40B4-BE49-F238E27FC236}">
                <a16:creationId xmlns:a16="http://schemas.microsoft.com/office/drawing/2014/main" id="{A2510857-DA4D-003F-D130-A27747F5CFDC}"/>
              </a:ext>
            </a:extLst>
          </p:cNvPr>
          <p:cNvCxnSpPr>
            <a:cxnSpLocks/>
            <a:stCxn id="46" idx="2"/>
            <a:endCxn id="32" idx="0"/>
          </p:cNvCxnSpPr>
          <p:nvPr/>
        </p:nvCxnSpPr>
        <p:spPr>
          <a:xfrm rot="5400000">
            <a:off x="10111708" y="4034752"/>
            <a:ext cx="1100312" cy="268056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13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14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051115"/>
            <a:ext cx="5828328" cy="560848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cs typeface="Segoe UI" panose="020B0502040204020203" pitchFamily="34" charset="0"/>
              </a:rPr>
              <a:t>A file mode determines the kind of operations that can be performed on the file.</a:t>
            </a:r>
          </a:p>
          <a:p>
            <a:pPr algn="just"/>
            <a:r>
              <a:rPr lang="en-US" b="1" dirty="0">
                <a:cs typeface="Segoe UI" panose="020B0502040204020203" pitchFamily="34" charset="0"/>
              </a:rPr>
              <a:t>Read and write mode –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‘r+’</a:t>
            </a:r>
            <a:r>
              <a:rPr lang="en-US" b="1" dirty="0"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sz="1800" dirty="0">
                <a:cs typeface="Segoe UI" panose="020B0502040204020203" pitchFamily="34" charset="0"/>
              </a:rPr>
              <a:t>Opens the file for both reading and writing</a:t>
            </a:r>
          </a:p>
          <a:p>
            <a:pPr lvl="1" algn="just"/>
            <a:r>
              <a:rPr lang="en-US" sz="1800" dirty="0">
                <a:cs typeface="Segoe UI" panose="020B0502040204020203" pitchFamily="34" charset="0"/>
              </a:rPr>
              <a:t>File pointer is placed at the beginning of the file</a:t>
            </a:r>
          </a:p>
          <a:p>
            <a:pPr lvl="1" algn="just"/>
            <a:r>
              <a:rPr lang="en-US" spc="10" dirty="0" err="1">
                <a:solidFill>
                  <a:srgbClr val="C00000"/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FileNotFoundError</a:t>
            </a:r>
            <a:r>
              <a:rPr lang="en-US" sz="1800" dirty="0">
                <a:cs typeface="Segoe UI" panose="020B0502040204020203" pitchFamily="34" charset="0"/>
              </a:rPr>
              <a:t> is raised, when the file does not exist</a:t>
            </a:r>
          </a:p>
          <a:p>
            <a:pPr algn="just"/>
            <a:r>
              <a:rPr lang="en-US" b="1" dirty="0">
                <a:cs typeface="Segoe UI" panose="020B0502040204020203" pitchFamily="34" charset="0"/>
              </a:rPr>
              <a:t>Write and read mode –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‘w+’</a:t>
            </a:r>
            <a:r>
              <a:rPr lang="en-US" b="1" dirty="0">
                <a:cs typeface="Segoe UI" panose="020B0502040204020203" pitchFamily="34" charset="0"/>
              </a:rPr>
              <a:t>:</a:t>
            </a:r>
          </a:p>
          <a:p>
            <a:pPr lvl="1" algn="just"/>
            <a:r>
              <a:rPr lang="en-US" sz="1800" dirty="0">
                <a:cs typeface="Segoe UI" panose="020B0502040204020203" pitchFamily="34" charset="0"/>
              </a:rPr>
              <a:t>Opens the file for both writing and reading</a:t>
            </a:r>
          </a:p>
          <a:p>
            <a:pPr lvl="1" algn="just"/>
            <a:r>
              <a:rPr lang="en-US" sz="1800" dirty="0">
                <a:cs typeface="Segoe UI" panose="020B0502040204020203" pitchFamily="34" charset="0"/>
              </a:rPr>
              <a:t>If the file exists, its content is truncated (deleted)</a:t>
            </a:r>
          </a:p>
          <a:p>
            <a:pPr lvl="1" algn="just"/>
            <a:r>
              <a:rPr lang="en-US" sz="1800" dirty="0">
                <a:cs typeface="Segoe UI" panose="020B0502040204020203" pitchFamily="34" charset="0"/>
              </a:rPr>
              <a:t>A new file is created, when the file does not exist</a:t>
            </a:r>
          </a:p>
          <a:p>
            <a:pPr algn="just"/>
            <a:r>
              <a:rPr lang="en-US" b="1" dirty="0">
                <a:cs typeface="Segoe UI" panose="020B0502040204020203" pitchFamily="34" charset="0"/>
              </a:rPr>
              <a:t>Binary mode –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‘b’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:</a:t>
            </a:r>
          </a:p>
          <a:p>
            <a:pPr lvl="1" algn="just">
              <a:lnSpc>
                <a:spcPct val="80000"/>
              </a:lnSpc>
            </a:pPr>
            <a:r>
              <a:rPr lang="en-US" sz="1800" dirty="0">
                <a:cs typeface="Segoe UI" panose="020B0502040204020203" pitchFamily="34" charset="0"/>
              </a:rPr>
              <a:t>Opens the file in binary mode.</a:t>
            </a:r>
          </a:p>
          <a:p>
            <a:pPr lvl="1" algn="just">
              <a:lnSpc>
                <a:spcPct val="80000"/>
              </a:lnSpc>
            </a:pPr>
            <a:r>
              <a:rPr lang="en-US" sz="1800" dirty="0">
                <a:cs typeface="Segoe UI" panose="020B0502040204020203" pitchFamily="34" charset="0"/>
              </a:rPr>
              <a:t>Used in combination with other modes to work with the content of the file in binary format.</a:t>
            </a: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98265A84-F91D-0BBA-6211-5C4FB808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683" y="899745"/>
            <a:ext cx="4942157" cy="214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1C1832C-C9A4-69C5-BE7D-7517A1A513A5}"/>
              </a:ext>
            </a:extLst>
          </p:cNvPr>
          <p:cNvGrpSpPr/>
          <p:nvPr/>
        </p:nvGrpSpPr>
        <p:grpSpPr>
          <a:xfrm>
            <a:off x="6694098" y="4720961"/>
            <a:ext cx="1390680" cy="1778322"/>
            <a:chOff x="6412324" y="4723008"/>
            <a:chExt cx="1390680" cy="1778322"/>
          </a:xfrm>
        </p:grpSpPr>
        <p:sp>
          <p:nvSpPr>
            <p:cNvPr id="36" name="Flowchart: Document 35">
              <a:extLst>
                <a:ext uri="{FF2B5EF4-FFF2-40B4-BE49-F238E27FC236}">
                  <a16:creationId xmlns:a16="http://schemas.microsoft.com/office/drawing/2014/main" id="{DABF4501-7003-6C0B-F54B-0BE5CA0D5A0A}"/>
                </a:ext>
              </a:extLst>
            </p:cNvPr>
            <p:cNvSpPr/>
            <p:nvPr/>
          </p:nvSpPr>
          <p:spPr>
            <a:xfrm>
              <a:off x="6412324" y="4723008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dirty="0">
                  <a:solidFill>
                    <a:srgbClr val="002060"/>
                  </a:solidFill>
                </a:rPr>
                <a:t>Lorem ipsum dolor sit amet, consectetuer adipiscing elit…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17EE07C-43D4-01A8-670A-E5F12A5BD487}"/>
                </a:ext>
              </a:extLst>
            </p:cNvPr>
            <p:cNvCxnSpPr>
              <a:cxnSpLocks/>
            </p:cNvCxnSpPr>
            <p:nvPr/>
          </p:nvCxnSpPr>
          <p:spPr>
            <a:xfrm>
              <a:off x="6478139" y="4861210"/>
              <a:ext cx="0" cy="1177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: Curved 33">
              <a:extLst>
                <a:ext uri="{FF2B5EF4-FFF2-40B4-BE49-F238E27FC236}">
                  <a16:creationId xmlns:a16="http://schemas.microsoft.com/office/drawing/2014/main" id="{3347CF24-1FB5-564D-4C30-7D0B7FEB0EBC}"/>
                </a:ext>
              </a:extLst>
            </p:cNvPr>
            <p:cNvCxnSpPr>
              <a:cxnSpLocks/>
              <a:endCxn id="39" idx="1"/>
            </p:cNvCxnSpPr>
            <p:nvPr/>
          </p:nvCxnSpPr>
          <p:spPr>
            <a:xfrm rot="5400000">
              <a:off x="5854130" y="5577235"/>
              <a:ext cx="1182208" cy="65819"/>
            </a:xfrm>
            <a:prstGeom prst="curvedConnector4">
              <a:avLst>
                <a:gd name="adj1" fmla="val 37308"/>
                <a:gd name="adj2" fmla="val 447316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394F5C8-CB1A-044D-EBA7-8B9266336E16}"/>
                </a:ext>
              </a:extLst>
            </p:cNvPr>
            <p:cNvSpPr txBox="1"/>
            <p:nvPr/>
          </p:nvSpPr>
          <p:spPr>
            <a:xfrm>
              <a:off x="6412324" y="5901166"/>
              <a:ext cx="13906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pointer: </a:t>
              </a:r>
              <a:r>
                <a:rPr lang="en-US" sz="1100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read and write operations will occur here</a:t>
              </a:r>
            </a:p>
          </p:txBody>
        </p:sp>
        <p:sp>
          <p:nvSpPr>
            <p:cNvPr id="63" name="Flowchart: Document 62">
              <a:extLst>
                <a:ext uri="{FF2B5EF4-FFF2-40B4-BE49-F238E27FC236}">
                  <a16:creationId xmlns:a16="http://schemas.microsoft.com/office/drawing/2014/main" id="{DABF4501-7003-6C0B-F54B-0BE5CA0D5A0A}"/>
                </a:ext>
              </a:extLst>
            </p:cNvPr>
            <p:cNvSpPr/>
            <p:nvPr/>
          </p:nvSpPr>
          <p:spPr>
            <a:xfrm>
              <a:off x="6412324" y="4723009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dirty="0">
                  <a:solidFill>
                    <a:srgbClr val="002060"/>
                  </a:solidFill>
                </a:rPr>
                <a:t>Lorem ipsum dolor sit amet, consectetuer adipiscing elit…</a:t>
              </a:r>
            </a:p>
          </p:txBody>
        </p:sp>
        <p:cxnSp>
          <p:nvCxnSpPr>
            <p:cNvPr id="64" name="Connector: Curved 33">
              <a:extLst>
                <a:ext uri="{FF2B5EF4-FFF2-40B4-BE49-F238E27FC236}">
                  <a16:creationId xmlns:a16="http://schemas.microsoft.com/office/drawing/2014/main" id="{3347CF24-1FB5-564D-4C30-7D0B7FEB0EB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54130" y="5577236"/>
              <a:ext cx="1182208" cy="65819"/>
            </a:xfrm>
            <a:prstGeom prst="curvedConnector4">
              <a:avLst>
                <a:gd name="adj1" fmla="val 37308"/>
                <a:gd name="adj2" fmla="val 447316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5" name="Flowchart: Document 64">
              <a:extLst>
                <a:ext uri="{FF2B5EF4-FFF2-40B4-BE49-F238E27FC236}">
                  <a16:creationId xmlns:a16="http://schemas.microsoft.com/office/drawing/2014/main" id="{DABF4501-7003-6C0B-F54B-0BE5CA0D5A0A}"/>
                </a:ext>
              </a:extLst>
            </p:cNvPr>
            <p:cNvSpPr/>
            <p:nvPr/>
          </p:nvSpPr>
          <p:spPr>
            <a:xfrm>
              <a:off x="6412324" y="4723010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dirty="0">
                  <a:solidFill>
                    <a:srgbClr val="002060"/>
                  </a:solidFill>
                </a:rPr>
                <a:t>Lorem ipsum dolor sit amet, consectetuer adipiscing elit…</a:t>
              </a:r>
            </a:p>
          </p:txBody>
        </p:sp>
        <p:cxnSp>
          <p:nvCxnSpPr>
            <p:cNvPr id="66" name="Connector: Curved 33">
              <a:extLst>
                <a:ext uri="{FF2B5EF4-FFF2-40B4-BE49-F238E27FC236}">
                  <a16:creationId xmlns:a16="http://schemas.microsoft.com/office/drawing/2014/main" id="{3347CF24-1FB5-564D-4C30-7D0B7FEB0EB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54130" y="5577237"/>
              <a:ext cx="1182208" cy="65819"/>
            </a:xfrm>
            <a:prstGeom prst="curvedConnector4">
              <a:avLst>
                <a:gd name="adj1" fmla="val 37308"/>
                <a:gd name="adj2" fmla="val 447316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7" name="Flowchart: Document 66">
              <a:extLst>
                <a:ext uri="{FF2B5EF4-FFF2-40B4-BE49-F238E27FC236}">
                  <a16:creationId xmlns:a16="http://schemas.microsoft.com/office/drawing/2014/main" id="{DABF4501-7003-6C0B-F54B-0BE5CA0D5A0A}"/>
                </a:ext>
              </a:extLst>
            </p:cNvPr>
            <p:cNvSpPr/>
            <p:nvPr/>
          </p:nvSpPr>
          <p:spPr>
            <a:xfrm>
              <a:off x="6412324" y="4723011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dirty="0">
                  <a:solidFill>
                    <a:srgbClr val="002060"/>
                  </a:solidFill>
                </a:rPr>
                <a:t>Lorem ipsum dolor sit amet, consectetuer adipiscing elit…</a:t>
              </a:r>
            </a:p>
          </p:txBody>
        </p:sp>
        <p:cxnSp>
          <p:nvCxnSpPr>
            <p:cNvPr id="68" name="Connector: Curved 33">
              <a:extLst>
                <a:ext uri="{FF2B5EF4-FFF2-40B4-BE49-F238E27FC236}">
                  <a16:creationId xmlns:a16="http://schemas.microsoft.com/office/drawing/2014/main" id="{3347CF24-1FB5-564D-4C30-7D0B7FEB0EB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54130" y="5577238"/>
              <a:ext cx="1182208" cy="65819"/>
            </a:xfrm>
            <a:prstGeom prst="curvedConnector4">
              <a:avLst>
                <a:gd name="adj1" fmla="val 37308"/>
                <a:gd name="adj2" fmla="val 447316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CE9FCD-FEB3-F7F7-61A6-4A3CB69DE926}"/>
              </a:ext>
            </a:extLst>
          </p:cNvPr>
          <p:cNvGrpSpPr/>
          <p:nvPr/>
        </p:nvGrpSpPr>
        <p:grpSpPr>
          <a:xfrm>
            <a:off x="9773917" y="4720961"/>
            <a:ext cx="1390680" cy="1778322"/>
            <a:chOff x="6412324" y="4723008"/>
            <a:chExt cx="1390680" cy="1778322"/>
          </a:xfrm>
        </p:grpSpPr>
        <p:sp>
          <p:nvSpPr>
            <p:cNvPr id="41" name="Flowchart: Document 40">
              <a:extLst>
                <a:ext uri="{FF2B5EF4-FFF2-40B4-BE49-F238E27FC236}">
                  <a16:creationId xmlns:a16="http://schemas.microsoft.com/office/drawing/2014/main" id="{E97E5747-FEF8-A285-FBB0-F19B35D5E902}"/>
                </a:ext>
              </a:extLst>
            </p:cNvPr>
            <p:cNvSpPr/>
            <p:nvPr/>
          </p:nvSpPr>
          <p:spPr>
            <a:xfrm>
              <a:off x="6412324" y="4723008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dirty="0">
                  <a:solidFill>
                    <a:srgbClr val="002060"/>
                  </a:solidFill>
                </a:rPr>
                <a:t>Lorem ipsum dolor sit amet, consectetuer adipiscing elit…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DBDC98F-5B31-6D17-2F04-9FECFA4AC537}"/>
                </a:ext>
              </a:extLst>
            </p:cNvPr>
            <p:cNvCxnSpPr>
              <a:cxnSpLocks/>
            </p:cNvCxnSpPr>
            <p:nvPr/>
          </p:nvCxnSpPr>
          <p:spPr>
            <a:xfrm>
              <a:off x="7375286" y="5301157"/>
              <a:ext cx="0" cy="1177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or: Curved 38">
              <a:extLst>
                <a:ext uri="{FF2B5EF4-FFF2-40B4-BE49-F238E27FC236}">
                  <a16:creationId xmlns:a16="http://schemas.microsoft.com/office/drawing/2014/main" id="{3F6B6CB7-0BE6-6E79-A8D7-28F9BBD6F9E5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rot="10800000" flipV="1">
              <a:off x="6412324" y="5465590"/>
              <a:ext cx="924582" cy="735658"/>
            </a:xfrm>
            <a:prstGeom prst="curvedConnector3">
              <a:avLst>
                <a:gd name="adj1" fmla="val 95467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D270D6E-DD86-EFDB-374C-DF2812326D2B}"/>
                </a:ext>
              </a:extLst>
            </p:cNvPr>
            <p:cNvSpPr txBox="1"/>
            <p:nvPr/>
          </p:nvSpPr>
          <p:spPr>
            <a:xfrm>
              <a:off x="6412324" y="5901166"/>
              <a:ext cx="13906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pointer: </a:t>
              </a:r>
              <a:r>
                <a:rPr lang="en-US" sz="1100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file operations will occur here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BD7CFF0-6387-6563-6766-C113AECCA053}"/>
              </a:ext>
            </a:extLst>
          </p:cNvPr>
          <p:cNvGrpSpPr/>
          <p:nvPr/>
        </p:nvGrpSpPr>
        <p:grpSpPr>
          <a:xfrm>
            <a:off x="8234735" y="4720961"/>
            <a:ext cx="1390680" cy="1778322"/>
            <a:chOff x="6412324" y="4723008"/>
            <a:chExt cx="1390680" cy="1778322"/>
          </a:xfrm>
        </p:grpSpPr>
        <p:sp>
          <p:nvSpPr>
            <p:cNvPr id="46" name="Flowchart: Document 45">
              <a:extLst>
                <a:ext uri="{FF2B5EF4-FFF2-40B4-BE49-F238E27FC236}">
                  <a16:creationId xmlns:a16="http://schemas.microsoft.com/office/drawing/2014/main" id="{ABF45AB3-216C-9976-530E-6484261B67EF}"/>
                </a:ext>
              </a:extLst>
            </p:cNvPr>
            <p:cNvSpPr/>
            <p:nvPr/>
          </p:nvSpPr>
          <p:spPr>
            <a:xfrm>
              <a:off x="6412324" y="4723008"/>
              <a:ext cx="1390680" cy="1009195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900" i="1" strike="sngStrike" dirty="0">
                  <a:solidFill>
                    <a:srgbClr val="002060"/>
                  </a:solidFill>
                </a:rPr>
                <a:t>Lorem ipsum dolor sit amet, consectetuer adipiscing elit…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81ACDD6-99B3-5D40-5650-FFA452A980B3}"/>
                </a:ext>
              </a:extLst>
            </p:cNvPr>
            <p:cNvCxnSpPr>
              <a:cxnSpLocks/>
            </p:cNvCxnSpPr>
            <p:nvPr/>
          </p:nvCxnSpPr>
          <p:spPr>
            <a:xfrm>
              <a:off x="6478139" y="4861210"/>
              <a:ext cx="0" cy="1177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Curved 43">
              <a:extLst>
                <a:ext uri="{FF2B5EF4-FFF2-40B4-BE49-F238E27FC236}">
                  <a16:creationId xmlns:a16="http://schemas.microsoft.com/office/drawing/2014/main" id="{38BB0611-02DE-BDE2-9461-C0E5D616E70E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 rot="5400000">
              <a:off x="5854130" y="5577235"/>
              <a:ext cx="1182208" cy="65819"/>
            </a:xfrm>
            <a:prstGeom prst="curvedConnector4">
              <a:avLst>
                <a:gd name="adj1" fmla="val 37308"/>
                <a:gd name="adj2" fmla="val 447316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357EFA-2B24-2F80-FDFF-4DA90652E065}"/>
                </a:ext>
              </a:extLst>
            </p:cNvPr>
            <p:cNvSpPr txBox="1"/>
            <p:nvPr/>
          </p:nvSpPr>
          <p:spPr>
            <a:xfrm>
              <a:off x="6412324" y="5901166"/>
              <a:ext cx="139068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pointer: </a:t>
              </a:r>
              <a:r>
                <a:rPr lang="en-US" sz="1100" dirty="0">
                  <a:latin typeface="Segoe UI" panose="020B0502040204020203" pitchFamily="34" charset="0"/>
                  <a:ea typeface="Cascadia Code" panose="020B0609020000020004" pitchFamily="49" charset="0"/>
                  <a:cs typeface="Segoe UI" panose="020B0502040204020203" pitchFamily="34" charset="0"/>
                </a:rPr>
                <a:t>write and read operations will occur here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A25FDB3-F00C-94D8-E385-47EB4350ADBD}"/>
              </a:ext>
            </a:extLst>
          </p:cNvPr>
          <p:cNvGrpSpPr/>
          <p:nvPr/>
        </p:nvGrpSpPr>
        <p:grpSpPr>
          <a:xfrm>
            <a:off x="7156258" y="3618500"/>
            <a:ext cx="3517659" cy="347457"/>
            <a:chOff x="6962924" y="3783369"/>
            <a:chExt cx="3517659" cy="34745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806A865-AAA2-B0EE-6A09-1507EE0F47D2}"/>
                </a:ext>
              </a:extLst>
            </p:cNvPr>
            <p:cNvSpPr txBox="1"/>
            <p:nvPr/>
          </p:nvSpPr>
          <p:spPr>
            <a:xfrm>
              <a:off x="6962924" y="3783369"/>
              <a:ext cx="3517659" cy="336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400" b="0" dirty="0">
                  <a:solidFill>
                    <a:srgbClr val="0184BC"/>
                  </a:solidFill>
                  <a:effectLst/>
                  <a:latin typeface="Monaco" panose="020B0500000000000000" pitchFamily="34" charset="0"/>
                </a:rPr>
                <a:t>open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(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Monaco" panose="020B0500000000000000" pitchFamily="34" charset="0"/>
                </a:rPr>
                <a:t>'path/to/file'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, </a:t>
              </a:r>
              <a:r>
                <a:rPr lang="en-US" sz="1400" b="0" dirty="0">
                  <a:solidFill>
                    <a:srgbClr val="986801"/>
                  </a:solidFill>
                  <a:effectLst/>
                  <a:latin typeface="Monaco" panose="020B0500000000000000" pitchFamily="34" charset="0"/>
                </a:rPr>
                <a:t>mode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=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Monaco" panose="020B0500000000000000" pitchFamily="34" charset="0"/>
                </a:rPr>
                <a:t>‘w+'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)</a:t>
              </a:r>
            </a:p>
          </p:txBody>
        </p:sp>
        <p:sp>
          <p:nvSpPr>
            <p:cNvPr id="52" name="Rectangle: Rounded Corners 45">
              <a:extLst>
                <a:ext uri="{FF2B5EF4-FFF2-40B4-BE49-F238E27FC236}">
                  <a16:creationId xmlns:a16="http://schemas.microsoft.com/office/drawing/2014/main" id="{255D3E9B-9C0D-3781-2EE6-EC9015BDD57E}"/>
                </a:ext>
              </a:extLst>
            </p:cNvPr>
            <p:cNvSpPr/>
            <p:nvPr/>
          </p:nvSpPr>
          <p:spPr>
            <a:xfrm>
              <a:off x="9816860" y="3828797"/>
              <a:ext cx="459063" cy="302029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012576-A38E-31B7-1FD6-EAFD562C2D5B}"/>
              </a:ext>
            </a:extLst>
          </p:cNvPr>
          <p:cNvGrpSpPr/>
          <p:nvPr/>
        </p:nvGrpSpPr>
        <p:grpSpPr>
          <a:xfrm>
            <a:off x="7630629" y="3298646"/>
            <a:ext cx="3517659" cy="340792"/>
            <a:chOff x="7615591" y="4107565"/>
            <a:chExt cx="3517659" cy="34079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188DF1D-DDE4-74B1-54B3-B932EAD3B0AF}"/>
                </a:ext>
              </a:extLst>
            </p:cNvPr>
            <p:cNvSpPr txBox="1"/>
            <p:nvPr/>
          </p:nvSpPr>
          <p:spPr>
            <a:xfrm>
              <a:off x="7615591" y="4107565"/>
              <a:ext cx="3517659" cy="336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400" b="0" dirty="0">
                  <a:solidFill>
                    <a:srgbClr val="0184BC"/>
                  </a:solidFill>
                  <a:effectLst/>
                  <a:latin typeface="Monaco" panose="020B0500000000000000" pitchFamily="34" charset="0"/>
                </a:rPr>
                <a:t>open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(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Monaco" panose="020B0500000000000000" pitchFamily="34" charset="0"/>
                </a:rPr>
                <a:t>'path/to/file'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, </a:t>
              </a:r>
              <a:r>
                <a:rPr lang="en-US" sz="1400" b="0" dirty="0">
                  <a:solidFill>
                    <a:srgbClr val="986801"/>
                  </a:solidFill>
                  <a:effectLst/>
                  <a:latin typeface="Monaco" panose="020B0500000000000000" pitchFamily="34" charset="0"/>
                </a:rPr>
                <a:t>mode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=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Monaco" panose="020B0500000000000000" pitchFamily="34" charset="0"/>
                </a:rPr>
                <a:t>‘a+'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)</a:t>
              </a:r>
            </a:p>
          </p:txBody>
        </p:sp>
        <p:sp>
          <p:nvSpPr>
            <p:cNvPr id="55" name="Rectangle: Rounded Corners 46">
              <a:extLst>
                <a:ext uri="{FF2B5EF4-FFF2-40B4-BE49-F238E27FC236}">
                  <a16:creationId xmlns:a16="http://schemas.microsoft.com/office/drawing/2014/main" id="{2698197C-437A-F99D-684B-9D4754A1A156}"/>
                </a:ext>
              </a:extLst>
            </p:cNvPr>
            <p:cNvSpPr/>
            <p:nvPr/>
          </p:nvSpPr>
          <p:spPr>
            <a:xfrm>
              <a:off x="10446302" y="4146328"/>
              <a:ext cx="459063" cy="302029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7BF67F4-2493-C6AD-239A-81DF49183FE4}"/>
              </a:ext>
            </a:extLst>
          </p:cNvPr>
          <p:cNvGrpSpPr/>
          <p:nvPr/>
        </p:nvGrpSpPr>
        <p:grpSpPr>
          <a:xfrm>
            <a:off x="6460918" y="3949894"/>
            <a:ext cx="3517659" cy="345445"/>
            <a:chOff x="6299201" y="3465373"/>
            <a:chExt cx="3517659" cy="345445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27B5900-E6E5-8AC1-F30F-DD8E39DBAB99}"/>
                </a:ext>
              </a:extLst>
            </p:cNvPr>
            <p:cNvSpPr txBox="1"/>
            <p:nvPr/>
          </p:nvSpPr>
          <p:spPr>
            <a:xfrm>
              <a:off x="6299201" y="3465373"/>
              <a:ext cx="3517659" cy="336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400" b="0" dirty="0">
                  <a:solidFill>
                    <a:srgbClr val="0184BC"/>
                  </a:solidFill>
                  <a:effectLst/>
                  <a:latin typeface="Monaco" panose="020B0500000000000000" pitchFamily="34" charset="0"/>
                </a:rPr>
                <a:t>open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(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Monaco" panose="020B0500000000000000" pitchFamily="34" charset="0"/>
                </a:rPr>
                <a:t>'path/to/file'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, </a:t>
              </a:r>
              <a:r>
                <a:rPr lang="en-US" sz="1400" b="0" dirty="0">
                  <a:solidFill>
                    <a:srgbClr val="986801"/>
                  </a:solidFill>
                  <a:effectLst/>
                  <a:latin typeface="Monaco" panose="020B0500000000000000" pitchFamily="34" charset="0"/>
                </a:rPr>
                <a:t>mode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=</a:t>
              </a:r>
              <a:r>
                <a:rPr lang="en-US" sz="1400" b="0" dirty="0">
                  <a:solidFill>
                    <a:srgbClr val="50A14F"/>
                  </a:solidFill>
                  <a:effectLst/>
                  <a:latin typeface="Monaco" panose="020B0500000000000000" pitchFamily="34" charset="0"/>
                </a:rPr>
                <a:t>‘r+'</a:t>
              </a:r>
              <a:r>
                <a:rPr lang="en-US" sz="1400" b="0" dirty="0">
                  <a:solidFill>
                    <a:srgbClr val="383A42"/>
                  </a:solidFill>
                  <a:effectLst/>
                  <a:latin typeface="Monaco" panose="020B0500000000000000" pitchFamily="34" charset="0"/>
                </a:rPr>
                <a:t>)</a:t>
              </a:r>
            </a:p>
          </p:txBody>
        </p:sp>
        <p:sp>
          <p:nvSpPr>
            <p:cNvPr id="58" name="Rectangle: Rounded Corners 47">
              <a:extLst>
                <a:ext uri="{FF2B5EF4-FFF2-40B4-BE49-F238E27FC236}">
                  <a16:creationId xmlns:a16="http://schemas.microsoft.com/office/drawing/2014/main" id="{9C524812-C47F-F1B0-03A3-DFB20C510027}"/>
                </a:ext>
              </a:extLst>
            </p:cNvPr>
            <p:cNvSpPr/>
            <p:nvPr/>
          </p:nvSpPr>
          <p:spPr>
            <a:xfrm>
              <a:off x="9144888" y="3508789"/>
              <a:ext cx="459063" cy="302029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9" name="Connector: Curved 48">
            <a:extLst>
              <a:ext uri="{FF2B5EF4-FFF2-40B4-BE49-F238E27FC236}">
                <a16:creationId xmlns:a16="http://schemas.microsoft.com/office/drawing/2014/main" id="{BAE07632-40AF-F0D5-4FDB-5CA35ECE64DB}"/>
              </a:ext>
            </a:extLst>
          </p:cNvPr>
          <p:cNvCxnSpPr>
            <a:stCxn id="58" idx="2"/>
            <a:endCxn id="36" idx="0"/>
          </p:cNvCxnSpPr>
          <p:nvPr/>
        </p:nvCxnSpPr>
        <p:spPr>
          <a:xfrm rot="5400000">
            <a:off x="8249977" y="3434801"/>
            <a:ext cx="425622" cy="21466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Connector: Curved 49">
            <a:extLst>
              <a:ext uri="{FF2B5EF4-FFF2-40B4-BE49-F238E27FC236}">
                <a16:creationId xmlns:a16="http://schemas.microsoft.com/office/drawing/2014/main" id="{66106332-73B1-5B81-240B-A39F224D61C3}"/>
              </a:ext>
            </a:extLst>
          </p:cNvPr>
          <p:cNvCxnSpPr>
            <a:stCxn id="52" idx="2"/>
            <a:endCxn id="46" idx="0"/>
          </p:cNvCxnSpPr>
          <p:nvPr/>
        </p:nvCxnSpPr>
        <p:spPr>
          <a:xfrm rot="5400000">
            <a:off x="9207399" y="3688634"/>
            <a:ext cx="755004" cy="1309651"/>
          </a:xfrm>
          <a:prstGeom prst="curvedConnector3">
            <a:avLst>
              <a:gd name="adj1" fmla="val 7170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Connector: Curved 50">
            <a:extLst>
              <a:ext uri="{FF2B5EF4-FFF2-40B4-BE49-F238E27FC236}">
                <a16:creationId xmlns:a16="http://schemas.microsoft.com/office/drawing/2014/main" id="{1C625A03-19B4-A2FF-43E6-8B7FC3EE3C7C}"/>
              </a:ext>
            </a:extLst>
          </p:cNvPr>
          <p:cNvCxnSpPr>
            <a:cxnSpLocks/>
            <a:stCxn id="55" idx="2"/>
            <a:endCxn id="41" idx="0"/>
          </p:cNvCxnSpPr>
          <p:nvPr/>
        </p:nvCxnSpPr>
        <p:spPr>
          <a:xfrm rot="5400000">
            <a:off x="10039304" y="4069392"/>
            <a:ext cx="1081523" cy="22161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2" name="Title 1"/>
          <p:cNvSpPr txBox="1">
            <a:spLocks/>
          </p:cNvSpPr>
          <p:nvPr/>
        </p:nvSpPr>
        <p:spPr>
          <a:xfrm>
            <a:off x="600974" y="343055"/>
            <a:ext cx="7926338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File Modes: </a:t>
            </a:r>
            <a:r>
              <a:rPr lang="en-US" sz="2800" dirty="0"/>
              <a:t>Different Ways to Access Files</a:t>
            </a:r>
          </a:p>
        </p:txBody>
      </p:sp>
    </p:spTree>
    <p:extLst>
      <p:ext uri="{BB962C8B-B14F-4D97-AF65-F5344CB8AC3E}">
        <p14:creationId xmlns:p14="http://schemas.microsoft.com/office/powerpoint/2010/main" val="302939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5203925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Reading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t>15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1157445"/>
            <a:ext cx="5809198" cy="560848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Reading from files is fundamental operation in file handling.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read the contents of a file, it must be opened in </a:t>
            </a:r>
            <a:r>
              <a:rPr lang="en-US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‘r’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‘r+’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or </a:t>
            </a:r>
            <a:r>
              <a:rPr lang="en-US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</a:t>
            </a:r>
            <a:r>
              <a:rPr lang="en-US" dirty="0" err="1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rb</a:t>
            </a:r>
            <a:r>
              <a:rPr lang="en-US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’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mode.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read()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method reads the entire content of the file as a single string.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dirty="0" err="1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readline</a:t>
            </a:r>
            <a:r>
              <a:rPr lang="en-US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()</a:t>
            </a:r>
            <a:r>
              <a:rPr lang="en-US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method reads a single line from the file.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dirty="0" err="1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readlines</a:t>
            </a:r>
            <a:r>
              <a:rPr lang="en-US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()</a:t>
            </a:r>
            <a:r>
              <a:rPr lang="en-US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methods reads all lines in the file and returns them as a list of strings.</a:t>
            </a:r>
          </a:p>
          <a:p>
            <a:pPr algn="just"/>
            <a:r>
              <a:rPr lang="en-US" sz="1600" b="1" i="1" dirty="0">
                <a:latin typeface="Segoe UI" panose="020B0502040204020203" pitchFamily="34" charset="0"/>
                <a:cs typeface="Segoe UI" panose="020B0502040204020203" pitchFamily="34" charset="0"/>
              </a:rPr>
              <a:t>Note: </a:t>
            </a: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In read mode, </a:t>
            </a:r>
            <a:r>
              <a:rPr lang="en-US" sz="1600" b="1" i="1" dirty="0">
                <a:latin typeface="Segoe UI" panose="020B0502040204020203" pitchFamily="34" charset="0"/>
                <a:cs typeface="Segoe UI" panose="020B0502040204020203" pitchFamily="34" charset="0"/>
              </a:rPr>
              <a:t>file pointer </a:t>
            </a: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is placed at the beginning of the file initially.</a:t>
            </a:r>
          </a:p>
          <a:p>
            <a:pPr algn="just"/>
            <a:endParaRPr lang="en-US" dirty="0">
              <a:latin typeface="Monaco" panose="020B0500000000000000" pitchFamily="34" charset="0"/>
              <a:ea typeface="Cascadia Code" panose="020B0609020000020004" pitchFamily="49" charset="0"/>
              <a:cs typeface="Segoe UI" panose="020B0502040204020203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E23E87-7B18-08C2-EF5A-89A73ACC2B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5" t="6791" r="12181"/>
          <a:stretch/>
        </p:blipFill>
        <p:spPr bwMode="auto">
          <a:xfrm>
            <a:off x="6503847" y="994604"/>
            <a:ext cx="4757187" cy="301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128B26-5239-102C-41A6-9A07C8ED5E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98" t="29466" r="11990" b="28217"/>
          <a:stretch/>
        </p:blipFill>
        <p:spPr>
          <a:xfrm>
            <a:off x="6410171" y="4386337"/>
            <a:ext cx="4850863" cy="147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56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A2B7-77FE-3510-8197-34BB30BF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308C-AA40-DF38-D92D-548D02F7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235917"/>
            <a:ext cx="10982740" cy="74805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Writing to Files</a:t>
            </a:r>
            <a:endParaRPr lang="en-US" sz="24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776EA-5613-AAFA-E924-81336B61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1152938"/>
            <a:ext cx="5783887" cy="5705062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Writing to files is necessary to store data in the files.</a:t>
            </a:r>
          </a:p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To write some data to a file, it must be opened in </a:t>
            </a:r>
            <a:r>
              <a:rPr lang="en-US" sz="2000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‘w’, ‘w+, ‘a’, ‘a+’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, or </a:t>
            </a:r>
            <a:r>
              <a:rPr lang="en-US" sz="2000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‘</a:t>
            </a:r>
            <a:r>
              <a:rPr lang="en-US" sz="2000" dirty="0" err="1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wb</a:t>
            </a:r>
            <a:r>
              <a:rPr lang="en-US" sz="2000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’</a:t>
            </a:r>
            <a:r>
              <a:rPr lang="en-US" sz="2200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 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mode.</a:t>
            </a:r>
          </a:p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000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write()</a:t>
            </a:r>
            <a:r>
              <a:rPr lang="en-US" sz="2200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 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method writes a string to a file but doesn’t automatically add a newline at the end.</a:t>
            </a:r>
          </a:p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000" dirty="0">
                <a:latin typeface="Monaco" panose="020B0500000000000000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writelines()</a:t>
            </a:r>
            <a:r>
              <a:rPr lang="en-US" sz="2200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 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method writes a list of strings to the file, each on a new line.</a:t>
            </a:r>
          </a:p>
          <a:p>
            <a:pPr algn="just"/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Note: 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In write mode, initially the </a:t>
            </a: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file pointer 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is placed at the beginning of the file while in append mode it is placed at the end.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909D8496-57BE-05ED-4F8F-667E8E274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184" y="1437610"/>
            <a:ext cx="5198852" cy="160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9C481F-24D2-F132-CDCD-27DB3EB4B3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03" t="30404" r="11514" b="20097"/>
          <a:stretch/>
        </p:blipFill>
        <p:spPr>
          <a:xfrm>
            <a:off x="6096000" y="4100731"/>
            <a:ext cx="4937185" cy="16337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49737" y="2721330"/>
            <a:ext cx="702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newline</a:t>
            </a:r>
          </a:p>
        </p:txBody>
      </p:sp>
    </p:spTree>
    <p:extLst>
      <p:ext uri="{BB962C8B-B14F-4D97-AF65-F5344CB8AC3E}">
        <p14:creationId xmlns:p14="http://schemas.microsoft.com/office/powerpoint/2010/main" val="1500821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9B639-9315-5908-D163-AC4AF487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5C22-9AEB-ED4C-DD97-8BF2EF64F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235917"/>
            <a:ext cx="10982740" cy="74805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File Context Manager</a:t>
            </a:r>
            <a:endParaRPr lang="en-US" sz="24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BAB5-1E3C-8A18-63BE-194632CD7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7" y="1152938"/>
            <a:ext cx="6020904" cy="5387009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File context manager is a way to handle files using the </a:t>
            </a:r>
            <a:r>
              <a:rPr lang="en-US" sz="2200" dirty="0">
                <a:solidFill>
                  <a:srgbClr val="00B0F0"/>
                </a:solidFill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with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statement.</a:t>
            </a:r>
          </a:p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It ensures that the file is closed automatically after the block of code is executed.</a:t>
            </a:r>
          </a:p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Even if an exception occurs within the block, the file will still be closed properly.</a:t>
            </a:r>
          </a:p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It makes the code more readable and concise.</a:t>
            </a:r>
          </a:p>
          <a:p>
            <a:pPr algn="just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File cannot be accessed outside of this context.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DEB9305-BBE6-C385-36D0-05A2D3E2F9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81" r="8496" b="7717"/>
          <a:stretch/>
        </p:blipFill>
        <p:spPr bwMode="auto">
          <a:xfrm>
            <a:off x="6423436" y="2504188"/>
            <a:ext cx="4837599" cy="349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B73052-24B5-9A53-78DE-CE730A097D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29" t="30247" r="10832" b="19629"/>
          <a:stretch/>
        </p:blipFill>
        <p:spPr>
          <a:xfrm>
            <a:off x="6299200" y="739342"/>
            <a:ext cx="4961835" cy="15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9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EF4F-014D-F0C5-4B9F-7A2C31AF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1111-BC65-B7D8-B206-8A9F9480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235917"/>
            <a:ext cx="10982740" cy="74805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File Exception Handling</a:t>
            </a:r>
            <a:endParaRPr lang="en-US" sz="24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215E9-E3F2-C9C0-1F7F-3A127CAA5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7" y="1152938"/>
            <a:ext cx="5997824" cy="549241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Error handling is used when working with files to ensure that your program can gracefully handle unexpected situations.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FileNotFoundError: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Raised when trying to open a file that doesn’t exist.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PermissionError: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Raised when the program does not have the necessary permissions to access the file.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IsADirectoryError: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Raised when a file is expected but a directory is found, or vice versa.</a:t>
            </a:r>
          </a:p>
          <a:p>
            <a:pPr algn="just"/>
            <a:r>
              <a:rPr lang="en-US" b="1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IOError: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Raised for various I/O related errors, such as disk full, file system corruption, etc.</a:t>
            </a:r>
          </a:p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Python’s exception handling mechanism is used to handle these situations using </a:t>
            </a:r>
            <a:r>
              <a:rPr lang="en-US" dirty="0">
                <a:latin typeface="Segoe UI" panose="020B0502040204020203" pitchFamily="34" charset="0"/>
                <a:ea typeface="Cascadia Code" panose="020B0609020000020004" pitchFamily="49" charset="0"/>
                <a:cs typeface="Segoe UI" panose="020B0502040204020203" pitchFamily="34" charset="0"/>
              </a:rPr>
              <a:t>try-except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blocks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50CECF9-7D92-42D1-6746-EC5F943B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915" y="883437"/>
            <a:ext cx="4911121" cy="306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8ECDEA-DED9-0384-A2CC-94023C27F7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94" t="19120" r="8857" b="12327"/>
          <a:stretch/>
        </p:blipFill>
        <p:spPr>
          <a:xfrm>
            <a:off x="6349915" y="3812876"/>
            <a:ext cx="4911121" cy="251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5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Happy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682</TotalTime>
  <Words>2063</Words>
  <Application>Microsoft Office PowerPoint</Application>
  <PresentationFormat>Widescreen</PresentationFormat>
  <Paragraphs>235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Century Schoolbook</vt:lpstr>
      <vt:lpstr>Monaco</vt:lpstr>
      <vt:lpstr>Segoe UI</vt:lpstr>
      <vt:lpstr>Tahoma</vt:lpstr>
      <vt:lpstr>Wingdings 2</vt:lpstr>
      <vt:lpstr>View</vt:lpstr>
      <vt:lpstr>Spring of Code Artificial Intelligence (Machine Learning &amp; Deep Learning)</vt:lpstr>
      <vt:lpstr>Day 01 and 02 – Python Fundamentals (Functions)</vt:lpstr>
      <vt:lpstr>Introduction to Functions</vt:lpstr>
      <vt:lpstr>Functions in Python</vt:lpstr>
      <vt:lpstr>PowerPoint Presentation</vt:lpstr>
      <vt:lpstr>Variable Scope</vt:lpstr>
      <vt:lpstr>Errors in Programming</vt:lpstr>
      <vt:lpstr>Types of Errors in Python</vt:lpstr>
      <vt:lpstr>Error vs Exception</vt:lpstr>
      <vt:lpstr>Exception Handling Syntax</vt:lpstr>
      <vt:lpstr>Optional Blocks</vt:lpstr>
      <vt:lpstr>Introduction to File Handling</vt:lpstr>
      <vt:lpstr>File Modes: Different Ways to Access Files</vt:lpstr>
      <vt:lpstr>PowerPoint Presentation</vt:lpstr>
      <vt:lpstr>Reading Files</vt:lpstr>
      <vt:lpstr>Writing to Files</vt:lpstr>
      <vt:lpstr>File Context Manager</vt:lpstr>
      <vt:lpstr>File Exception Handling</vt:lpstr>
      <vt:lpstr>Happy Coding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Asad Afridi</dc:creator>
  <cp:keywords/>
  <dc:description>generated using python-pptx</dc:description>
  <cp:lastModifiedBy>Asad Afridi</cp:lastModifiedBy>
  <cp:revision>15</cp:revision>
  <dcterms:created xsi:type="dcterms:W3CDTF">2013-01-27T09:14:16Z</dcterms:created>
  <dcterms:modified xsi:type="dcterms:W3CDTF">2026-02-24T18:37:53Z</dcterms:modified>
  <cp:category/>
</cp:coreProperties>
</file>