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69" r:id="rId2"/>
    <p:sldId id="270" r:id="rId3"/>
    <p:sldId id="296" r:id="rId4"/>
    <p:sldId id="297" r:id="rId5"/>
    <p:sldId id="298" r:id="rId6"/>
    <p:sldId id="299" r:id="rId7"/>
    <p:sldId id="317" r:id="rId8"/>
    <p:sldId id="318" r:id="rId9"/>
    <p:sldId id="319" r:id="rId10"/>
    <p:sldId id="322" r:id="rId11"/>
    <p:sldId id="323" r:id="rId12"/>
    <p:sldId id="324" r:id="rId13"/>
    <p:sldId id="325" r:id="rId14"/>
    <p:sldId id="326" r:id="rId15"/>
    <p:sldId id="327" r:id="rId16"/>
    <p:sldId id="30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53" autoAdjust="0"/>
    <p:restoredTop sz="95388" autoAdjust="0"/>
  </p:normalViewPr>
  <p:slideViewPr>
    <p:cSldViewPr snapToGrid="0" snapToObjects="1">
      <p:cViewPr varScale="1">
        <p:scale>
          <a:sx n="63" d="100"/>
          <a:sy n="63" d="100"/>
        </p:scale>
        <p:origin x="396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ECE86-3A9E-451C-B628-D8723CA8B0D1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FE4E0-99C2-4C7B-9FAA-C1CC54635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61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13258-6E53-4C80-83B5-0E8BFFF081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15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373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14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585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059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4399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625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No do-while loop in python.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- </a:t>
            </a:r>
            <a:r>
              <a:rPr lang="en-US" dirty="0">
                <a:cs typeface="Times New Roman" panose="02020603050405020304" pitchFamily="18" charset="0"/>
              </a:rPr>
              <a:t>make the code more efficient and readable.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40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618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574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530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Exiting Loops with break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74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Skipping Iterations with continue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4456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with pass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- </a:t>
            </a:r>
            <a:r>
              <a:rPr lang="en-US" dirty="0">
                <a:cs typeface="Times New Roman" panose="02020603050405020304" pitchFamily="18" charset="0"/>
              </a:rPr>
              <a:t>It’s used as a placeholder for code you’ll add later.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39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241044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1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95147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83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13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94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9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5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5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21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34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33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99581-E6DA-A087-25B7-D388200DD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40" y="2281028"/>
            <a:ext cx="9418320" cy="1940814"/>
          </a:xfr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Spring of Code</a:t>
            </a:r>
            <a:b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Artificial Intelligence</a:t>
            </a:r>
            <a:b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(Machine Learning &amp; Deep Learning)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143E3-D58C-EF6B-7201-CA43E3F6C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840" y="4690522"/>
            <a:ext cx="4709160" cy="1073671"/>
          </a:xfrm>
        </p:spPr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Instructor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Asad Ullah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Assistant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(DIP Lab)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8220163-3D24-35D9-099A-1EE7AD5D8507}"/>
              </a:ext>
            </a:extLst>
          </p:cNvPr>
          <p:cNvSpPr txBox="1">
            <a:spLocks/>
          </p:cNvSpPr>
          <p:nvPr/>
        </p:nvSpPr>
        <p:spPr>
          <a:xfrm>
            <a:off x="6096000" y="4690522"/>
            <a:ext cx="4709160" cy="1073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Duration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 Months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(Feb – April)</a:t>
            </a:r>
          </a:p>
        </p:txBody>
      </p:sp>
      <p:pic>
        <p:nvPicPr>
          <p:cNvPr id="9" name="Picture 8" descr="A logo with a sun and a laurel wreath&#10;&#10;AI-generated content may be incorrect.">
            <a:extLst>
              <a:ext uri="{FF2B5EF4-FFF2-40B4-BE49-F238E27FC236}">
                <a16:creationId xmlns:a16="http://schemas.microsoft.com/office/drawing/2014/main" id="{3ADBB9F1-F1A4-490F-36F0-0633244FD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090" y="72457"/>
            <a:ext cx="154382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019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54CCF-B8FC-00AC-994C-65096C56E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998" y="459815"/>
            <a:ext cx="7504917" cy="1675623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Day 05 – Python Fundamentals</a:t>
            </a:r>
            <a:b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(Conditionals and Loops)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AA044-F283-AA13-92C2-38B0E3D12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8998" y="2493649"/>
            <a:ext cx="6798539" cy="42805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Objectives: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What are Conditional Statements?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What are Loops?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Python Indentation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What are Iterables?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C35921B8-E61C-181D-7373-575C738981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91" r="49463" b="-1"/>
          <a:stretch>
            <a:fillRect/>
          </a:stretch>
        </p:blipFill>
        <p:spPr>
          <a:xfrm>
            <a:off x="-615095" y="10"/>
            <a:ext cx="4196496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22069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Conditional Statements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3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1054702"/>
            <a:ext cx="6056680" cy="5366646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What Are Conditional Statements?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Conditional statements allow a program to make decisions based on whether a condition is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True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or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False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Why Use Conditions?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Control the flow of execution.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Executes code only when specific conditions are met.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Skip or branch logic based on outcomes.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Real-Life Example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dirty="0">
                <a:solidFill>
                  <a:srgbClr val="006C3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Traffic light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If the light is green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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cars go.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If the light is red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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cars stop.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4739" t="2311" r="13249" b="4014"/>
          <a:stretch/>
        </p:blipFill>
        <p:spPr>
          <a:xfrm>
            <a:off x="4889500" y="2981764"/>
            <a:ext cx="6403340" cy="387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533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Conditions in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4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3" y="1068544"/>
            <a:ext cx="6118325" cy="5608481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 condition is an expression that evaluates 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True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or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False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0" indent="0" algn="just">
              <a:spcBef>
                <a:spcPts val="200"/>
              </a:spcBef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Common Comparison Operators:</a:t>
            </a:r>
          </a:p>
          <a:p>
            <a:pPr algn="just"/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274320" lvl="1" indent="0" algn="just">
              <a:buNone/>
            </a:pPr>
            <a:r>
              <a:rPr lang="en-US" sz="1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x = 10</a:t>
            </a:r>
          </a:p>
          <a:p>
            <a:pPr marL="274320" lvl="1" indent="0" algn="just">
              <a:buNone/>
            </a:pPr>
            <a:r>
              <a:rPr lang="en-US" sz="1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if x &gt; 5:</a:t>
            </a:r>
          </a:p>
          <a:p>
            <a:pPr marL="274320" lvl="1" indent="0" algn="just">
              <a:buNone/>
            </a:pPr>
            <a:r>
              <a:rPr lang="en-US" sz="1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   print(“x is greater than 5”)</a:t>
            </a:r>
          </a:p>
          <a:p>
            <a:pPr algn="just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In this example, </a:t>
            </a:r>
            <a:r>
              <a:rPr lang="en-US" sz="1600" b="1" i="1" dirty="0">
                <a:latin typeface="Segoe UI" panose="020B0502040204020203" pitchFamily="34" charset="0"/>
                <a:cs typeface="Segoe UI" panose="020B0502040204020203" pitchFamily="34" charset="0"/>
              </a:rPr>
              <a:t>x &gt; 5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is the condition being evaluated.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t="9589"/>
          <a:stretch/>
        </p:blipFill>
        <p:spPr>
          <a:xfrm>
            <a:off x="6719298" y="2968959"/>
            <a:ext cx="4573542" cy="388904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88742"/>
              </p:ext>
            </p:extLst>
          </p:nvPr>
        </p:nvGraphicFramePr>
        <p:xfrm>
          <a:off x="1097271" y="2296671"/>
          <a:ext cx="5506924" cy="2470758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753462">
                  <a:extLst>
                    <a:ext uri="{9D8B030D-6E8A-4147-A177-3AD203B41FA5}">
                      <a16:colId xmlns:a16="http://schemas.microsoft.com/office/drawing/2014/main" val="2532281030"/>
                    </a:ext>
                  </a:extLst>
                </a:gridCol>
                <a:gridCol w="2753462">
                  <a:extLst>
                    <a:ext uri="{9D8B030D-6E8A-4147-A177-3AD203B41FA5}">
                      <a16:colId xmlns:a16="http://schemas.microsoft.com/office/drawing/2014/main" val="2931362847"/>
                    </a:ext>
                  </a:extLst>
                </a:gridCol>
              </a:tblGrid>
              <a:tr h="284476">
                <a:tc>
                  <a:txBody>
                    <a:bodyPr/>
                    <a:lstStyle/>
                    <a:p>
                      <a:r>
                        <a:rPr lang="en-US" sz="1800" b="1" dirty="0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823363"/>
                  </a:ext>
                </a:extLst>
              </a:tr>
              <a:tr h="284476">
                <a:tc>
                  <a:txBody>
                    <a:bodyPr/>
                    <a:lstStyle/>
                    <a:p>
                      <a:r>
                        <a:rPr lang="en-US" sz="1600" dirty="0"/>
                        <a:t>==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Equal 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746659"/>
                  </a:ext>
                </a:extLst>
              </a:tr>
              <a:tr h="284476">
                <a:tc>
                  <a:txBody>
                    <a:bodyPr/>
                    <a:lstStyle/>
                    <a:p>
                      <a:r>
                        <a:rPr lang="en-US" sz="1600"/>
                        <a:t>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Not equal 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5491059"/>
                  </a:ext>
                </a:extLst>
              </a:tr>
              <a:tr h="284476">
                <a:tc>
                  <a:txBody>
                    <a:bodyPr/>
                    <a:lstStyle/>
                    <a:p>
                      <a:r>
                        <a:rPr lang="en-US" sz="1600" dirty="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Greater than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0552579"/>
                  </a:ext>
                </a:extLst>
              </a:tr>
              <a:tr h="284476">
                <a:tc>
                  <a:txBody>
                    <a:bodyPr/>
                    <a:lstStyle/>
                    <a:p>
                      <a:r>
                        <a:rPr lang="en-US" sz="1600" dirty="0"/>
                        <a:t>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Less than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5214696"/>
                  </a:ext>
                </a:extLst>
              </a:tr>
              <a:tr h="428598">
                <a:tc>
                  <a:txBody>
                    <a:bodyPr/>
                    <a:lstStyle/>
                    <a:p>
                      <a:r>
                        <a:rPr lang="en-US" sz="1600" dirty="0"/>
                        <a:t>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Greater than or equal 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3329694"/>
                  </a:ext>
                </a:extLst>
              </a:tr>
              <a:tr h="284476">
                <a:tc>
                  <a:txBody>
                    <a:bodyPr/>
                    <a:lstStyle/>
                    <a:p>
                      <a:r>
                        <a:rPr lang="en-US" sz="1600" dirty="0"/>
                        <a:t>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Less than or equal 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8997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6171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/>
              <a:t>Logical Operators in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5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1157444"/>
            <a:ext cx="6570388" cy="5700556"/>
          </a:xfrm>
        </p:spPr>
        <p:txBody>
          <a:bodyPr>
            <a:noAutofit/>
          </a:bodyPr>
          <a:lstStyle/>
          <a:p>
            <a:pPr marL="0" indent="0" algn="just">
              <a:spcBef>
                <a:spcPts val="500"/>
              </a:spcBef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Logical operators are used to combine multiple conditions and return 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True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or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False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result.</a:t>
            </a:r>
          </a:p>
          <a:p>
            <a:pPr marL="0" indent="0" algn="just">
              <a:spcBef>
                <a:spcPts val="500"/>
              </a:spcBef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Types of Logical Operators:</a:t>
            </a:r>
          </a:p>
          <a:p>
            <a:pPr marL="0" indent="0" algn="just">
              <a:buNone/>
            </a:pP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Examples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274320" lvl="1" indent="0" algn="just">
              <a:buNone/>
            </a:pPr>
            <a:r>
              <a:rPr lang="en-US" b="1" dirty="0">
                <a:latin typeface="Consolas" panose="020B0609020204030204" pitchFamily="49" charset="0"/>
                <a:cs typeface="Segoe UI" panose="020B0502040204020203" pitchFamily="34" charset="0"/>
              </a:rPr>
              <a:t># and operator</a:t>
            </a:r>
          </a:p>
          <a:p>
            <a:pPr marL="274320" lvl="1" indent="0" algn="just">
              <a:buNone/>
            </a:pP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age = 20</a:t>
            </a:r>
          </a:p>
          <a:p>
            <a:pPr marL="274320" lvl="1" indent="0" algn="just">
              <a:buNone/>
            </a:pP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if age &gt; 18 and age &lt; 30:</a:t>
            </a:r>
          </a:p>
          <a:p>
            <a:pPr marL="548640" lvl="2" indent="0" algn="just">
              <a:buNone/>
            </a:pPr>
            <a:r>
              <a:rPr lang="en-US" sz="1600" i="1" dirty="0">
                <a:latin typeface="Consolas" panose="020B0609020204030204" pitchFamily="49" charset="0"/>
                <a:cs typeface="Segoe UI" panose="020B0502040204020203" pitchFamily="34" charset="0"/>
              </a:rPr>
              <a:t>print(“You’re a young adult”)</a:t>
            </a:r>
          </a:p>
          <a:p>
            <a:pPr marL="548640" lvl="2" indent="0" algn="just">
              <a:buNone/>
            </a:pPr>
            <a:endParaRPr lang="en-US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74320" lvl="1" indent="0" algn="just">
              <a:buNone/>
            </a:pPr>
            <a:r>
              <a:rPr lang="en-US" b="1" dirty="0">
                <a:latin typeface="Consolas" panose="020B0609020204030204" pitchFamily="49" charset="0"/>
                <a:cs typeface="Segoe UI" panose="020B0502040204020203" pitchFamily="34" charset="0"/>
              </a:rPr>
              <a:t># or operator</a:t>
            </a:r>
          </a:p>
          <a:p>
            <a:pPr marL="274320" lvl="1" indent="0" algn="just">
              <a:buNone/>
            </a:pP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grade = ‘B’</a:t>
            </a:r>
          </a:p>
          <a:p>
            <a:pPr marL="274320" lvl="1" indent="0" algn="just">
              <a:buNone/>
            </a:pP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if grade == ‘A’ or grade == ‘B’</a:t>
            </a:r>
          </a:p>
          <a:p>
            <a:pPr marL="274320" lvl="1" indent="0" algn="just">
              <a:buNone/>
            </a:pP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     print(“You passed”)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85382" y="2199799"/>
          <a:ext cx="5282068" cy="1324452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148218">
                  <a:extLst>
                    <a:ext uri="{9D8B030D-6E8A-4147-A177-3AD203B41FA5}">
                      <a16:colId xmlns:a16="http://schemas.microsoft.com/office/drawing/2014/main" val="3757420975"/>
                    </a:ext>
                  </a:extLst>
                </a:gridCol>
                <a:gridCol w="4133850">
                  <a:extLst>
                    <a:ext uri="{9D8B030D-6E8A-4147-A177-3AD203B41FA5}">
                      <a16:colId xmlns:a16="http://schemas.microsoft.com/office/drawing/2014/main" val="384354873"/>
                    </a:ext>
                  </a:extLst>
                </a:gridCol>
              </a:tblGrid>
              <a:tr h="331113">
                <a:tc>
                  <a:txBody>
                    <a:bodyPr/>
                    <a:lstStyle/>
                    <a:p>
                      <a:r>
                        <a:rPr lang="en-US" sz="1400" b="1" dirty="0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7677895"/>
                  </a:ext>
                </a:extLst>
              </a:tr>
              <a:tr h="331113">
                <a:tc>
                  <a:txBody>
                    <a:bodyPr/>
                    <a:lstStyle/>
                    <a:p>
                      <a:r>
                        <a:rPr lang="en-US" sz="1400"/>
                        <a:t>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True if both conditions are 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0808386"/>
                  </a:ext>
                </a:extLst>
              </a:tr>
              <a:tr h="331113">
                <a:tc>
                  <a:txBody>
                    <a:bodyPr/>
                    <a:lstStyle/>
                    <a:p>
                      <a:r>
                        <a:rPr lang="en-US" sz="1400"/>
                        <a:t>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 if at least one condition is 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508397"/>
                  </a:ext>
                </a:extLst>
              </a:tr>
              <a:tr h="331113">
                <a:tc>
                  <a:txBody>
                    <a:bodyPr/>
                    <a:lstStyle/>
                    <a:p>
                      <a:r>
                        <a:rPr lang="en-US" sz="1400" dirty="0"/>
                        <a:t>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Reverses the result (True ↔ False)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8712079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7599"/>
          <a:stretch/>
        </p:blipFill>
        <p:spPr>
          <a:xfrm>
            <a:off x="6400800" y="2199799"/>
            <a:ext cx="4794318" cy="350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207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00B0F0"/>
                </a:solidFill>
              </a:rPr>
              <a:t>if</a:t>
            </a:r>
            <a:r>
              <a:rPr lang="en-US" sz="2800" b="1" dirty="0"/>
              <a:t> Statements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6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3" y="1157444"/>
            <a:ext cx="6128599" cy="547966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cs typeface="Times New Roman" panose="02020603050405020304" pitchFamily="18" charset="0"/>
              </a:rPr>
              <a:t>Purpose:</a:t>
            </a:r>
          </a:p>
          <a:p>
            <a:pPr lvl="1" algn="just"/>
            <a:r>
              <a:rPr lang="en-US" dirty="0">
                <a:solidFill>
                  <a:srgbClr val="00B0F0"/>
                </a:solidFill>
                <a:cs typeface="Times New Roman" panose="02020603050405020304" pitchFamily="18" charset="0"/>
              </a:rPr>
              <a:t>if</a:t>
            </a:r>
            <a:r>
              <a:rPr lang="en-US" dirty="0">
                <a:cs typeface="Times New Roman" panose="02020603050405020304" pitchFamily="18" charset="0"/>
              </a:rPr>
              <a:t> statements allow you to execute code only when a specific condition is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True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spcBef>
                <a:spcPts val="400"/>
              </a:spcBef>
              <a:buNone/>
            </a:pPr>
            <a:r>
              <a:rPr lang="en-US" b="1" dirty="0">
                <a:cs typeface="Times New Roman" panose="02020603050405020304" pitchFamily="18" charset="0"/>
              </a:rPr>
              <a:t>Syntax:</a:t>
            </a:r>
          </a:p>
          <a:p>
            <a:pPr marL="274320" lvl="1" indent="0" algn="just">
              <a:buNone/>
            </a:pPr>
            <a:r>
              <a:rPr lang="en-US" i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if</a:t>
            </a: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condition:</a:t>
            </a:r>
          </a:p>
          <a:p>
            <a:pPr marL="548640" lvl="2" indent="0" algn="just">
              <a:buNone/>
            </a:pPr>
            <a:r>
              <a:rPr lang="en-US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# code block to execute if condition is True</a:t>
            </a:r>
          </a:p>
          <a:p>
            <a:pPr lvl="1" algn="just"/>
            <a:endParaRPr lang="en-US" dirty="0"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</a:rPr>
              <a:t>The condition follows the if keyword and ends with a colon :.</a:t>
            </a:r>
          </a:p>
          <a:p>
            <a:pPr lvl="1"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</a:rPr>
              <a:t>The code block is indented and runs only if the condition is True.</a:t>
            </a:r>
          </a:p>
          <a:p>
            <a:pPr lvl="1"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</a:rPr>
              <a:t>If the condition is False, the block is skipped.</a:t>
            </a:r>
          </a:p>
          <a:p>
            <a:pPr marL="0" indent="0" algn="just">
              <a:spcBef>
                <a:spcPts val="400"/>
              </a:spcBef>
              <a:buNone/>
            </a:pPr>
            <a:r>
              <a:rPr lang="en-US" b="1" dirty="0">
                <a:cs typeface="Times New Roman" panose="02020603050405020304" pitchFamily="18" charset="0"/>
              </a:rPr>
              <a:t>Example</a:t>
            </a:r>
            <a:r>
              <a:rPr lang="en-US" dirty="0">
                <a:cs typeface="Times New Roman" panose="02020603050405020304" pitchFamily="18" charset="0"/>
              </a:rPr>
              <a:t>:</a:t>
            </a:r>
          </a:p>
          <a:p>
            <a:pPr marL="274320" lvl="1" indent="0" algn="just">
              <a:buNone/>
            </a:pPr>
            <a:r>
              <a:rPr lang="en-US" sz="18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num</a:t>
            </a:r>
            <a:r>
              <a:rPr lang="en-US" sz="1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= 10 </a:t>
            </a:r>
          </a:p>
          <a:p>
            <a:pPr marL="274320" lvl="1" indent="0" algn="just">
              <a:buNone/>
            </a:pPr>
            <a:r>
              <a:rPr lang="en-US" sz="1800" i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if</a:t>
            </a:r>
            <a:r>
              <a:rPr lang="en-US" sz="1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sz="18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num</a:t>
            </a:r>
            <a:r>
              <a:rPr lang="en-US" sz="1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&gt; 5: </a:t>
            </a:r>
          </a:p>
          <a:p>
            <a:pPr marL="548640" lvl="2" indent="0" algn="just">
              <a:buNone/>
            </a:pP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print(“The number is greater than 5”)</a:t>
            </a:r>
          </a:p>
          <a:p>
            <a:pPr algn="just">
              <a:spcBef>
                <a:spcPts val="200"/>
              </a:spcBef>
            </a:pPr>
            <a:endParaRPr lang="en-US" sz="1600" dirty="0"/>
          </a:p>
          <a:p>
            <a:pPr lvl="1" algn="just">
              <a:spcBef>
                <a:spcPts val="200"/>
              </a:spcBef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this example, the message is printed only if </a:t>
            </a:r>
            <a:r>
              <a:rPr lang="en-US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num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&gt; 5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5756" t="15042" r="7906" b="12675"/>
          <a:stretch/>
        </p:blipFill>
        <p:spPr>
          <a:xfrm>
            <a:off x="6964338" y="3932560"/>
            <a:ext cx="4297680" cy="253650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185" y="1063067"/>
            <a:ext cx="4370833" cy="234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436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if-else Statements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7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1157444"/>
            <a:ext cx="6333226" cy="545925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Purpose: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if-else statements allow a program to take two different actions based on whether a condition is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True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or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False</a:t>
            </a:r>
          </a:p>
          <a:p>
            <a:pPr marL="0" indent="0" algn="just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How it Works: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if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block executes when the condition is True.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else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block executes when the condition is False.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This ensures that one of the two blocks will always run.</a:t>
            </a:r>
          </a:p>
          <a:p>
            <a:pPr marL="0" indent="0" algn="just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Example:</a:t>
            </a:r>
          </a:p>
          <a:p>
            <a:pPr marL="274320" lvl="1" indent="0" algn="just">
              <a:buNone/>
            </a:pP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num = 3</a:t>
            </a:r>
          </a:p>
          <a:p>
            <a:pPr marL="274320" lvl="1" indent="0" algn="just">
              <a:buNone/>
            </a:pP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if num &gt; 5:</a:t>
            </a:r>
          </a:p>
          <a:p>
            <a:pPr marL="548640" lvl="2" indent="0" algn="just">
              <a:buNone/>
            </a:pP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print(“The number is greater than 5”)</a:t>
            </a:r>
          </a:p>
          <a:p>
            <a:pPr marL="274320" lvl="1" indent="0" algn="just">
              <a:buNone/>
            </a:pP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else:</a:t>
            </a:r>
          </a:p>
          <a:p>
            <a:pPr marL="548640" lvl="2" indent="0" algn="just">
              <a:buNone/>
            </a:pP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print(“The number is not greater than </a:t>
            </a:r>
            <a:r>
              <a:rPr lang="en-US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5”)</a:t>
            </a:r>
          </a:p>
          <a:p>
            <a:pPr algn="just">
              <a:spcBef>
                <a:spcPts val="400"/>
              </a:spcBef>
            </a:pP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Bef>
                <a:spcPts val="400"/>
              </a:spcBef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Here, since 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num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is not greater than 5, the else block runs and prints the second message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7871" t="7613" r="6727" b="7762"/>
          <a:stretch/>
        </p:blipFill>
        <p:spPr>
          <a:xfrm>
            <a:off x="7058346" y="3273531"/>
            <a:ext cx="4171308" cy="244524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/>
          <a:srcRect t="1233" b="8623"/>
          <a:stretch/>
        </p:blipFill>
        <p:spPr>
          <a:xfrm>
            <a:off x="7000241" y="1065749"/>
            <a:ext cx="4231639" cy="228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89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if-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elif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-else Statements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8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969338"/>
            <a:ext cx="6415777" cy="5700556"/>
          </a:xfrm>
        </p:spPr>
        <p:txBody>
          <a:bodyPr>
            <a:noAutofit/>
          </a:bodyPr>
          <a:lstStyle/>
          <a:p>
            <a:pPr marL="0" indent="0" algn="just">
              <a:spcBef>
                <a:spcPts val="400"/>
              </a:spcBef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Purpose:</a:t>
            </a:r>
          </a:p>
          <a:p>
            <a:pPr lvl="1" algn="just">
              <a:spcBef>
                <a:spcPts val="4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Used when you need to evaluate multiple conditions and execute different blocks of code based on which condition is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True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indent="0" algn="just">
              <a:spcBef>
                <a:spcPts val="400"/>
              </a:spcBef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How it Works:</a:t>
            </a:r>
          </a:p>
          <a:p>
            <a:pPr lvl="1" algn="just">
              <a:spcBef>
                <a:spcPts val="400"/>
              </a:spcBef>
            </a:pPr>
            <a:r>
              <a:rPr lang="en-US" sz="15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program checks the first condition with </a:t>
            </a:r>
            <a:r>
              <a:rPr lang="en-US" sz="15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if.</a:t>
            </a:r>
            <a:endParaRPr lang="en-US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algn="just">
              <a:spcBef>
                <a:spcPts val="400"/>
              </a:spcBef>
            </a:pPr>
            <a:r>
              <a:rPr lang="en-US" sz="1500" dirty="0">
                <a:latin typeface="Segoe UI" panose="020B0502040204020203" pitchFamily="34" charset="0"/>
                <a:cs typeface="Segoe UI" panose="020B0502040204020203" pitchFamily="34" charset="0"/>
              </a:rPr>
              <a:t>If </a:t>
            </a:r>
            <a:r>
              <a:rPr lang="en-US" sz="15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True,</a:t>
            </a:r>
            <a:r>
              <a:rPr lang="en-US" sz="1500" dirty="0">
                <a:latin typeface="Segoe UI" panose="020B0502040204020203" pitchFamily="34" charset="0"/>
                <a:cs typeface="Segoe UI" panose="020B0502040204020203" pitchFamily="34" charset="0"/>
              </a:rPr>
              <a:t> it runs that block and skips the rest.</a:t>
            </a:r>
            <a:endParaRPr lang="en-US" sz="15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algn="just">
              <a:spcBef>
                <a:spcPts val="400"/>
              </a:spcBef>
            </a:pPr>
            <a:r>
              <a:rPr lang="en-US" sz="1500" dirty="0">
                <a:latin typeface="Segoe UI" panose="020B0502040204020203" pitchFamily="34" charset="0"/>
                <a:cs typeface="Segoe UI" panose="020B0502040204020203" pitchFamily="34" charset="0"/>
              </a:rPr>
              <a:t>If </a:t>
            </a:r>
            <a:r>
              <a:rPr lang="en-US" sz="15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False, </a:t>
            </a:r>
            <a:r>
              <a:rPr lang="en-US" sz="1500" dirty="0">
                <a:latin typeface="Segoe UI" panose="020B0502040204020203" pitchFamily="34" charset="0"/>
                <a:cs typeface="Segoe UI" panose="020B0502040204020203" pitchFamily="34" charset="0"/>
              </a:rPr>
              <a:t>it checks the next condition using </a:t>
            </a:r>
            <a:r>
              <a:rPr lang="en-US" sz="1500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elif</a:t>
            </a:r>
            <a:r>
              <a:rPr lang="en-US" sz="1500" dirty="0">
                <a:latin typeface="Segoe UI" panose="020B0502040204020203" pitchFamily="34" charset="0"/>
                <a:cs typeface="Segoe UI" panose="020B0502040204020203" pitchFamily="34" charset="0"/>
              </a:rPr>
              <a:t> (else if).</a:t>
            </a:r>
          </a:p>
          <a:p>
            <a:pPr lvl="1" algn="just">
              <a:spcBef>
                <a:spcPts val="400"/>
              </a:spcBef>
            </a:pPr>
            <a:r>
              <a:rPr lang="en-US" sz="1500" dirty="0">
                <a:latin typeface="Segoe UI" panose="020B0502040204020203" pitchFamily="34" charset="0"/>
                <a:cs typeface="Segoe UI" panose="020B0502040204020203" pitchFamily="34" charset="0"/>
              </a:rPr>
              <a:t>You can have multiple </a:t>
            </a:r>
            <a:r>
              <a:rPr lang="en-US" sz="1500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elif</a:t>
            </a:r>
            <a:r>
              <a:rPr lang="en-US" sz="1500" dirty="0">
                <a:latin typeface="Segoe UI" panose="020B0502040204020203" pitchFamily="34" charset="0"/>
                <a:cs typeface="Segoe UI" panose="020B0502040204020203" pitchFamily="34" charset="0"/>
              </a:rPr>
              <a:t> blocks.</a:t>
            </a:r>
          </a:p>
          <a:p>
            <a:pPr lvl="1" algn="just">
              <a:spcBef>
                <a:spcPts val="400"/>
              </a:spcBef>
            </a:pPr>
            <a:r>
              <a:rPr lang="en-US" sz="1500" dirty="0">
                <a:latin typeface="Segoe UI" panose="020B0502040204020203" pitchFamily="34" charset="0"/>
                <a:cs typeface="Segoe UI" panose="020B0502040204020203" pitchFamily="34" charset="0"/>
              </a:rPr>
              <a:t>If none of the conditions are </a:t>
            </a:r>
            <a:r>
              <a:rPr lang="en-US" sz="15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True</a:t>
            </a:r>
            <a:r>
              <a:rPr lang="en-US" sz="1500" dirty="0">
                <a:latin typeface="Segoe UI" panose="020B0502040204020203" pitchFamily="34" charset="0"/>
                <a:cs typeface="Segoe UI" panose="020B0502040204020203" pitchFamily="34" charset="0"/>
              </a:rPr>
              <a:t>, the </a:t>
            </a:r>
            <a:r>
              <a:rPr lang="en-US" sz="15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else</a:t>
            </a:r>
            <a:r>
              <a:rPr lang="en-US" sz="1500" dirty="0">
                <a:latin typeface="Segoe UI" panose="020B0502040204020203" pitchFamily="34" charset="0"/>
                <a:cs typeface="Segoe UI" panose="020B0502040204020203" pitchFamily="34" charset="0"/>
              </a:rPr>
              <a:t> block is runs as a fallback.</a:t>
            </a:r>
          </a:p>
          <a:p>
            <a:pPr algn="just">
              <a:spcBef>
                <a:spcPts val="300"/>
              </a:spcBef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274320" lvl="1" indent="0" algn="just">
              <a:buNone/>
            </a:pP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score = 75</a:t>
            </a:r>
          </a:p>
          <a:p>
            <a:pPr marL="274320" lvl="1" indent="0" algn="just">
              <a:buNone/>
            </a:pP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if score &gt;= 90:</a:t>
            </a:r>
          </a:p>
          <a:p>
            <a:pPr marL="548640" lvl="2" indent="0" algn="just">
              <a:buNone/>
            </a:pPr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print(“Grade: A”)</a:t>
            </a:r>
          </a:p>
          <a:p>
            <a:pPr marL="274320" lvl="1" indent="0" algn="just">
              <a:buNone/>
            </a:pPr>
            <a:r>
              <a:rPr lang="en-US" sz="14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elif</a:t>
            </a: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score &gt;= 80:</a:t>
            </a:r>
          </a:p>
          <a:p>
            <a:pPr marL="548640" lvl="2" indent="0" algn="just">
              <a:buNone/>
            </a:pPr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print(“Grade: B”)</a:t>
            </a:r>
          </a:p>
          <a:p>
            <a:pPr marL="274320" lvl="1" indent="0" algn="just">
              <a:buNone/>
            </a:pPr>
            <a:r>
              <a:rPr lang="en-US" sz="14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elif</a:t>
            </a: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score &gt;= 70:</a:t>
            </a:r>
          </a:p>
          <a:p>
            <a:pPr marL="548640" lvl="2" indent="0" algn="just">
              <a:buNone/>
            </a:pPr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print(“Grade: C”)</a:t>
            </a:r>
          </a:p>
          <a:p>
            <a:pPr marL="274320" lvl="1" indent="0" algn="just">
              <a:buNone/>
            </a:pP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else:</a:t>
            </a:r>
          </a:p>
          <a:p>
            <a:pPr marL="548640" lvl="2" indent="0" algn="just">
              <a:buNone/>
            </a:pPr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print(“Grade: D”)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170" y="0"/>
            <a:ext cx="3675074" cy="267690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1045" y="2803338"/>
            <a:ext cx="3530043" cy="402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59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Introduction to Loops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9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1157444"/>
            <a:ext cx="6169696" cy="538719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Definition: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Loops are control structures used to repeat a block of code until a specific condition is met.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Purpose: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Automate repetitive tasks and reduce redundancy.</a:t>
            </a:r>
          </a:p>
          <a:p>
            <a:pPr marL="0" indent="0" algn="just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Types of Loops: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while Loop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 Repeats as long as a condition is true.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Loop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 Iterates over items of a sequence like lists, tuples, or strings.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7546" t="12406" r="6157"/>
          <a:stretch/>
        </p:blipFill>
        <p:spPr>
          <a:xfrm>
            <a:off x="6770670" y="2149807"/>
            <a:ext cx="4480859" cy="255838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6878" y="2149807"/>
            <a:ext cx="770381" cy="43727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882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while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10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1157444"/>
            <a:ext cx="5360555" cy="4875710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How it Works: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while</a:t>
            </a:r>
            <a:r>
              <a:rPr lang="en-US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loop</a:t>
            </a:r>
            <a:r>
              <a:rPr lang="en-US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runs as long as the condition is true. If the condition becomes false, the loop stops.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Use Case: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Ideal when the number of iterations is not known in advance.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Example:</a:t>
            </a:r>
          </a:p>
          <a:p>
            <a:pPr marL="274320" lvl="1" indent="0" algn="just">
              <a:buNone/>
            </a:pPr>
            <a:r>
              <a:rPr lang="en-US" i="1" dirty="0">
                <a:solidFill>
                  <a:srgbClr val="0070C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count</a:t>
            </a: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 = 0 </a:t>
            </a:r>
          </a:p>
          <a:p>
            <a:pPr marL="274320" lvl="1" indent="0" algn="just">
              <a:buNone/>
            </a:pPr>
            <a:r>
              <a:rPr lang="en-US" i="1" dirty="0">
                <a:solidFill>
                  <a:srgbClr val="7030A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while</a:t>
            </a: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US" i="1" dirty="0">
                <a:solidFill>
                  <a:srgbClr val="0070C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count</a:t>
            </a: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 &lt; 3: </a:t>
            </a:r>
          </a:p>
          <a:p>
            <a:pPr marL="548640" lvl="2" indent="0" algn="just">
              <a:buNone/>
            </a:pP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print(“Counting:”, </a:t>
            </a:r>
            <a:r>
              <a:rPr lang="en-US" i="1" dirty="0">
                <a:solidFill>
                  <a:srgbClr val="0070C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count</a:t>
            </a: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) </a:t>
            </a:r>
          </a:p>
          <a:p>
            <a:pPr marL="548640" lvl="2" indent="0" algn="just">
              <a:buNone/>
            </a:pPr>
            <a:r>
              <a:rPr lang="en-US" i="1" dirty="0">
                <a:solidFill>
                  <a:srgbClr val="0070C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count </a:t>
            </a: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+= 1 </a:t>
            </a:r>
          </a:p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loop checks if </a:t>
            </a:r>
            <a:r>
              <a:rPr lang="en-US" i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is less than 3. If true, it prints the value and increases </a:t>
            </a:r>
            <a:r>
              <a:rPr lang="en-US" i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by 1.</a:t>
            </a:r>
          </a:p>
          <a:p>
            <a:pPr algn="just"/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Prints </a:t>
            </a: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Counting: 0</a:t>
            </a: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Counting: 1</a:t>
            </a: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Counting: 2</a:t>
            </a: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Stops when </a:t>
            </a: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count == 3</a:t>
            </a: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b="6247"/>
          <a:stretch/>
        </p:blipFill>
        <p:spPr>
          <a:xfrm>
            <a:off x="6477001" y="1676686"/>
            <a:ext cx="4782222" cy="383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842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11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3" y="1157444"/>
            <a:ext cx="6181791" cy="5104460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How it Works: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for loop iterates items in a sequence (list, tuple, string, etc.).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Use Case: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Best when the number of iterations is know or fixed.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Example 1 – List:</a:t>
            </a:r>
          </a:p>
          <a:p>
            <a:pPr marL="274320" lvl="1" indent="0" algn="just">
              <a:buNone/>
            </a:pPr>
            <a:r>
              <a:rPr lang="en-US" i="1" dirty="0">
                <a:solidFill>
                  <a:schemeClr val="tx1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colors</a:t>
            </a: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 = </a:t>
            </a:r>
            <a:r>
              <a:rPr lang="en-US" i="1" dirty="0">
                <a:solidFill>
                  <a:schemeClr val="tx1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[“red”, “green”, “blue”]</a:t>
            </a:r>
          </a:p>
          <a:p>
            <a:pPr marL="274320" lvl="1" indent="0" algn="just">
              <a:buNone/>
            </a:pPr>
            <a:r>
              <a:rPr lang="en-US" i="1" dirty="0">
                <a:solidFill>
                  <a:srgbClr val="C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for</a:t>
            </a: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color</a:t>
            </a: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 in colors:</a:t>
            </a:r>
          </a:p>
          <a:p>
            <a:pPr marL="274320" lvl="1" indent="0" algn="just">
              <a:buNone/>
            </a:pP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    print(“Color:”, </a:t>
            </a:r>
            <a:r>
              <a:rPr lang="en-US" i="1" dirty="0">
                <a:solidFill>
                  <a:schemeClr val="tx1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color</a:t>
            </a: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)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Example 2 – Dictionary:</a:t>
            </a:r>
          </a:p>
          <a:p>
            <a:pPr marL="274320" lvl="1" indent="0" algn="just">
              <a:buNone/>
            </a:pPr>
            <a:r>
              <a:rPr lang="en-US" i="1" dirty="0">
                <a:solidFill>
                  <a:srgbClr val="00206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data</a:t>
            </a: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 = {“</a:t>
            </a:r>
            <a:r>
              <a:rPr lang="en-US" i="1" dirty="0">
                <a:solidFill>
                  <a:srgbClr val="00B0F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name</a:t>
            </a: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”: “</a:t>
            </a:r>
            <a:r>
              <a:rPr lang="en-US" i="1" dirty="0">
                <a:solidFill>
                  <a:schemeClr val="tx1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John</a:t>
            </a: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”, “</a:t>
            </a:r>
            <a:r>
              <a:rPr lang="en-US" i="1" dirty="0">
                <a:solidFill>
                  <a:srgbClr val="00B0F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age</a:t>
            </a: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”: 25}</a:t>
            </a:r>
          </a:p>
          <a:p>
            <a:pPr marL="274320" lvl="1" indent="0" algn="just">
              <a:buNone/>
            </a:pPr>
            <a:r>
              <a:rPr lang="en-US" i="1" dirty="0">
                <a:solidFill>
                  <a:srgbClr val="FF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for</a:t>
            </a: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 key, value in </a:t>
            </a:r>
            <a:r>
              <a:rPr lang="en-US" i="1" dirty="0" err="1">
                <a:solidFill>
                  <a:srgbClr val="00206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data</a:t>
            </a:r>
            <a:r>
              <a:rPr lang="en-US" i="1" dirty="0" err="1">
                <a:latin typeface="Consolas" panose="020B0609020204030204" pitchFamily="49" charset="0"/>
                <a:cs typeface="Segoe UI" panose="020B0502040204020203" pitchFamily="34" charset="0"/>
              </a:rPr>
              <a:t>.items</a:t>
            </a: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():</a:t>
            </a:r>
          </a:p>
          <a:p>
            <a:pPr marL="274320" lvl="1" indent="0" algn="just">
              <a:buNone/>
            </a:pP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    print(f“{key}: {value}”)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75" y="1443658"/>
            <a:ext cx="3954992" cy="453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946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range()</a:t>
            </a:r>
            <a:r>
              <a:rPr lang="en-US" sz="28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12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1157444"/>
            <a:ext cx="5899696" cy="4875710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Generates a sequence of numbers, commonly used with for loops.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Syntax:</a:t>
            </a:r>
          </a:p>
          <a:p>
            <a:pPr marL="274320" lvl="1" indent="0" algn="just">
              <a:buNone/>
            </a:pPr>
            <a:r>
              <a:rPr lang="en-US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range</a:t>
            </a:r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(start, stop, step)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Parameters of </a:t>
            </a:r>
            <a:r>
              <a:rPr lang="en-US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range():</a:t>
            </a:r>
          </a:p>
          <a:p>
            <a:pPr lvl="1"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start: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Starting number (default is 0).</a:t>
            </a:r>
          </a:p>
          <a:p>
            <a:pPr lvl="1"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stop: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End number (non-inclusive).</a:t>
            </a:r>
          </a:p>
          <a:p>
            <a:pPr lvl="1"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step: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Increment (default is 1).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Examples:</a:t>
            </a:r>
          </a:p>
          <a:p>
            <a:pPr lvl="1"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Standard Loop:</a:t>
            </a:r>
          </a:p>
          <a:p>
            <a:pPr marL="274320" lvl="1" indent="0" algn="just">
              <a:buNone/>
            </a:pP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for </a:t>
            </a:r>
            <a:r>
              <a:rPr lang="en-US" i="1" dirty="0" err="1"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 in </a:t>
            </a:r>
            <a:r>
              <a:rPr lang="en-US" i="1" dirty="0">
                <a:solidFill>
                  <a:srgbClr val="7030A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range</a:t>
            </a: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(1, 6):</a:t>
            </a:r>
          </a:p>
          <a:p>
            <a:pPr marL="274320" lvl="1" indent="0" algn="just">
              <a:buNone/>
            </a:pP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    print(</a:t>
            </a:r>
            <a:r>
              <a:rPr lang="en-US" i="1" dirty="0" err="1"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)	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#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Prints 1 to 5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lvl="1" algn="just"/>
            <a:endParaRPr lang="en-US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algn="just"/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Reverse Loop:</a:t>
            </a:r>
          </a:p>
          <a:p>
            <a:pPr marL="274320" lvl="1" indent="0" algn="just">
              <a:buNone/>
            </a:pP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for </a:t>
            </a:r>
            <a:r>
              <a:rPr lang="en-US" i="1" dirty="0" err="1"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 in </a:t>
            </a:r>
            <a:r>
              <a:rPr lang="en-US" i="1" dirty="0">
                <a:solidFill>
                  <a:srgbClr val="7030A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range</a:t>
            </a: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(5, 0, -1):</a:t>
            </a:r>
          </a:p>
          <a:p>
            <a:pPr marL="274320" lvl="1" indent="0" algn="just">
              <a:buNone/>
            </a:pP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    print(</a:t>
            </a:r>
            <a:r>
              <a:rPr lang="en-US" i="1" dirty="0" err="1"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)	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# Prints 5 to 1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b="11478"/>
          <a:stretch/>
        </p:blipFill>
        <p:spPr>
          <a:xfrm>
            <a:off x="6500670" y="2655772"/>
            <a:ext cx="4691296" cy="248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01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break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Consolas" panose="020B0609020204030204" pitchFamily="49" charset="0"/>
              </a:rPr>
              <a:t>13</a:t>
            </a:fld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Consolas" panose="020B0609020204030204" pitchFamily="49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1157444"/>
            <a:ext cx="5899696" cy="4875710"/>
          </a:xfrm>
        </p:spPr>
        <p:txBody>
          <a:bodyPr>
            <a:noAutofit/>
          </a:bodyPr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Purpose:</a:t>
            </a: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Immediately stops the loop when a condition is met.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Example:</a:t>
            </a:r>
          </a:p>
          <a:p>
            <a:pPr marL="274320" lvl="1" indent="0" algn="just">
              <a:buNone/>
            </a:pPr>
            <a:r>
              <a:rPr lang="en-US" i="1" dirty="0">
                <a:latin typeface="Consolas" panose="020B0609020204030204" pitchFamily="49" charset="0"/>
              </a:rPr>
              <a:t>for number in </a:t>
            </a:r>
            <a:r>
              <a:rPr lang="en-US" i="1" dirty="0">
                <a:solidFill>
                  <a:schemeClr val="tx1"/>
                </a:solidFill>
                <a:latin typeface="Consolas" panose="020B0609020204030204" pitchFamily="49" charset="0"/>
              </a:rPr>
              <a:t>range</a:t>
            </a:r>
            <a:r>
              <a:rPr lang="en-US" i="1" dirty="0">
                <a:latin typeface="Consolas" panose="020B0609020204030204" pitchFamily="49" charset="0"/>
              </a:rPr>
              <a:t>(10):</a:t>
            </a:r>
          </a:p>
          <a:p>
            <a:pPr marL="274320" lvl="1" indent="0" algn="just">
              <a:buNone/>
            </a:pPr>
            <a:r>
              <a:rPr lang="en-US" i="1" dirty="0">
                <a:latin typeface="Consolas" panose="020B0609020204030204" pitchFamily="49" charset="0"/>
              </a:rPr>
              <a:t>    if number == 5:</a:t>
            </a:r>
          </a:p>
          <a:p>
            <a:pPr marL="274320" lvl="1" indent="0" algn="just">
              <a:buNone/>
            </a:pPr>
            <a:r>
              <a:rPr lang="en-US" i="1" dirty="0">
                <a:solidFill>
                  <a:srgbClr val="FF0000"/>
                </a:solidFill>
                <a:latin typeface="Consolas" panose="020B0609020204030204" pitchFamily="49" charset="0"/>
              </a:rPr>
              <a:t>        break</a:t>
            </a:r>
          </a:p>
          <a:p>
            <a:pPr marL="274320" lvl="1" indent="0" algn="just">
              <a:buNone/>
            </a:pPr>
            <a:r>
              <a:rPr lang="en-US" i="1" dirty="0">
                <a:latin typeface="Consolas" panose="020B0609020204030204" pitchFamily="49" charset="0"/>
              </a:rPr>
              <a:t>    print(number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algn="just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Prints 0 to 4. Stops at 5.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667" y="67734"/>
            <a:ext cx="4323974" cy="28955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667" y="3011997"/>
            <a:ext cx="4323974" cy="364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211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continue</a:t>
            </a:r>
            <a:r>
              <a:rPr lang="en-US" sz="2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14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1157444"/>
            <a:ext cx="5899696" cy="4875710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Skips the current iteration and moves to the next one. </a:t>
            </a:r>
          </a:p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It doesn’t terminate the loop but simply skips the remaining code for that iteration.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When to Use </a:t>
            </a:r>
            <a:r>
              <a:rPr lang="en-US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continue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 skip unwanted iterations (e.g., skipping certain values in a dataset).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Example:</a:t>
            </a:r>
          </a:p>
          <a:p>
            <a:pPr marL="274320" lvl="1" indent="0" algn="just">
              <a:buNone/>
            </a:pP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for </a:t>
            </a:r>
            <a:r>
              <a:rPr lang="en-US" i="1" dirty="0" err="1">
                <a:solidFill>
                  <a:srgbClr val="FF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 in range(5): </a:t>
            </a:r>
          </a:p>
          <a:p>
            <a:pPr marL="548640" lvl="2" indent="0" algn="just">
              <a:buNone/>
            </a:pPr>
            <a:r>
              <a:rPr lang="en-US" sz="1600" i="1" dirty="0">
                <a:latin typeface="Consolas" panose="020B0609020204030204" pitchFamily="49" charset="0"/>
                <a:cs typeface="Segoe UI" panose="020B0502040204020203" pitchFamily="34" charset="0"/>
              </a:rPr>
              <a:t>if </a:t>
            </a:r>
            <a:r>
              <a:rPr lang="en-US" sz="1600" i="1" dirty="0" err="1">
                <a:solidFill>
                  <a:srgbClr val="FF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lang="en-US" sz="1600" i="1" dirty="0">
                <a:latin typeface="Consolas" panose="020B0609020204030204" pitchFamily="49" charset="0"/>
                <a:cs typeface="Segoe UI" panose="020B0502040204020203" pitchFamily="34" charset="0"/>
              </a:rPr>
              <a:t> == 2: </a:t>
            </a:r>
          </a:p>
          <a:p>
            <a:pPr marL="822960" lvl="3" indent="0" algn="just">
              <a:buNone/>
            </a:pPr>
            <a:r>
              <a:rPr lang="en-US" sz="1600" i="1" dirty="0">
                <a:solidFill>
                  <a:srgbClr val="00B05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continue </a:t>
            </a:r>
          </a:p>
          <a:p>
            <a:pPr marL="548640" lvl="2" indent="0" algn="just">
              <a:buNone/>
            </a:pPr>
            <a:r>
              <a:rPr lang="en-US" sz="1600" i="1" dirty="0">
                <a:latin typeface="Consolas" panose="020B0609020204030204" pitchFamily="49" charset="0"/>
                <a:cs typeface="Segoe UI" panose="020B0502040204020203" pitchFamily="34" charset="0"/>
              </a:rPr>
              <a:t>print(</a:t>
            </a:r>
            <a:r>
              <a:rPr lang="en-US" sz="1600" i="1" dirty="0" err="1">
                <a:solidFill>
                  <a:srgbClr val="FF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Segoe UI" panose="020B0502040204020203" pitchFamily="34" charset="0"/>
              </a:rPr>
              <a:t>) </a:t>
            </a:r>
          </a:p>
          <a:p>
            <a:pPr algn="just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Skips 2. Prints 0, 1, 3, 4.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818" y="741525"/>
            <a:ext cx="3810000" cy="3810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b="35302"/>
          <a:stretch/>
        </p:blipFill>
        <p:spPr>
          <a:xfrm>
            <a:off x="6423314" y="4667459"/>
            <a:ext cx="4781504" cy="217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582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pass</a:t>
            </a:r>
            <a:r>
              <a:rPr lang="en-US" sz="2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15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3" y="1157444"/>
            <a:ext cx="5964213" cy="4875710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Purpose: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Does nothing, used where code is syntactically required but not yet implemented.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pass statement is a null operation; nothing happens when it is executed. It’s used as a placeholder for code you’ll add later.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Example with </a:t>
            </a:r>
            <a:r>
              <a:rPr lang="en-US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pass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274320" lvl="1" indent="0" algn="just">
              <a:buNone/>
            </a:pP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for </a:t>
            </a:r>
            <a:r>
              <a:rPr lang="en-US" i="1" dirty="0" err="1"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 in range(5): </a:t>
            </a:r>
          </a:p>
          <a:p>
            <a:pPr marL="548640" lvl="2" indent="0" algn="just">
              <a:buNone/>
            </a:pPr>
            <a:r>
              <a:rPr lang="en-US" sz="1600" i="1" dirty="0">
                <a:latin typeface="Consolas" panose="020B0609020204030204" pitchFamily="49" charset="0"/>
                <a:cs typeface="Segoe UI" panose="020B0502040204020203" pitchFamily="34" charset="0"/>
              </a:rPr>
              <a:t>if </a:t>
            </a:r>
            <a:r>
              <a:rPr lang="en-US" sz="1600" i="1" dirty="0" err="1"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lang="en-US" sz="1600" i="1" dirty="0">
                <a:latin typeface="Consolas" panose="020B0609020204030204" pitchFamily="49" charset="0"/>
                <a:cs typeface="Segoe UI" panose="020B0502040204020203" pitchFamily="34" charset="0"/>
              </a:rPr>
              <a:t> &lt; 3: </a:t>
            </a:r>
          </a:p>
          <a:p>
            <a:pPr marL="822960" lvl="3" indent="0" algn="just">
              <a:buNone/>
            </a:pPr>
            <a:r>
              <a:rPr lang="en-US" sz="1600" i="1" dirty="0">
                <a:solidFill>
                  <a:srgbClr val="0070C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pass </a:t>
            </a:r>
          </a:p>
          <a:p>
            <a:pPr marL="274320" lvl="1" indent="0" algn="just">
              <a:buNone/>
            </a:pP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print(</a:t>
            </a:r>
            <a:r>
              <a:rPr lang="en-US" i="1" dirty="0" err="1"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lang="en-US" i="1" dirty="0">
                <a:latin typeface="Consolas" panose="020B0609020204030204" pitchFamily="49" charset="0"/>
                <a:cs typeface="Segoe UI" panose="020B0502040204020203" pitchFamily="34" charset="0"/>
              </a:rPr>
              <a:t>) </a:t>
            </a:r>
          </a:p>
          <a:p>
            <a:pPr algn="just"/>
            <a:r>
              <a:rPr lang="en-US" i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pass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does nothing; all numbers 0 to 4 are printed.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1613" r="3279" b="1049"/>
          <a:stretch/>
        </p:blipFill>
        <p:spPr>
          <a:xfrm>
            <a:off x="6731000" y="557517"/>
            <a:ext cx="4478106" cy="44526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l="-543" t="34444" r="32337" b="24630"/>
          <a:stretch/>
        </p:blipFill>
        <p:spPr>
          <a:xfrm>
            <a:off x="6670070" y="5120841"/>
            <a:ext cx="4603720" cy="1708584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493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CB14-78A5-ABB1-1CBD-9F9057E17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Happy Coding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7B650-B587-E69D-11FA-7E0F7B6ED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  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8B2A9478-5296-32F6-7499-25C86EB35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1672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551</TotalTime>
  <Words>1308</Words>
  <Application>Microsoft Office PowerPoint</Application>
  <PresentationFormat>Widescreen</PresentationFormat>
  <Paragraphs>235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Arial</vt:lpstr>
      <vt:lpstr>Century Schoolbook</vt:lpstr>
      <vt:lpstr>Consolas</vt:lpstr>
      <vt:lpstr>Segoe UI</vt:lpstr>
      <vt:lpstr>Tahoma</vt:lpstr>
      <vt:lpstr>Times New Roman</vt:lpstr>
      <vt:lpstr>Wingdings 2</vt:lpstr>
      <vt:lpstr>View</vt:lpstr>
      <vt:lpstr>Spring of Code Artificial Intelligence (Machine Learning &amp; Deep Learning)</vt:lpstr>
      <vt:lpstr>Day 05 – Python Fundamentals (Conditionals and Loops)</vt:lpstr>
      <vt:lpstr>Conditional Statements</vt:lpstr>
      <vt:lpstr>Conditions in Python</vt:lpstr>
      <vt:lpstr>Logical Operators in Python</vt:lpstr>
      <vt:lpstr>if Statements</vt:lpstr>
      <vt:lpstr>if-else Statements</vt:lpstr>
      <vt:lpstr>if-elif-else Statements</vt:lpstr>
      <vt:lpstr>Introduction to Loops</vt:lpstr>
      <vt:lpstr>while Loop</vt:lpstr>
      <vt:lpstr>for Loop</vt:lpstr>
      <vt:lpstr>range() Function</vt:lpstr>
      <vt:lpstr>break Statement</vt:lpstr>
      <vt:lpstr>continue statement</vt:lpstr>
      <vt:lpstr>pass statement</vt:lpstr>
      <vt:lpstr>Happy Coding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Asad Afridi</dc:creator>
  <cp:keywords/>
  <dc:description>generated using python-pptx</dc:description>
  <cp:lastModifiedBy>Asad Afridi</cp:lastModifiedBy>
  <cp:revision>10</cp:revision>
  <dcterms:created xsi:type="dcterms:W3CDTF">2013-01-27T09:14:16Z</dcterms:created>
  <dcterms:modified xsi:type="dcterms:W3CDTF">2026-02-19T11:13:49Z</dcterms:modified>
  <cp:category/>
</cp:coreProperties>
</file>