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292840" y="0"/>
            <a:ext cx="899160" cy="6858000"/>
          </a:xfrm>
          <a:custGeom>
            <a:avLst/>
            <a:gdLst/>
            <a:ahLst/>
            <a:cxnLst/>
            <a:rect l="l" t="t" r="r" b="b"/>
            <a:pathLst>
              <a:path w="899159" h="6858000">
                <a:moveTo>
                  <a:pt x="0" y="0"/>
                </a:moveTo>
                <a:lnTo>
                  <a:pt x="0" y="6858000"/>
                </a:lnTo>
                <a:lnTo>
                  <a:pt x="899159" y="6858000"/>
                </a:lnTo>
                <a:lnTo>
                  <a:pt x="899159" y="0"/>
                </a:lnTo>
                <a:lnTo>
                  <a:pt x="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0339" y="493217"/>
            <a:ext cx="7592694" cy="1597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18253" y="2317350"/>
            <a:ext cx="5332730" cy="2778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" y="0"/>
              <a:ext cx="11734800" cy="6858000"/>
            </a:xfrm>
            <a:custGeom>
              <a:avLst/>
              <a:gdLst/>
              <a:ahLst/>
              <a:cxnLst/>
              <a:rect l="l" t="t" r="r" b="b"/>
              <a:pathLst>
                <a:path w="11734800" h="6858000">
                  <a:moveTo>
                    <a:pt x="0" y="6858000"/>
                  </a:moveTo>
                  <a:lnTo>
                    <a:pt x="11734800" y="6858000"/>
                  </a:lnTo>
                  <a:lnTo>
                    <a:pt x="11734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53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6858000"/>
            </a:xfrm>
            <a:custGeom>
              <a:avLst/>
              <a:gdLst/>
              <a:ahLst/>
              <a:cxnLst/>
              <a:rect l="l" t="t" r="r" b="b"/>
              <a:pathLst>
                <a:path w="457200" h="6858000">
                  <a:moveTo>
                    <a:pt x="457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" y="68580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31032" y="2262073"/>
            <a:ext cx="6337935" cy="13119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" algn="ctr">
              <a:lnSpc>
                <a:spcPts val="4795"/>
              </a:lnSpc>
              <a:spcBef>
                <a:spcPts val="95"/>
              </a:spcBef>
            </a:pPr>
            <a:r>
              <a:rPr lang="en-US" sz="4000" b="0" spc="-25" dirty="0">
                <a:solidFill>
                  <a:srgbClr val="FFFFFF"/>
                </a:solidFill>
                <a:latin typeface="Tahoma"/>
                <a:cs typeface="Tahoma"/>
              </a:rPr>
              <a:t>Spring</a:t>
            </a:r>
            <a:r>
              <a:rPr sz="4000" b="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4000" b="0" spc="-2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0" spc="-20" dirty="0">
                <a:solidFill>
                  <a:srgbClr val="FFFFFF"/>
                </a:solidFill>
                <a:latin typeface="Tahoma"/>
                <a:cs typeface="Tahoma"/>
              </a:rPr>
              <a:t>Code</a:t>
            </a:r>
            <a:endParaRPr sz="4000" dirty="0">
              <a:latin typeface="Tahoma"/>
              <a:cs typeface="Tahoma"/>
            </a:endParaRPr>
          </a:p>
          <a:p>
            <a:pPr algn="ctr">
              <a:lnSpc>
                <a:spcPts val="5755"/>
              </a:lnSpc>
            </a:pPr>
            <a:r>
              <a:rPr sz="4800" spc="-45" dirty="0">
                <a:solidFill>
                  <a:srgbClr val="FFFFFF"/>
                </a:solidFill>
                <a:latin typeface="Tahoma"/>
                <a:cs typeface="Tahoma"/>
              </a:rPr>
              <a:t>Artificial</a:t>
            </a:r>
            <a:r>
              <a:rPr sz="4800" spc="-2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800" spc="-25" dirty="0">
                <a:solidFill>
                  <a:srgbClr val="FFFFFF"/>
                </a:solidFill>
                <a:latin typeface="Tahoma"/>
                <a:cs typeface="Tahoma"/>
              </a:rPr>
              <a:t>Intelligence</a:t>
            </a:r>
            <a:endParaRPr sz="48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74545" y="3603752"/>
            <a:ext cx="80511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35" dirty="0">
                <a:solidFill>
                  <a:srgbClr val="FFFFFF"/>
                </a:solidFill>
                <a:latin typeface="Tahoma"/>
                <a:cs typeface="Tahoma"/>
              </a:rPr>
              <a:t>(Machine</a:t>
            </a:r>
            <a:r>
              <a:rPr sz="4000" spc="-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spc="-35" dirty="0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r>
              <a:rPr sz="4000" spc="-2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4000" spc="-2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dirty="0">
                <a:solidFill>
                  <a:srgbClr val="FFFFFF"/>
                </a:solidFill>
                <a:latin typeface="Tahoma"/>
                <a:cs typeface="Tahoma"/>
              </a:rPr>
              <a:t>Deep</a:t>
            </a:r>
            <a:r>
              <a:rPr sz="4000" spc="-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spc="-10" dirty="0">
                <a:solidFill>
                  <a:srgbClr val="FFFFFF"/>
                </a:solidFill>
                <a:latin typeface="Tahoma"/>
                <a:cs typeface="Tahoma"/>
              </a:rPr>
              <a:t>Learning)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5833" y="4706239"/>
            <a:ext cx="383540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95"/>
              </a:spcBef>
            </a:pP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Instructor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ts val="2460"/>
              </a:lnSpc>
            </a:pPr>
            <a:r>
              <a:rPr lang="en-US" sz="2200" b="1" spc="15" dirty="0">
                <a:solidFill>
                  <a:srgbClr val="BEBEBE"/>
                </a:solidFill>
                <a:latin typeface="Tahoma"/>
                <a:cs typeface="Tahoma"/>
              </a:rPr>
              <a:t>Asad</a:t>
            </a:r>
            <a:r>
              <a:rPr sz="2200" b="1" spc="1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BEBEBE"/>
                </a:solidFill>
                <a:latin typeface="Tahoma"/>
                <a:cs typeface="Tahoma"/>
              </a:rPr>
              <a:t>Ullah</a:t>
            </a:r>
            <a:endParaRPr sz="2200" dirty="0">
              <a:latin typeface="Tahoma"/>
              <a:cs typeface="Tahoma"/>
            </a:endParaRPr>
          </a:p>
          <a:p>
            <a:pPr marL="12700">
              <a:lnSpc>
                <a:spcPts val="2645"/>
              </a:lnSpc>
            </a:pPr>
            <a:r>
              <a:rPr sz="2200" b="1" dirty="0">
                <a:solidFill>
                  <a:srgbClr val="BEBEBE"/>
                </a:solidFill>
                <a:latin typeface="Tahoma"/>
                <a:cs typeface="Tahoma"/>
              </a:rPr>
              <a:t>-</a:t>
            </a:r>
            <a:r>
              <a:rPr sz="2200" b="1" spc="-2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300" i="1" spc="-45" dirty="0">
                <a:solidFill>
                  <a:srgbClr val="BEBEBE"/>
                </a:solidFill>
                <a:latin typeface="Tahoma"/>
                <a:cs typeface="Tahoma"/>
              </a:rPr>
              <a:t>Research</a:t>
            </a:r>
            <a:r>
              <a:rPr sz="2300" i="1" spc="-7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300" i="1" spc="-35" dirty="0">
                <a:solidFill>
                  <a:srgbClr val="BEBEBE"/>
                </a:solidFill>
                <a:latin typeface="Tahoma"/>
                <a:cs typeface="Tahoma"/>
              </a:rPr>
              <a:t>Assistant</a:t>
            </a:r>
            <a:r>
              <a:rPr sz="2300" i="1" spc="-7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BEBEBE"/>
                </a:solidFill>
                <a:latin typeface="Tahoma"/>
                <a:cs typeface="Tahoma"/>
              </a:rPr>
              <a:t>(DIP</a:t>
            </a:r>
            <a:r>
              <a:rPr sz="2200" spc="-3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spc="-20" dirty="0">
                <a:solidFill>
                  <a:srgbClr val="BEBEBE"/>
                </a:solidFill>
                <a:latin typeface="Tahoma"/>
                <a:cs typeface="Tahoma"/>
              </a:rPr>
              <a:t>Lab)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41132" y="4706239"/>
            <a:ext cx="3183890" cy="9975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2575"/>
              </a:lnSpc>
              <a:spcBef>
                <a:spcPts val="95"/>
              </a:spcBef>
            </a:pP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Duration</a:t>
            </a:r>
            <a:endParaRPr sz="2200" dirty="0">
              <a:latin typeface="Tahoma"/>
              <a:cs typeface="Tahoma"/>
            </a:endParaRPr>
          </a:p>
          <a:p>
            <a:pPr marR="5080" algn="r">
              <a:lnSpc>
                <a:spcPts val="2510"/>
              </a:lnSpc>
            </a:pPr>
            <a:r>
              <a:rPr sz="2200" b="1" dirty="0">
                <a:solidFill>
                  <a:srgbClr val="BEBEBE"/>
                </a:solidFill>
                <a:latin typeface="Tahoma"/>
                <a:cs typeface="Tahoma"/>
              </a:rPr>
              <a:t>03</a:t>
            </a:r>
            <a:r>
              <a:rPr sz="2200" b="1" spc="-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b="1" spc="-10" dirty="0">
                <a:solidFill>
                  <a:srgbClr val="BEBEBE"/>
                </a:solidFill>
                <a:latin typeface="Tahoma"/>
                <a:cs typeface="Tahoma"/>
              </a:rPr>
              <a:t>Months</a:t>
            </a:r>
            <a:endParaRPr sz="2200" dirty="0">
              <a:latin typeface="Tahoma"/>
              <a:cs typeface="Tahoma"/>
            </a:endParaRPr>
          </a:p>
          <a:p>
            <a:pPr marR="5080" algn="r">
              <a:lnSpc>
                <a:spcPts val="2575"/>
              </a:lnSpc>
            </a:pPr>
            <a:r>
              <a:rPr sz="2200" dirty="0">
                <a:solidFill>
                  <a:srgbClr val="BEBEBE"/>
                </a:solidFill>
                <a:latin typeface="Tahoma"/>
                <a:cs typeface="Tahoma"/>
              </a:rPr>
              <a:t>(</a:t>
            </a:r>
            <a:r>
              <a:rPr lang="en-US" sz="2200" dirty="0">
                <a:solidFill>
                  <a:srgbClr val="BEBEBE"/>
                </a:solidFill>
                <a:latin typeface="Tahoma"/>
                <a:cs typeface="Tahoma"/>
              </a:rPr>
              <a:t>Feb</a:t>
            </a:r>
            <a:r>
              <a:rPr sz="2200" spc="45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sz="2200" dirty="0">
                <a:solidFill>
                  <a:srgbClr val="BEBEBE"/>
                </a:solidFill>
                <a:latin typeface="Tahoma"/>
                <a:cs typeface="Tahoma"/>
              </a:rPr>
              <a:t>–</a:t>
            </a:r>
            <a:r>
              <a:rPr sz="2200" spc="10" dirty="0">
                <a:solidFill>
                  <a:srgbClr val="BEBEBE"/>
                </a:solidFill>
                <a:latin typeface="Tahoma"/>
                <a:cs typeface="Tahoma"/>
              </a:rPr>
              <a:t> </a:t>
            </a:r>
            <a:r>
              <a:rPr lang="en-US" sz="2200" spc="-10" dirty="0">
                <a:solidFill>
                  <a:srgbClr val="BEBEBE"/>
                </a:solidFill>
                <a:latin typeface="Tahoma"/>
                <a:cs typeface="Tahoma"/>
              </a:rPr>
              <a:t>April</a:t>
            </a:r>
            <a:r>
              <a:rPr sz="2200" spc="-10" dirty="0">
                <a:solidFill>
                  <a:srgbClr val="BEBEBE"/>
                </a:solidFill>
                <a:latin typeface="Tahoma"/>
                <a:cs typeface="Tahoma"/>
              </a:rPr>
              <a:t>)</a:t>
            </a:r>
            <a:endParaRPr sz="2200" dirty="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24094" y="72517"/>
            <a:ext cx="1543811" cy="21526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292840" y="0"/>
            <a:ext cx="899160" cy="6858000"/>
          </a:xfrm>
          <a:custGeom>
            <a:avLst/>
            <a:gdLst/>
            <a:ahLst/>
            <a:cxnLst/>
            <a:rect l="l" t="t" r="r" b="b"/>
            <a:pathLst>
              <a:path w="899159" h="6858000">
                <a:moveTo>
                  <a:pt x="0" y="0"/>
                </a:moveTo>
                <a:lnTo>
                  <a:pt x="0" y="6858000"/>
                </a:lnTo>
                <a:lnTo>
                  <a:pt x="899159" y="6858000"/>
                </a:lnTo>
                <a:lnTo>
                  <a:pt x="899159" y="0"/>
                </a:lnTo>
                <a:lnTo>
                  <a:pt x="0" y="0"/>
                </a:lnTo>
                <a:close/>
              </a:path>
            </a:pathLst>
          </a:custGeom>
          <a:solidFill>
            <a:srgbClr val="353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03808" rIns="0" bIns="0" rtlCol="0">
            <a:spAutoFit/>
          </a:bodyPr>
          <a:lstStyle/>
          <a:p>
            <a:pPr marL="1109980" marR="5080">
              <a:lnSpc>
                <a:spcPts val="3890"/>
              </a:lnSpc>
              <a:spcBef>
                <a:spcPts val="585"/>
              </a:spcBef>
            </a:pPr>
            <a:r>
              <a:rPr spc="-10" dirty="0"/>
              <a:t>Day</a:t>
            </a:r>
            <a:r>
              <a:rPr spc="-185" dirty="0"/>
              <a:t> </a:t>
            </a:r>
            <a:r>
              <a:rPr dirty="0"/>
              <a:t>04</a:t>
            </a:r>
            <a:r>
              <a:rPr spc="-165" dirty="0"/>
              <a:t> </a:t>
            </a:r>
            <a:r>
              <a:rPr dirty="0"/>
              <a:t>–</a:t>
            </a:r>
            <a:r>
              <a:rPr spc="-180" dirty="0"/>
              <a:t> </a:t>
            </a:r>
            <a:r>
              <a:rPr spc="-35" dirty="0"/>
              <a:t>Python</a:t>
            </a:r>
            <a:r>
              <a:rPr spc="-195" dirty="0"/>
              <a:t> </a:t>
            </a:r>
            <a:r>
              <a:rPr spc="-40" dirty="0"/>
              <a:t>Fundamentals </a:t>
            </a:r>
            <a:r>
              <a:rPr spc="-25" dirty="0"/>
              <a:t>(Data</a:t>
            </a:r>
            <a:r>
              <a:rPr spc="-215" dirty="0"/>
              <a:t> </a:t>
            </a:r>
            <a:r>
              <a:rPr spc="-10" dirty="0"/>
              <a:t>Structures)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pc="-10" dirty="0"/>
              <a:t>Objectives:</a:t>
            </a:r>
          </a:p>
          <a:p>
            <a:pPr marL="194310" indent="-181610">
              <a:lnSpc>
                <a:spcPct val="100000"/>
              </a:lnSpc>
              <a:spcBef>
                <a:spcPts val="1455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b="0" dirty="0">
                <a:latin typeface="Segoe UI"/>
                <a:cs typeface="Segoe UI"/>
              </a:rPr>
              <a:t>What is</a:t>
            </a:r>
            <a:r>
              <a:rPr b="0" spc="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a</a:t>
            </a:r>
            <a:r>
              <a:rPr b="0" spc="1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Data</a:t>
            </a:r>
            <a:r>
              <a:rPr b="0" spc="10" dirty="0">
                <a:latin typeface="Segoe UI"/>
                <a:cs typeface="Segoe UI"/>
              </a:rPr>
              <a:t> </a:t>
            </a:r>
            <a:r>
              <a:rPr b="0" spc="-10" dirty="0">
                <a:latin typeface="Segoe UI"/>
                <a:cs typeface="Segoe UI"/>
              </a:rPr>
              <a:t>Structure?</a:t>
            </a:r>
          </a:p>
          <a:p>
            <a:pPr marL="194310" indent="-181610">
              <a:lnSpc>
                <a:spcPct val="100000"/>
              </a:lnSpc>
              <a:spcBef>
                <a:spcPts val="1455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b="0" dirty="0">
                <a:latin typeface="Segoe UI"/>
                <a:cs typeface="Segoe UI"/>
              </a:rPr>
              <a:t>Built-in</a:t>
            </a:r>
            <a:r>
              <a:rPr b="0" spc="1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Data</a:t>
            </a:r>
            <a:r>
              <a:rPr b="0" spc="-1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Structures</a:t>
            </a:r>
            <a:r>
              <a:rPr b="0" spc="-3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in</a:t>
            </a:r>
            <a:r>
              <a:rPr b="0" spc="-5" dirty="0">
                <a:latin typeface="Segoe UI"/>
                <a:cs typeface="Segoe UI"/>
              </a:rPr>
              <a:t> </a:t>
            </a:r>
            <a:r>
              <a:rPr b="0" spc="-10" dirty="0">
                <a:latin typeface="Segoe UI"/>
                <a:cs typeface="Segoe UI"/>
              </a:rPr>
              <a:t>Python</a:t>
            </a:r>
          </a:p>
          <a:p>
            <a:pPr marL="194310" indent="-181610">
              <a:lnSpc>
                <a:spcPct val="100000"/>
              </a:lnSpc>
              <a:spcBef>
                <a:spcPts val="1465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b="0" dirty="0">
                <a:latin typeface="Segoe UI"/>
                <a:cs typeface="Segoe UI"/>
              </a:rPr>
              <a:t>Strings,</a:t>
            </a:r>
            <a:r>
              <a:rPr b="0" spc="-3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Lists,</a:t>
            </a:r>
            <a:r>
              <a:rPr b="0" spc="-30" dirty="0">
                <a:latin typeface="Segoe UI"/>
                <a:cs typeface="Segoe UI"/>
              </a:rPr>
              <a:t> </a:t>
            </a:r>
            <a:r>
              <a:rPr b="0" spc="-10" dirty="0">
                <a:latin typeface="Segoe UI"/>
                <a:cs typeface="Segoe UI"/>
              </a:rPr>
              <a:t>Tuples,</a:t>
            </a:r>
            <a:r>
              <a:rPr b="0" spc="-2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Sets,</a:t>
            </a:r>
            <a:r>
              <a:rPr b="0" spc="-35" dirty="0">
                <a:latin typeface="Segoe UI"/>
                <a:cs typeface="Segoe UI"/>
              </a:rPr>
              <a:t> </a:t>
            </a:r>
            <a:r>
              <a:rPr b="0" spc="-10" dirty="0">
                <a:latin typeface="Segoe UI"/>
                <a:cs typeface="Segoe UI"/>
              </a:rPr>
              <a:t>Dictionaries</a:t>
            </a:r>
          </a:p>
          <a:p>
            <a:pPr marL="194310" indent="-181610">
              <a:lnSpc>
                <a:spcPct val="100000"/>
              </a:lnSpc>
              <a:spcBef>
                <a:spcPts val="1450"/>
              </a:spcBef>
              <a:buClr>
                <a:srgbClr val="6E6E74"/>
              </a:buClr>
              <a:buSzPct val="79166"/>
              <a:buFont typeface="Arial"/>
              <a:buChar char="•"/>
              <a:tabLst>
                <a:tab pos="194310" algn="l"/>
              </a:tabLst>
            </a:pPr>
            <a:r>
              <a:rPr b="0" dirty="0">
                <a:latin typeface="Segoe UI"/>
                <a:cs typeface="Segoe UI"/>
              </a:rPr>
              <a:t>Operations</a:t>
            </a:r>
            <a:r>
              <a:rPr b="0" spc="-15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on</a:t>
            </a:r>
            <a:r>
              <a:rPr b="0" spc="10" dirty="0">
                <a:latin typeface="Segoe UI"/>
                <a:cs typeface="Segoe UI"/>
              </a:rPr>
              <a:t> </a:t>
            </a:r>
            <a:r>
              <a:rPr b="0" dirty="0">
                <a:latin typeface="Segoe UI"/>
                <a:cs typeface="Segoe UI"/>
              </a:rPr>
              <a:t>Data</a:t>
            </a:r>
            <a:r>
              <a:rPr b="0" spc="5" dirty="0">
                <a:latin typeface="Segoe UI"/>
                <a:cs typeface="Segoe UI"/>
              </a:rPr>
              <a:t> </a:t>
            </a:r>
            <a:r>
              <a:rPr b="0" spc="-10" dirty="0">
                <a:latin typeface="Segoe UI"/>
                <a:cs typeface="Segoe UI"/>
              </a:rPr>
              <a:t>Structures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"/>
            <a:ext cx="3581361" cy="68578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31354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6439" y="247650"/>
            <a:ext cx="7470577" cy="6076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8311" y="216623"/>
            <a:ext cx="5675249" cy="6424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5961" y="553466"/>
            <a:ext cx="9818906" cy="56080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275" y="1515077"/>
            <a:ext cx="10587149" cy="387053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Accessing</a:t>
            </a:r>
            <a:r>
              <a:rPr spc="-150" dirty="0"/>
              <a:t> </a:t>
            </a:r>
            <a:r>
              <a:rPr spc="-50" dirty="0"/>
              <a:t>Items</a:t>
            </a:r>
            <a:r>
              <a:rPr spc="-170" dirty="0"/>
              <a:t> </a:t>
            </a:r>
            <a:r>
              <a:rPr dirty="0"/>
              <a:t>in</a:t>
            </a:r>
            <a:r>
              <a:rPr spc="-145" dirty="0"/>
              <a:t> </a:t>
            </a:r>
            <a:r>
              <a:rPr dirty="0"/>
              <a:t>a</a:t>
            </a:r>
            <a:r>
              <a:rPr spc="-160" dirty="0"/>
              <a:t> </a:t>
            </a:r>
            <a:r>
              <a:rPr spc="-20" dirty="0"/>
              <a:t>List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3107" y="-2"/>
            <a:ext cx="7679787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826" y="352387"/>
            <a:ext cx="10410721" cy="61784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115" y="1259720"/>
            <a:ext cx="9713430" cy="4163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218" y="1615955"/>
            <a:ext cx="11049376" cy="453307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0875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Operations</a:t>
            </a:r>
            <a:r>
              <a:rPr spc="-165" dirty="0"/>
              <a:t> </a:t>
            </a:r>
            <a:r>
              <a:rPr dirty="0"/>
              <a:t>on</a:t>
            </a:r>
            <a:r>
              <a:rPr spc="-185" dirty="0"/>
              <a:t> </a:t>
            </a:r>
            <a:r>
              <a:rPr spc="-25" dirty="0"/>
              <a:t>Set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6157" y="997520"/>
            <a:ext cx="8576890" cy="47513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5334" y="2891525"/>
            <a:ext cx="5490871" cy="191108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679" y="1650469"/>
            <a:ext cx="4962574" cy="3889524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580003" y="493217"/>
            <a:ext cx="43453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Dictionary</a:t>
            </a:r>
            <a:r>
              <a:rPr spc="-175" dirty="0"/>
              <a:t> </a:t>
            </a:r>
            <a:r>
              <a:rPr dirty="0"/>
              <a:t>in</a:t>
            </a:r>
            <a:r>
              <a:rPr spc="-190" dirty="0"/>
              <a:t> </a:t>
            </a:r>
            <a:r>
              <a:rPr spc="-10" dirty="0"/>
              <a:t>Python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457200" y="0"/>
              <a:ext cx="11734800" cy="6858000"/>
            </a:xfrm>
            <a:custGeom>
              <a:avLst/>
              <a:gdLst/>
              <a:ahLst/>
              <a:cxnLst/>
              <a:rect l="l" t="t" r="r" b="b"/>
              <a:pathLst>
                <a:path w="11734800" h="6858000">
                  <a:moveTo>
                    <a:pt x="0" y="6858000"/>
                  </a:moveTo>
                  <a:lnTo>
                    <a:pt x="11734800" y="6858000"/>
                  </a:lnTo>
                  <a:lnTo>
                    <a:pt x="11734800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353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6858000"/>
            </a:xfrm>
            <a:custGeom>
              <a:avLst/>
              <a:gdLst/>
              <a:ahLst/>
              <a:cxnLst/>
              <a:rect l="l" t="t" r="r" b="b"/>
              <a:pathLst>
                <a:path w="457200" h="6858000">
                  <a:moveTo>
                    <a:pt x="457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0" y="68580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6E6E7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83411" y="4202684"/>
            <a:ext cx="3317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175" dirty="0">
                <a:solidFill>
                  <a:srgbClr val="D5D2CC"/>
                </a:solidFill>
                <a:latin typeface="Cambria"/>
                <a:cs typeface="Cambria"/>
              </a:rPr>
              <a:t>Happy</a:t>
            </a:r>
            <a:r>
              <a:rPr sz="4000" spc="170" dirty="0">
                <a:solidFill>
                  <a:srgbClr val="D5D2CC"/>
                </a:solidFill>
                <a:latin typeface="Cambria"/>
                <a:cs typeface="Cambria"/>
              </a:rPr>
              <a:t> </a:t>
            </a:r>
            <a:r>
              <a:rPr sz="4000" spc="125" dirty="0">
                <a:solidFill>
                  <a:srgbClr val="D5D2CC"/>
                </a:solidFill>
                <a:latin typeface="Cambria"/>
                <a:cs typeface="Cambria"/>
              </a:rPr>
              <a:t>Coding</a:t>
            </a:r>
            <a:endParaRPr sz="4000" dirty="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28048" y="2257830"/>
            <a:ext cx="3036787" cy="30384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78</Words>
  <Application>Microsoft Office PowerPoint</Application>
  <PresentationFormat>Widescreen</PresentationFormat>
  <Paragraphs>19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Cambria</vt:lpstr>
      <vt:lpstr>Segoe UI</vt:lpstr>
      <vt:lpstr>Tahoma</vt:lpstr>
      <vt:lpstr>Office Theme</vt:lpstr>
      <vt:lpstr>Spring of Code Artificial Intelligence</vt:lpstr>
      <vt:lpstr>Day 04 – Python Fundamentals (Data Structures)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Accessing Items in a List</vt:lpstr>
      <vt:lpstr>PowerPoint Presentation</vt:lpstr>
      <vt:lpstr>PowerPoint Presentation</vt:lpstr>
      <vt:lpstr>PowerPoint Presentation</vt:lpstr>
      <vt:lpstr>Operations on Set</vt:lpstr>
      <vt:lpstr>PowerPoint Presentation</vt:lpstr>
      <vt:lpstr>Dictionary in Python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Asad Afridi</cp:lastModifiedBy>
  <cp:revision>1</cp:revision>
  <dcterms:created xsi:type="dcterms:W3CDTF">2026-02-16T21:40:53Z</dcterms:created>
  <dcterms:modified xsi:type="dcterms:W3CDTF">2026-02-16T21:48:33Z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2026-02-16T00:00:00Z</vt:filetime>
  </property>
  <property fmtid="{D5CDD505-2E9C-101B-9397-08002B2CF9AE}" pid="5" name="Producer">
    <vt:lpwstr>Microsoft® PowerPoint® for Microsoft 365</vt:lpwstr>
  </property>
</Properties>
</file>