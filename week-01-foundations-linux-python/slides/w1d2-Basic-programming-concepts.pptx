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2" r:id="rId4"/>
    <p:sldId id="261" r:id="rId5"/>
    <p:sldId id="274" r:id="rId6"/>
    <p:sldId id="263" r:id="rId7"/>
    <p:sldId id="27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5" r:id="rId17"/>
    <p:sldId id="279" r:id="rId18"/>
    <p:sldId id="260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660"/>
    <a:srgbClr val="FFD43B"/>
    <a:srgbClr val="5F8EA9"/>
    <a:srgbClr val="F0F0F0"/>
    <a:srgbClr val="D4DCE5"/>
    <a:srgbClr val="D8E0E3"/>
    <a:srgbClr val="CAD7E1"/>
    <a:srgbClr val="CBD7E0"/>
    <a:srgbClr val="F0DCA2"/>
    <a:srgbClr val="E1E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6C424-5615-4754-983A-2E2B1CCC344C}" type="datetimeFigureOut">
              <a:rPr lang="en-PK" smtClean="0"/>
              <a:t>15/02/2026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87C98-F8D0-446A-A958-42CBCCE11C9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535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677FD-884B-4ED3-A2F2-A7BCB152D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1E2FA-2161-A07F-7D25-C8A2E3DB9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CFFC-C3AE-6556-1D14-3625FA23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8A19-7E55-4D36-9BC1-8CF9938A2804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7B2EC-1DD7-656C-355D-C5D45692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171BD-842E-373E-5F74-2B74FB79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662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33EE-6E2A-7537-14F4-3CCE0627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F14D3-212F-AAD0-73EB-EF04F5CF7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FD248-6A71-0387-AEE3-83DC2288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571F3-9534-4A3C-841B-D1D4E5F0E9A8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6D350-D096-20FA-5C8E-02FE57FF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40D15-567F-3027-2414-6B70AC57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027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EA1A-1367-9DC9-184E-E0C334C3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30F8-51C5-D35F-5EDE-9EB75C18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E8B5C-484F-B97F-17F4-9ADEE26F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63181-4F1F-469E-B27F-7DC5A0871F85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07203-9B60-FFC1-0E7C-39BBB47B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7814C-4ED1-5E20-1A1E-AF4D671A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76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3710-B728-34A5-9626-3DB7B79D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76050-866E-6A4E-F2E6-36D1F72F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20979-F45C-53D7-97C8-B8019FD38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D7F7A-956C-B1EA-3EF6-3A5CBDEF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16C8-C044-4631-A3CE-E4861C55F7F9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F64B-8B3C-F850-0F4D-A732F8C1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7C87D-BF52-B09F-6F82-5A4304E2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8751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228E-8D59-C9AD-D354-E2E32B7C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1F7AF-B04E-8B15-9155-70C349290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3CD77-8B60-D0CE-155D-1B5F2B052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5A5E6-10D5-517E-75F6-074DE44BC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40564-73E7-241E-15C5-699B41946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15C2F-AFB5-AF82-8D09-0E5D7812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EDDE-5B2B-49BF-8F72-7DD8E9229859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4660D-2A1F-F170-DAF5-9048066F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6DF07-374B-2F6D-CE65-3B364EBC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460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2F901-8E9F-0023-87E4-AEB85DD1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EE93E-05A8-F777-C420-5AE98ADEE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798D9-427D-4FD4-A42B-2BA961E1A50F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2D8D3-869C-DE84-090E-C86D9863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48525-C987-94B7-22BC-E2194941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6656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50575A-FBEA-22A3-1957-663ECF69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7E0B1-EBAA-45EB-8087-2D77552CB57C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A331C-3C84-DAA3-F26F-D8D61005B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20F77-FE7B-D938-E114-F7F7E1CD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835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BF83-AA54-631D-AFCA-A8E87E63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25A9-D88A-64D9-787C-EDCB952C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A009E-60F3-4C20-D87E-106CF670D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79080-8860-9395-0D27-A7F3E05B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3DC3A-467E-4B56-9DC7-870853D0222D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66307-A080-44C1-DA58-9AABF4B9B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3D6AB-52D4-7AC5-0CEC-3C9DBEE9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361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373A-9657-4474-D5C3-3C6D1B3A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DBCD-D8AB-E7A4-C5BF-A9B5CB272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CD3F8-42BA-9484-4DEB-60B3F392F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99CF1-39AF-3E84-5BE8-7634CFB3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2DFB0-D2CC-473D-8EE6-8ACFF73D705C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11E8B-0B0F-6BDE-9326-5AA28B1A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8CDF7-9F33-110C-2445-7B191603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838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6C20-966A-6CBF-40D7-6BFCA4E7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EDE2C-E405-6F26-5D32-C1BFFF31A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A8466-63C1-B7EB-C983-39E3E169E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DB2BD-741F-403F-AFB0-BE372B102C05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22AE0-274F-6DD9-123F-03A124ABB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EB0EE-B0AD-C505-61E2-102D96C6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210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A324A-A178-5BBC-232C-1B90CE022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016BD-8BAF-3DC9-8E14-7652EE8AE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F1A8-7DFB-FC39-F579-B3317804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22EE-0CC3-4E2D-AB12-D992BB57FC31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2F747-5FB6-BE35-F105-E7778895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CA15C-9370-BF28-E4D8-4E19B419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781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0D940-6584-A505-8017-A94C0240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EDC8D-D61F-CDC5-733A-B7CFF8A45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3B9AD-E7E7-F04A-ADA7-46A14BFA2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3243A-BEF9-4087-A693-5D263E3BD046}" type="datetime8">
              <a:rPr lang="en-PK" smtClean="0"/>
              <a:t>15/02/2026 10:36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F47E-5AFA-36E2-3495-59D529605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460D-9741-C279-A7BA-EAC0A7294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4D804-FA03-4B4E-935D-ADBDA903953D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6310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microsoft.com/office/2007/relationships/hdphoto" Target="../media/hdphoto7.wdp"/><Relationship Id="rId18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17" Type="http://schemas.microsoft.com/office/2007/relationships/hdphoto" Target="../media/hdphoto9.wdp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microsoft.com/office/2007/relationships/hdphoto" Target="../media/hdphoto6.wdp"/><Relationship Id="rId5" Type="http://schemas.openxmlformats.org/officeDocument/2006/relationships/image" Target="../media/image14.png"/><Relationship Id="rId15" Type="http://schemas.microsoft.com/office/2007/relationships/hdphoto" Target="../media/hdphoto8.wdp"/><Relationship Id="rId10" Type="http://schemas.openxmlformats.org/officeDocument/2006/relationships/image" Target="../media/image17.png"/><Relationship Id="rId19" Type="http://schemas.microsoft.com/office/2007/relationships/hdphoto" Target="../media/hdphoto10.wdp"/><Relationship Id="rId4" Type="http://schemas.microsoft.com/office/2007/relationships/hdphoto" Target="../media/hdphoto3.wdp"/><Relationship Id="rId9" Type="http://schemas.microsoft.com/office/2007/relationships/hdphoto" Target="../media/hdphoto5.wdp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DBF7BBF-74AC-A0FF-BB32-59CF2B8B3690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6716550-C61E-6D96-65B6-529F382E320F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9A603A42-3021-425E-E953-22567D2FDC1A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B5916A12-1269-8F5D-86DA-9F5F26471C31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B51FE2-E3A8-D672-1B4F-2F51E3470D61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E1A9D42-EE72-57CC-8720-650EDEF5A6B5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68C324A-389E-712C-96EC-1D51D4357990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DF2E9B-8C7E-17F6-956E-8FE680535902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8F4D7C-03DB-E8C6-7527-2481066AB4E9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288C33-F352-4344-A39A-15D918B29774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B89701C3-0990-5460-0D82-6BE026DA1C1E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122F574-BAD3-868C-6687-AB043BD26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005E6ED-1E10-D17F-CB6B-D67C127DC1BF}"/>
              </a:ext>
            </a:extLst>
          </p:cNvPr>
          <p:cNvSpPr txBox="1"/>
          <p:nvPr/>
        </p:nvSpPr>
        <p:spPr>
          <a:xfrm>
            <a:off x="2435860" y="1739801"/>
            <a:ext cx="7307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Python Programming</a:t>
            </a:r>
            <a:endParaRPr lang="en-PK" sz="2000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AC489C5-18D5-E66D-2B30-45E457C709F6}"/>
              </a:ext>
            </a:extLst>
          </p:cNvPr>
          <p:cNvCxnSpPr>
            <a:cxnSpLocks/>
          </p:cNvCxnSpPr>
          <p:nvPr/>
        </p:nvCxnSpPr>
        <p:spPr>
          <a:xfrm>
            <a:off x="1822138" y="4060190"/>
            <a:ext cx="8366337" cy="0"/>
          </a:xfrm>
          <a:prstGeom prst="line">
            <a:avLst/>
          </a:prstGeom>
          <a:ln w="38100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86689C8-A8BF-FB3A-CB20-EB7A87DE1DC1}"/>
              </a:ext>
            </a:extLst>
          </p:cNvPr>
          <p:cNvSpPr txBox="1"/>
          <p:nvPr/>
        </p:nvSpPr>
        <p:spPr>
          <a:xfrm>
            <a:off x="2917244" y="4308416"/>
            <a:ext cx="6357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Course: Advance Python Programming &amp; Applications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658F4F-6660-432F-1F13-40BF60B31E73}"/>
              </a:ext>
            </a:extLst>
          </p:cNvPr>
          <p:cNvSpPr txBox="1"/>
          <p:nvPr/>
        </p:nvSpPr>
        <p:spPr>
          <a:xfrm>
            <a:off x="3525547" y="5098991"/>
            <a:ext cx="514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by: Muhammad Abbas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C11DED-C800-70C3-F0C5-BC21434D825D}"/>
              </a:ext>
            </a:extLst>
          </p:cNvPr>
          <p:cNvSpPr txBox="1"/>
          <p:nvPr/>
        </p:nvSpPr>
        <p:spPr>
          <a:xfrm>
            <a:off x="3519196" y="5490180"/>
            <a:ext cx="5140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Corvit Systems Faisalabad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60197F-985C-5027-3561-9A24F419B813}"/>
              </a:ext>
            </a:extLst>
          </p:cNvPr>
          <p:cNvSpPr txBox="1"/>
          <p:nvPr/>
        </p:nvSpPr>
        <p:spPr>
          <a:xfrm>
            <a:off x="2910894" y="3346220"/>
            <a:ext cx="6357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Building Foundations for All</a:t>
            </a:r>
            <a:endParaRPr lang="en-PK" sz="24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78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629FA-2D8D-7FD4-3398-740A8A0C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00E1DA5-EFBD-925D-6A32-9D6B982B64A2}"/>
              </a:ext>
            </a:extLst>
          </p:cNvPr>
          <p:cNvSpPr/>
          <p:nvPr/>
        </p:nvSpPr>
        <p:spPr>
          <a:xfrm>
            <a:off x="-12700" y="-12700"/>
            <a:ext cx="12204700" cy="6870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39BDD5B2-EC65-B98C-52E8-12C5D6E93454}"/>
              </a:ext>
            </a:extLst>
          </p:cNvPr>
          <p:cNvSpPr/>
          <p:nvPr/>
        </p:nvSpPr>
        <p:spPr>
          <a:xfrm>
            <a:off x="-9625" y="1234440"/>
            <a:ext cx="4206240" cy="5623560"/>
          </a:xfrm>
          <a:prstGeom prst="rtTriangle">
            <a:avLst/>
          </a:prstGeom>
          <a:solidFill>
            <a:srgbClr val="EDEE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106C1BA6-F33E-217F-D864-20EE85BEBB75}"/>
              </a:ext>
            </a:extLst>
          </p:cNvPr>
          <p:cNvSpPr/>
          <p:nvPr/>
        </p:nvSpPr>
        <p:spPr>
          <a:xfrm rot="10800000" flipH="1">
            <a:off x="-9625" y="-11430"/>
            <a:ext cx="1518385" cy="2766060"/>
          </a:xfrm>
          <a:prstGeom prst="rtTriangle">
            <a:avLst/>
          </a:prstGeom>
          <a:solidFill>
            <a:srgbClr val="E1E1E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0BE51-551E-5643-3F84-C23FB041138C}"/>
              </a:ext>
            </a:extLst>
          </p:cNvPr>
          <p:cNvSpPr/>
          <p:nvPr/>
        </p:nvSpPr>
        <p:spPr>
          <a:xfrm>
            <a:off x="-9626" y="6160770"/>
            <a:ext cx="1017270" cy="697230"/>
          </a:xfrm>
          <a:prstGeom prst="rect">
            <a:avLst/>
          </a:prstGeom>
          <a:solidFill>
            <a:srgbClr val="F0DC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E0960EA-C00C-44FF-7DD9-9D9860768DBD}"/>
              </a:ext>
            </a:extLst>
          </p:cNvPr>
          <p:cNvSpPr/>
          <p:nvPr/>
        </p:nvSpPr>
        <p:spPr>
          <a:xfrm>
            <a:off x="859054" y="6160770"/>
            <a:ext cx="1072616" cy="697230"/>
          </a:xfrm>
          <a:prstGeom prst="triangle">
            <a:avLst/>
          </a:prstGeom>
          <a:solidFill>
            <a:srgbClr val="CAD7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CAD798-CF28-753F-87E2-7C1C08CDFEA4}"/>
              </a:ext>
            </a:extLst>
          </p:cNvPr>
          <p:cNvSpPr/>
          <p:nvPr/>
        </p:nvSpPr>
        <p:spPr>
          <a:xfrm>
            <a:off x="-9627" y="4179571"/>
            <a:ext cx="377927" cy="2299122"/>
          </a:xfrm>
          <a:custGeom>
            <a:avLst/>
            <a:gdLst>
              <a:gd name="csX0" fmla="*/ 0 w 422910"/>
              <a:gd name="csY0" fmla="*/ 0 h 1874520"/>
              <a:gd name="csX1" fmla="*/ 422910 w 422910"/>
              <a:gd name="csY1" fmla="*/ 411480 h 1874520"/>
              <a:gd name="csX2" fmla="*/ 422910 w 422910"/>
              <a:gd name="csY2" fmla="*/ 1874520 h 1874520"/>
              <a:gd name="csX3" fmla="*/ 0 w 422910"/>
              <a:gd name="csY3" fmla="*/ 1463040 h 1874520"/>
              <a:gd name="csX4" fmla="*/ 0 w 422910"/>
              <a:gd name="csY4" fmla="*/ 411480 h 1874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910" h="1874520">
                <a:moveTo>
                  <a:pt x="0" y="0"/>
                </a:moveTo>
                <a:lnTo>
                  <a:pt x="422910" y="411480"/>
                </a:lnTo>
                <a:lnTo>
                  <a:pt x="422910" y="1874520"/>
                </a:lnTo>
                <a:lnTo>
                  <a:pt x="0" y="1463040"/>
                </a:lnTo>
                <a:lnTo>
                  <a:pt x="0" y="411480"/>
                </a:lnTo>
                <a:close/>
              </a:path>
            </a:pathLst>
          </a:custGeom>
          <a:solidFill>
            <a:srgbClr val="D8E0E3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K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736ABF-4869-04DA-23C8-31A82DD579BF}"/>
              </a:ext>
            </a:extLst>
          </p:cNvPr>
          <p:cNvSpPr/>
          <p:nvPr/>
        </p:nvSpPr>
        <p:spPr>
          <a:xfrm>
            <a:off x="11174730" y="-11431"/>
            <a:ext cx="1017270" cy="697230"/>
          </a:xfrm>
          <a:prstGeom prst="rect">
            <a:avLst/>
          </a:prstGeom>
          <a:solidFill>
            <a:srgbClr val="F0DC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DFBA15-C060-BAD0-166F-7B99E3BBBBED}"/>
              </a:ext>
            </a:extLst>
          </p:cNvPr>
          <p:cNvSpPr/>
          <p:nvPr/>
        </p:nvSpPr>
        <p:spPr>
          <a:xfrm>
            <a:off x="11814073" y="337183"/>
            <a:ext cx="377927" cy="2299122"/>
          </a:xfrm>
          <a:custGeom>
            <a:avLst/>
            <a:gdLst>
              <a:gd name="csX0" fmla="*/ 0 w 422910"/>
              <a:gd name="csY0" fmla="*/ 0 h 1874520"/>
              <a:gd name="csX1" fmla="*/ 422910 w 422910"/>
              <a:gd name="csY1" fmla="*/ 411480 h 1874520"/>
              <a:gd name="csX2" fmla="*/ 422910 w 422910"/>
              <a:gd name="csY2" fmla="*/ 1874520 h 1874520"/>
              <a:gd name="csX3" fmla="*/ 0 w 422910"/>
              <a:gd name="csY3" fmla="*/ 1463040 h 1874520"/>
              <a:gd name="csX4" fmla="*/ 0 w 422910"/>
              <a:gd name="csY4" fmla="*/ 411480 h 18745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22910" h="1874520">
                <a:moveTo>
                  <a:pt x="0" y="0"/>
                </a:moveTo>
                <a:lnTo>
                  <a:pt x="422910" y="411480"/>
                </a:lnTo>
                <a:lnTo>
                  <a:pt x="422910" y="1874520"/>
                </a:lnTo>
                <a:lnTo>
                  <a:pt x="0" y="1463040"/>
                </a:lnTo>
                <a:lnTo>
                  <a:pt x="0" y="411480"/>
                </a:lnTo>
                <a:close/>
              </a:path>
            </a:pathLst>
          </a:custGeom>
          <a:solidFill>
            <a:srgbClr val="D8E0E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K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810501-6F5F-704B-2E68-0EA93FDD0AE0}"/>
              </a:ext>
            </a:extLst>
          </p:cNvPr>
          <p:cNvSpPr/>
          <p:nvPr/>
        </p:nvSpPr>
        <p:spPr>
          <a:xfrm>
            <a:off x="9946530" y="-11431"/>
            <a:ext cx="1228200" cy="431800"/>
          </a:xfrm>
          <a:custGeom>
            <a:avLst/>
            <a:gdLst>
              <a:gd name="csX0" fmla="*/ 0 w 1228200"/>
              <a:gd name="csY0" fmla="*/ 0 h 431800"/>
              <a:gd name="csX1" fmla="*/ 389467 w 1228200"/>
              <a:gd name="csY1" fmla="*/ 0 h 431800"/>
              <a:gd name="csX2" fmla="*/ 778933 w 1228200"/>
              <a:gd name="csY2" fmla="*/ 0 h 431800"/>
              <a:gd name="csX3" fmla="*/ 1228200 w 1228200"/>
              <a:gd name="csY3" fmla="*/ 0 h 431800"/>
              <a:gd name="csX4" fmla="*/ 1228200 w 1228200"/>
              <a:gd name="csY4" fmla="*/ 431800 h 431800"/>
              <a:gd name="csX5" fmla="*/ 389467 w 1228200"/>
              <a:gd name="csY5" fmla="*/ 431800 h 431800"/>
              <a:gd name="csX6" fmla="*/ 389467 w 1228200"/>
              <a:gd name="csY6" fmla="*/ 431799 h 431800"/>
              <a:gd name="csX7" fmla="*/ 389466 w 1228200"/>
              <a:gd name="csY7" fmla="*/ 431800 h 431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8200" h="431800">
                <a:moveTo>
                  <a:pt x="0" y="0"/>
                </a:moveTo>
                <a:lnTo>
                  <a:pt x="389467" y="0"/>
                </a:lnTo>
                <a:lnTo>
                  <a:pt x="778933" y="0"/>
                </a:lnTo>
                <a:lnTo>
                  <a:pt x="1228200" y="0"/>
                </a:lnTo>
                <a:lnTo>
                  <a:pt x="1228200" y="431800"/>
                </a:lnTo>
                <a:lnTo>
                  <a:pt x="389467" y="431800"/>
                </a:lnTo>
                <a:lnTo>
                  <a:pt x="389467" y="431799"/>
                </a:lnTo>
                <a:lnTo>
                  <a:pt x="389466" y="431800"/>
                </a:lnTo>
                <a:close/>
              </a:path>
            </a:pathLst>
          </a:custGeom>
          <a:solidFill>
            <a:srgbClr val="D4DC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255C94E7-D62A-907F-499C-BF6C1AFAA029}"/>
              </a:ext>
            </a:extLst>
          </p:cNvPr>
          <p:cNvSpPr/>
          <p:nvPr/>
        </p:nvSpPr>
        <p:spPr>
          <a:xfrm rot="10800000">
            <a:off x="9525535" y="-11432"/>
            <a:ext cx="1072616" cy="697230"/>
          </a:xfrm>
          <a:prstGeom prst="triangle">
            <a:avLst/>
          </a:prstGeom>
          <a:solidFill>
            <a:srgbClr val="CAD7E1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916A71-BEA7-4286-C05C-86B990A86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6374" y="324603"/>
            <a:ext cx="798591" cy="7985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A1A5C7-B0AA-5EE4-35EB-1588B99FE2F6}"/>
              </a:ext>
            </a:extLst>
          </p:cNvPr>
          <p:cNvSpPr txBox="1"/>
          <p:nvPr/>
        </p:nvSpPr>
        <p:spPr>
          <a:xfrm>
            <a:off x="1153970" y="3143935"/>
            <a:ext cx="990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1: What is Programming Really?</a:t>
            </a:r>
            <a:endParaRPr lang="en-PK" sz="1600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DA9DF-8059-154B-AF3C-EBACE52FDDB4}"/>
              </a:ext>
            </a:extLst>
          </p:cNvPr>
          <p:cNvSpPr txBox="1"/>
          <p:nvPr/>
        </p:nvSpPr>
        <p:spPr>
          <a:xfrm>
            <a:off x="3700172" y="4046220"/>
            <a:ext cx="4791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 Computers to act.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9B2A92-4179-DE67-7885-3DB91C02203B}"/>
              </a:ext>
            </a:extLst>
          </p:cNvPr>
          <p:cNvCxnSpPr>
            <a:cxnSpLocks/>
          </p:cNvCxnSpPr>
          <p:nvPr/>
        </p:nvCxnSpPr>
        <p:spPr>
          <a:xfrm>
            <a:off x="670698" y="275189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D5558F-3EA1-48C6-A0DF-EEED4662F6B5}"/>
              </a:ext>
            </a:extLst>
          </p:cNvPr>
          <p:cNvCxnSpPr>
            <a:cxnSpLocks/>
          </p:cNvCxnSpPr>
          <p:nvPr/>
        </p:nvCxnSpPr>
        <p:spPr>
          <a:xfrm>
            <a:off x="557272" y="6105759"/>
            <a:ext cx="10949802" cy="0"/>
          </a:xfrm>
          <a:prstGeom prst="line">
            <a:avLst/>
          </a:prstGeom>
          <a:ln w="12700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E20989D-B322-D790-65B2-3A2B0EDD6E9E}"/>
              </a:ext>
            </a:extLst>
          </p:cNvPr>
          <p:cNvSpPr txBox="1"/>
          <p:nvPr/>
        </p:nvSpPr>
        <p:spPr>
          <a:xfrm>
            <a:off x="4390086" y="6186170"/>
            <a:ext cx="3437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Topic: What is Programming Really?</a:t>
            </a:r>
            <a:endParaRPr lang="en-PK" sz="14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BD8B2A-E19F-18B0-D458-2F39DF6460C9}"/>
              </a:ext>
            </a:extLst>
          </p:cNvPr>
          <p:cNvSpPr txBox="1"/>
          <p:nvPr/>
        </p:nvSpPr>
        <p:spPr>
          <a:xfrm>
            <a:off x="455562" y="6186170"/>
            <a:ext cx="231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Corvit Systems Faisalabad</a:t>
            </a:r>
            <a:endParaRPr lang="en-PK" sz="14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B1FF0BF-AAA7-85C9-B5B4-C5DE72DDA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469" y="6128822"/>
            <a:ext cx="2743200" cy="365125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07BAE6-BF07-CDF2-43D0-33C1782E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90" y="1629161"/>
            <a:ext cx="1258820" cy="125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3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B821-6ABC-DD0B-56B2-D41BD013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108A61-4643-29AA-1B2B-E6EDFE6BBCA8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2DCFDB-8AB0-7B70-9821-F10FC041B5A3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A7383C1C-2B7E-132F-0DA0-62341ABCA1BA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BF6BA86D-89FA-DB4E-DA67-6FC8883D54DE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0FB9CE-C6CE-6FEA-2745-4D2FF0E747C3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C156FB3-FA2F-2081-C7AF-F6471E4AAF88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7F09B33-1692-F59D-7228-6F320A9C8C10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B45292-5E08-37D2-41FD-1B80FC5E06D4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A44588-8BDF-760E-618A-053D0FD94AB5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F4FD234-1D6E-3E37-3F69-9015A7A04BD5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6662BE4-C101-D991-E127-DAE2757B109D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E27C6E8-FD5F-5EB4-6761-0792A8AEF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4628E-8D24-F7C0-5671-A5EFBCAC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6A0A93-178A-D287-4CA4-E080193BE722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04073-5E2F-502C-996F-26085588D71F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8A1641-0727-0897-B166-8C8BC231C71C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Programming Really?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2F7715-F3AC-3300-BD72-375508EF167D}"/>
              </a:ext>
            </a:extLst>
          </p:cNvPr>
          <p:cNvSpPr txBox="1"/>
          <p:nvPr/>
        </p:nvSpPr>
        <p:spPr>
          <a:xfrm>
            <a:off x="486943" y="1231709"/>
            <a:ext cx="62094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Program: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program is a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 of instruction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that is executed by a computer to accomplish a particular task.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Computers are literal—they do exactly what you tell them.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Insight: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already solve problems in your field—programming is just expressing solutions in a way computers understand.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928DDE-9EFE-CCFB-D443-BDCEC97E8685}"/>
              </a:ext>
            </a:extLst>
          </p:cNvPr>
          <p:cNvGrpSpPr/>
          <p:nvPr/>
        </p:nvGrpSpPr>
        <p:grpSpPr>
          <a:xfrm>
            <a:off x="6725511" y="1296726"/>
            <a:ext cx="4614633" cy="2554540"/>
            <a:chOff x="6696401" y="1231709"/>
            <a:chExt cx="5088564" cy="2925002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6C23C26-D0C4-77C8-BCEE-BA1BE20BA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6401" y="1231709"/>
              <a:ext cx="5088564" cy="2925002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499F140-5263-733C-9E6D-93CCAA4613C6}"/>
                </a:ext>
              </a:extLst>
            </p:cNvPr>
            <p:cNvSpPr txBox="1"/>
            <p:nvPr/>
          </p:nvSpPr>
          <p:spPr>
            <a:xfrm>
              <a:off x="6949807" y="1413084"/>
              <a:ext cx="4820395" cy="23391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D43B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Natural Language Instructions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START: Patient has temperature reading.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INPUT: Get temperature value (e.g. 38.5</a:t>
              </a:r>
              <a:r>
                <a:rPr lang="en-PK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°</a:t>
              </a:r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C).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PROCESS: Is temperature &gt; 37.5</a:t>
              </a:r>
              <a:r>
                <a:rPr lang="en-PK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°</a:t>
              </a:r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C?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YES: Go to step 5.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OUTPUT: Display “Fever detected!”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IF NO: Go to step 6.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OUTPUT: Display “No fever”.</a:t>
              </a:r>
            </a:p>
            <a:p>
              <a:r>
                <a:rPr lang="en-US" sz="1600" dirty="0">
                  <a:solidFill>
                    <a:srgbClr val="2446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END: Decision made.</a:t>
              </a:r>
              <a:endParaRPr lang="en-PK" sz="16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9C74F3-00F6-70CE-FB26-BC7B4B0CCCD9}"/>
              </a:ext>
            </a:extLst>
          </p:cNvPr>
          <p:cNvSpPr/>
          <p:nvPr/>
        </p:nvSpPr>
        <p:spPr>
          <a:xfrm>
            <a:off x="8331200" y="4270680"/>
            <a:ext cx="1638190" cy="959606"/>
          </a:xfrm>
          <a:prstGeom prst="roundRect">
            <a:avLst/>
          </a:prstGeom>
          <a:solidFill>
            <a:srgbClr val="244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D43B"/>
                </a:solidFill>
              </a:rPr>
              <a:t>Program</a:t>
            </a:r>
          </a:p>
          <a:p>
            <a:pPr algn="ctr"/>
            <a:r>
              <a:rPr lang="en-US" dirty="0"/>
              <a:t>Source Code</a:t>
            </a:r>
            <a:endParaRPr lang="en-PK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D57E8B7-E59F-F15B-FA68-E3FDAA958135}"/>
              </a:ext>
            </a:extLst>
          </p:cNvPr>
          <p:cNvSpPr/>
          <p:nvPr/>
        </p:nvSpPr>
        <p:spPr>
          <a:xfrm>
            <a:off x="8321941" y="5561274"/>
            <a:ext cx="1638190" cy="542716"/>
          </a:xfrm>
          <a:prstGeom prst="ellipse">
            <a:avLst/>
          </a:prstGeom>
          <a:solidFill>
            <a:srgbClr val="244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Translator</a:t>
            </a:r>
            <a:endParaRPr lang="en-PK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DB1CA0-0149-B085-D755-599518CF085F}"/>
              </a:ext>
            </a:extLst>
          </p:cNvPr>
          <p:cNvSpPr/>
          <p:nvPr/>
        </p:nvSpPr>
        <p:spPr>
          <a:xfrm>
            <a:off x="5877307" y="4542838"/>
            <a:ext cx="1638190" cy="959606"/>
          </a:xfrm>
          <a:prstGeom prst="roundRect">
            <a:avLst/>
          </a:prstGeom>
          <a:solidFill>
            <a:srgbClr val="244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D43B"/>
                </a:solidFill>
              </a:rPr>
              <a:t>Binary</a:t>
            </a:r>
          </a:p>
          <a:p>
            <a:pPr algn="ctr"/>
            <a:r>
              <a:rPr lang="en-US" dirty="0"/>
              <a:t>Machine Code</a:t>
            </a:r>
            <a:endParaRPr lang="en-PK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21F116E-E871-1F70-6841-37F3128C5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511" y="4415890"/>
            <a:ext cx="2413097" cy="1213502"/>
          </a:xfrm>
          <a:prstGeom prst="rect">
            <a:avLst/>
          </a:prstGeom>
          <a:ln>
            <a:solidFill>
              <a:srgbClr val="244660"/>
            </a:solidFill>
          </a:ln>
        </p:spPr>
      </p:pic>
      <p:pic>
        <p:nvPicPr>
          <p:cNvPr id="27" name="Picture 4" descr="Pc - Free icons">
            <a:extLst>
              <a:ext uri="{FF2B5EF4-FFF2-40B4-BE49-F238E27FC236}">
                <a16:creationId xmlns:a16="http://schemas.microsoft.com/office/drawing/2014/main" id="{A6FDC01B-A549-7E55-B2CE-213CC15DB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784" b="89865" l="4027" r="96644">
                        <a14:foregroundMark x1="82550" y1="33784" x2="82550" y2="33784"/>
                        <a14:foregroundMark x1="82550" y1="33784" x2="85235" y2="46622"/>
                        <a14:foregroundMark x1="94631" y1="26351" x2="91946" y2="78378"/>
                        <a14:foregroundMark x1="44295" y1="57432" x2="53691" y2="55405"/>
                        <a14:foregroundMark x1="53691" y1="55405" x2="23490" y2="49324"/>
                        <a14:foregroundMark x1="23490" y1="49324" x2="35570" y2="52703"/>
                        <a14:foregroundMark x1="38255" y1="33108" x2="15436" y2="30405"/>
                        <a14:foregroundMark x1="15436" y1="30405" x2="4698" y2="45946"/>
                        <a14:foregroundMark x1="4698" y1="45946" x2="4027" y2="70270"/>
                        <a14:foregroundMark x1="40268" y1="85135" x2="40268" y2="85135"/>
                        <a14:foregroundMark x1="96644" y1="19595" x2="96644" y2="641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58" y="4027039"/>
            <a:ext cx="1645789" cy="163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FF54EE-7049-F5B3-A170-2C382BA7F272}"/>
              </a:ext>
            </a:extLst>
          </p:cNvPr>
          <p:cNvCxnSpPr/>
          <p:nvPr/>
        </p:nvCxnSpPr>
        <p:spPr>
          <a:xfrm>
            <a:off x="9075160" y="3919642"/>
            <a:ext cx="0" cy="279400"/>
          </a:xfrm>
          <a:prstGeom prst="straightConnector1">
            <a:avLst/>
          </a:prstGeom>
          <a:ln w="28575">
            <a:solidFill>
              <a:srgbClr val="2446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F424F5-A24B-B01C-26FE-5A0E82114B01}"/>
              </a:ext>
            </a:extLst>
          </p:cNvPr>
          <p:cNvCxnSpPr/>
          <p:nvPr/>
        </p:nvCxnSpPr>
        <p:spPr>
          <a:xfrm>
            <a:off x="9075160" y="5281874"/>
            <a:ext cx="0" cy="279400"/>
          </a:xfrm>
          <a:prstGeom prst="straightConnector1">
            <a:avLst/>
          </a:prstGeom>
          <a:ln w="28575">
            <a:solidFill>
              <a:srgbClr val="2446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F5C127-2BAA-1F5D-A002-95C181CEC540}"/>
              </a:ext>
            </a:extLst>
          </p:cNvPr>
          <p:cNvCxnSpPr>
            <a:cxnSpLocks/>
          </p:cNvCxnSpPr>
          <p:nvPr/>
        </p:nvCxnSpPr>
        <p:spPr>
          <a:xfrm>
            <a:off x="6696402" y="5832632"/>
            <a:ext cx="1600138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0C9AA70-BFDF-D6EB-4676-A38790C1A44A}"/>
              </a:ext>
            </a:extLst>
          </p:cNvPr>
          <p:cNvCxnSpPr>
            <a:cxnSpLocks/>
          </p:cNvCxnSpPr>
          <p:nvPr/>
        </p:nvCxnSpPr>
        <p:spPr>
          <a:xfrm flipV="1">
            <a:off x="6685833" y="5554606"/>
            <a:ext cx="0" cy="291308"/>
          </a:xfrm>
          <a:prstGeom prst="straightConnector1">
            <a:avLst/>
          </a:prstGeom>
          <a:ln w="28575">
            <a:solidFill>
              <a:srgbClr val="2446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54F230C-7714-6FD6-115D-E0EBBBDFCDEA}"/>
              </a:ext>
            </a:extLst>
          </p:cNvPr>
          <p:cNvCxnSpPr>
            <a:cxnSpLocks/>
          </p:cNvCxnSpPr>
          <p:nvPr/>
        </p:nvCxnSpPr>
        <p:spPr>
          <a:xfrm flipH="1">
            <a:off x="5439899" y="5022641"/>
            <a:ext cx="332451" cy="0"/>
          </a:xfrm>
          <a:prstGeom prst="straightConnector1">
            <a:avLst/>
          </a:prstGeom>
          <a:ln w="28575">
            <a:solidFill>
              <a:srgbClr val="2446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9E19EA-FAB5-F54D-3422-8E9E4625E921}"/>
              </a:ext>
            </a:extLst>
          </p:cNvPr>
          <p:cNvCxnSpPr>
            <a:cxnSpLocks/>
          </p:cNvCxnSpPr>
          <p:nvPr/>
        </p:nvCxnSpPr>
        <p:spPr>
          <a:xfrm flipH="1">
            <a:off x="2504194" y="5022641"/>
            <a:ext cx="332451" cy="0"/>
          </a:xfrm>
          <a:prstGeom prst="straightConnector1">
            <a:avLst/>
          </a:prstGeom>
          <a:ln w="28575">
            <a:solidFill>
              <a:srgbClr val="2446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E91305D-E62C-4590-5D03-258BD0E18A28}"/>
              </a:ext>
            </a:extLst>
          </p:cNvPr>
          <p:cNvSpPr txBox="1"/>
          <p:nvPr/>
        </p:nvSpPr>
        <p:spPr>
          <a:xfrm>
            <a:off x="9960131" y="4524625"/>
            <a:ext cx="1112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.py file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57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4AE5-85BA-2BF1-116C-0A30F58B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3197AFF-EBB2-509F-B43F-A2BFAA0E7BAA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FAD621-BAE4-A755-FFF8-3D914A4734F0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19E6C16C-48B2-8163-A6DB-D9A12AD10418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88149E75-F100-4E8C-A5D2-B583B4909943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FFF243A-27C5-7957-1804-936BF209237A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5EC23E5-A0AC-E46D-A956-99EFBDAE7F67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B8553A-0C64-5D58-A1FD-E5C6ADF4D1DE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56FD4E-E5B9-1466-C6D7-818350AF21F6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F1BAF74-535E-04B9-8CDD-4A873DAF2C7D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3F83B53-A74C-A34F-CC38-4E99554B4A32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BC7C11A7-BEF0-95F6-CFDC-1F7DD59D9552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4BBE37C-F70B-0F32-A4CC-3F29452D7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16633-0D4B-84A3-5A40-C232FFA9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8C5732-333E-78E9-ADF9-041F40E46744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EC0B20-4C4E-38FE-D7FA-A0B8A5C13407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Programs Get Executed</a:t>
            </a:r>
            <a:endParaRPr lang="en-PK" sz="2400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42DC12D-DAC3-2797-AF7E-6A633D5BA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4" y="1177646"/>
            <a:ext cx="10981791" cy="508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8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1EF0-C9B6-CBE9-1909-1A5F7DA9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C79E1C-4E20-7DFA-EAD4-D3DB66CD1517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1EE47C4-B96A-40FC-0262-FD72A9FFDFCE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E745267D-7242-0572-0A1B-A1CFE10D4C77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1B543BB-2482-0C41-ACC6-1D5C3D1F5D6A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3C81FA-8F9B-E396-42C0-14B6EEB53412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419270A-2F49-FEE0-5824-478BA9A58C17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158993A-3763-4EE6-809C-7534C1CF60D1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464B70-681D-2D76-0789-FEF0A8025571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8E6DFC9-8AAE-C8CE-CDBD-701BE1385244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A4E0F3F-C8AC-817A-B1ED-57F155487C0B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DEAEC35-96E8-7827-042B-17B3F55ED198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C94D07F-E5BB-3303-23D4-D5D351BF2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CCA40-8988-B38D-997A-7B888FEB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78075-487F-BA71-AB40-DF50D04087B0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22C35C-1FEA-81FF-3A47-2FA0A073A5BB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Compiler vs Interpreter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53162-9F32-D724-FBAF-F5C556114C80}"/>
              </a:ext>
            </a:extLst>
          </p:cNvPr>
          <p:cNvSpPr txBox="1"/>
          <p:nvPr/>
        </p:nvSpPr>
        <p:spPr>
          <a:xfrm>
            <a:off x="486943" y="1231709"/>
            <a:ext cx="620946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Compiler: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Translates all code  at once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 executable file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Example: C++, Java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Faster execution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Errors shown before running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Interpreter: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Translates line by line while running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Example: Python, JavaScript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Easier to test and debug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Errors shown as program runs</a:t>
            </a:r>
            <a:endParaRPr lang="en-US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B38072-06AA-9458-8665-480602D56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48" b="93357" l="4736" r="97450">
                        <a14:foregroundMark x1="12933" y1="14161" x2="22222" y2="8916"/>
                        <a14:foregroundMark x1="22222" y1="8916" x2="33880" y2="9965"/>
                        <a14:foregroundMark x1="33880" y1="9965" x2="43352" y2="18007"/>
                        <a14:foregroundMark x1="43352" y1="18007" x2="38251" y2="29371"/>
                        <a14:foregroundMark x1="38251" y1="29371" x2="24226" y2="38287"/>
                        <a14:foregroundMark x1="24226" y1="38287" x2="13661" y2="36538"/>
                        <a14:foregroundMark x1="13661" y1="36538" x2="18579" y2="22727"/>
                        <a14:foregroundMark x1="18579" y1="22727" x2="21129" y2="22378"/>
                        <a14:foregroundMark x1="6011" y1="11364" x2="6922" y2="41084"/>
                        <a14:foregroundMark x1="38798" y1="2972" x2="19672" y2="4720"/>
                        <a14:foregroundMark x1="71585" y1="48077" x2="86885" y2="49301"/>
                        <a14:foregroundMark x1="86885" y1="49301" x2="78689" y2="60490"/>
                        <a14:foregroundMark x1="78689" y1="60490" x2="76685" y2="55769"/>
                        <a14:foregroundMark x1="82149" y1="45979" x2="91621" y2="51923"/>
                        <a14:foregroundMark x1="91621" y1="51923" x2="80146" y2="61364"/>
                        <a14:foregroundMark x1="80146" y1="61364" x2="69035" y2="61713"/>
                        <a14:foregroundMark x1="69035" y1="61713" x2="65574" y2="51224"/>
                        <a14:foregroundMark x1="65574" y1="51224" x2="73770" y2="43531"/>
                        <a14:foregroundMark x1="73770" y1="43531" x2="82332" y2="46678"/>
                        <a14:foregroundMark x1="80146" y1="86189" x2="88160" y2="86014"/>
                        <a14:foregroundMark x1="72131" y1="93531" x2="83424" y2="93007"/>
                        <a14:foregroundMark x1="83424" y1="93007" x2="93989" y2="88112"/>
                        <a14:foregroundMark x1="33515" y1="86713" x2="23315" y2="88986"/>
                        <a14:foregroundMark x1="23315" y1="88986" x2="22951" y2="88986"/>
                        <a14:foregroundMark x1="22951" y1="88986" x2="10565" y2="87587"/>
                        <a14:foregroundMark x1="10565" y1="87587" x2="25683" y2="93706"/>
                        <a14:foregroundMark x1="25683" y1="93706" x2="38251" y2="91259"/>
                        <a14:foregroundMark x1="38251" y1="91259" x2="27140" y2="84615"/>
                        <a14:foregroundMark x1="27140" y1="84615" x2="21494" y2="84790"/>
                        <a14:foregroundMark x1="97632" y1="85664" x2="97268" y2="90734"/>
                        <a14:foregroundMark x1="77960" y1="63986" x2="73042" y2="64510"/>
                        <a14:foregroundMark x1="88342" y1="46853" x2="88525" y2="45455"/>
                        <a14:foregroundMark x1="89982" y1="45979" x2="91621" y2="49650"/>
                        <a14:foregroundMark x1="88342" y1="45455" x2="73588" y2="44580"/>
                        <a14:foregroundMark x1="73588" y1="44580" x2="63934" y2="47902"/>
                        <a14:foregroundMark x1="71949" y1="43706" x2="67577" y2="43706"/>
                        <a14:foregroundMark x1="84517" y1="44056" x2="84517" y2="44056"/>
                        <a14:foregroundMark x1="26594" y1="74301" x2="26594" y2="74301"/>
                        <a14:foregroundMark x1="26958" y1="79720" x2="26958" y2="79720"/>
                        <a14:foregroundMark x1="57377" y1="90035" x2="57377" y2="90035"/>
                        <a14:foregroundMark x1="58288" y1="88462" x2="58288" y2="88462"/>
                        <a14:foregroundMark x1="56831" y1="89161" x2="56831" y2="89161"/>
                        <a14:foregroundMark x1="5464" y1="67483" x2="5464" y2="67483"/>
                        <a14:foregroundMark x1="5100" y1="15210" x2="4736" y2="31119"/>
                        <a14:foregroundMark x1="26412" y1="58392" x2="26412" y2="58392"/>
                        <a14:foregroundMark x1="79964" y1="69406" x2="79964" y2="69406"/>
                        <a14:foregroundMark x1="79964" y1="73427" x2="79964" y2="73427"/>
                        <a14:foregroundMark x1="80146" y1="74650" x2="80146" y2="74650"/>
                        <a14:foregroundMark x1="80146" y1="74650" x2="80146" y2="74650"/>
                        <a14:foregroundMark x1="80146" y1="74650" x2="80146" y2="74650"/>
                        <a14:foregroundMark x1="80146" y1="76224" x2="80146" y2="762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33124" y="1401542"/>
            <a:ext cx="4583956" cy="47759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1FB8CA0-ADF1-6289-6017-00D140C94FBA}"/>
              </a:ext>
            </a:extLst>
          </p:cNvPr>
          <p:cNvSpPr txBox="1"/>
          <p:nvPr/>
        </p:nvSpPr>
        <p:spPr>
          <a:xfrm>
            <a:off x="8773683" y="2496823"/>
            <a:ext cx="2345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 Execution Line-By-Line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8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8E0B-B30F-36D2-2696-B48F41C0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EDE84CE-4C4D-C807-FEAE-8DD3E7CD8F5E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C5B9FA7-FCAB-38E0-E610-44EDA67C8796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4E795B7E-4D9C-B0AB-AFC3-4AF4FEF29522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D061ECFC-CE8F-2269-B7B2-7A442D8B0455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836B19-2301-C3E5-EEF7-0264C17991D1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7D54844-DBD5-B1C8-6C2E-2042417A717F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C8872CD-1CE9-AD5C-5A12-FD02AEB9D32B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13A80CE-4F9B-3C0C-0A3C-551FAEE04CE5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9BFB864-2DB3-BD38-9560-097C3E431F2A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84B164B-0B5D-79E0-3D59-6BBE716E9294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6AE6F74-A701-B6B2-8060-0C52A3481E2A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EECCE8D-2EF3-4CDD-9EDD-25CA92BC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77C38-027D-B5BE-B128-7B1C3339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25B50-AA92-DCD7-A0EF-497991A06C5C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E1763C-3D62-4F1C-5613-2C3A4C1D4FC8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Programming Language?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21DE5-AD76-ED22-9DEA-C7A0C09082F1}"/>
              </a:ext>
            </a:extLst>
          </p:cNvPr>
          <p:cNvSpPr txBox="1"/>
          <p:nvPr/>
        </p:nvSpPr>
        <p:spPr>
          <a:xfrm>
            <a:off x="486943" y="1231709"/>
            <a:ext cx="620946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formal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of rules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syntax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commands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used by humans to write instructions (code) that a computer can understand and execute to perform specific tasks.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Humans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Computers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speak different languages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Programming Language: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Bridge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between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logic and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instructions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Python, Java, C++, JavaScript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Python: Beginner friendly, reads almost like English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in: Data Science, AI, Web Development, Automation, etc.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514796-6F82-0B25-5C4B-CE3CEAB7F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4"/>
          <a:stretch>
            <a:fillRect/>
          </a:stretch>
        </p:blipFill>
        <p:spPr>
          <a:xfrm>
            <a:off x="6815046" y="2475309"/>
            <a:ext cx="4634880" cy="36854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5DD1D58-812D-9051-E735-69F596849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4" r="68181" b="18014"/>
          <a:stretch>
            <a:fillRect/>
          </a:stretch>
        </p:blipFill>
        <p:spPr>
          <a:xfrm>
            <a:off x="8077257" y="1256819"/>
            <a:ext cx="1869273" cy="18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7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50E8B-2E82-8A39-E5F0-CD8A9395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37008F-A3CB-5BEB-ED36-21EED41B7519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959A0FA-6662-5544-1530-2E22E1A04C50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10492C94-89AA-9C99-FBC5-193800ADC1C0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0BC6A35-004E-1A03-80AB-BEE400D7D3EA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FA848F-1832-30CE-019A-FD945F4ED36D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F891777-DE9C-0354-C801-544F4AAEA54E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B9C4256-DDD9-39BF-732D-C27BFB299F22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1B504C-4D8E-108F-0BFC-26A34FD6A871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481F3D-A6FE-58AC-52A9-626D34526652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0A1D55-D628-22A1-4456-C53C3723F639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5E27A84A-0579-425B-1728-B9B2A720BE07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C583B7D-FE0F-F27C-28BF-AA9B230DC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FBB3A-2530-B2D5-D09A-275EA033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9D6A4D-28ED-FD4E-2374-94FD906CEE41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17BAD0-0184-B0A9-F507-B1BAF256B4C1}"/>
              </a:ext>
            </a:extLst>
          </p:cNvPr>
          <p:cNvSpPr txBox="1"/>
          <p:nvPr/>
        </p:nvSpPr>
        <p:spPr>
          <a:xfrm>
            <a:off x="384502" y="379307"/>
            <a:ext cx="7547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Different Levels of Programming Languages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B4FF1-19D5-A572-5B92-66228FC1EE2B}"/>
              </a:ext>
            </a:extLst>
          </p:cNvPr>
          <p:cNvSpPr txBox="1"/>
          <p:nvPr/>
        </p:nvSpPr>
        <p:spPr>
          <a:xfrm>
            <a:off x="486943" y="1231709"/>
            <a:ext cx="62094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Low-Level Languages: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Close to machine language (binary)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Assembly, Machine Code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Very fast, but hard to write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High-Level Languages: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Close to human language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Example: Python, Java, JavaScript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Easier to write and understand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high-level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beginner friendly!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E2A64D-4A19-308A-0BDB-B52984AD3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970" y="1384108"/>
            <a:ext cx="5934470" cy="459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4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82B5-02BF-AF96-FA45-4CBB6537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2DD00B9-362B-0753-492B-6463BFA12F0D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667F1DE-1148-C60C-A66B-CFF03A7E4F84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F24D4117-275A-38E2-78A7-CD02981BF108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01C7C699-69AE-A5B4-160F-D68CEEE01E75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8AB042-4644-4388-A7BF-875BEFDC85CB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988B677-B82B-643D-E856-A4266642CBD3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B652267-1C05-4126-5D30-C0EE7A45F44F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74ADA1-A2B9-98B8-4F36-BEBA1CA812BD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A49CE1-EA26-C6C6-FEEE-77055272715B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6DA1F7-8772-E31B-DB65-2BE662F9EC7E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00DACF64-905D-B68D-B65F-98E6E183A48D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541E1BA-0EA1-C91C-1C6F-6AC45C370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7CC8B-41DE-C385-82B5-71ECDCA7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92D62-D6B5-A659-4308-B59755FC8549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7E50336-456F-D1E6-FE86-32A43FB6AADE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Computers Work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51809-539E-BD3D-5C23-3504CF251067}"/>
              </a:ext>
            </a:extLst>
          </p:cNvPr>
          <p:cNvSpPr txBox="1"/>
          <p:nvPr/>
        </p:nvSpPr>
        <p:spPr>
          <a:xfrm>
            <a:off x="486943" y="1231709"/>
            <a:ext cx="62094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Every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computers follows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same basic pattern: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Receive data (keyboard, mouse, files, sensors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PROCESS: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 data using CPU and memory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Display results (screen, files, speakers)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Understanding this helps you think like a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programmer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00E5490-D8D2-E912-121A-FF3B546E5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3" t="18262" r="4167"/>
          <a:stretch>
            <a:fillRect/>
          </a:stretch>
        </p:blipFill>
        <p:spPr>
          <a:xfrm>
            <a:off x="5803900" y="1403251"/>
            <a:ext cx="5912321" cy="46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9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1B9F-7076-BA33-2AEF-69F8A765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D9CE55-23EC-F509-38BE-AFB6BADB3DF1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3891982-C5A8-9830-73E3-B68CC8A165BE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7CA9AD4C-3147-9D27-E2A2-A55235A204F2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149B29A-08A2-C997-51F0-9DDBB0C0D706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11AAE7-F1C1-F317-8F84-1A0213435E72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05439FC-5A54-932B-80AF-31EBE9BF3201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F6C506-B275-204E-D0C3-07237D3016FC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764458-36F0-2EF5-7773-D004FCECB0B5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B9591F3-1325-B68B-B847-D67D71E8B0DA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DF8C674-585A-B70A-05BC-4904F5E31A2C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6CBA9F1-7395-3555-06CB-D193B6D73318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9DDE410-922E-AAAE-4CCA-5A5B8B09A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9BB22-27D3-1B4D-B22C-6FCB84F96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9226F0-D743-028E-EF65-A2D53CEC8EDD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1850ABE-6DBB-97B1-6339-3DAD6F82B378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CPU – The Brain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7F9AE-C8C9-7208-2880-FEDD1F00DA5B}"/>
              </a:ext>
            </a:extLst>
          </p:cNvPr>
          <p:cNvSpPr txBox="1"/>
          <p:nvPr/>
        </p:nvSpPr>
        <p:spPr>
          <a:xfrm>
            <a:off x="486943" y="1231709"/>
            <a:ext cx="62094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CPU = Central Processing Unit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“brain” that executes your code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Performs Billions of calculations per second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Follows instructions one at a time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code tells the CPU what to do.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59983CB-C735-6278-6453-2304EE3F0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431" y="890951"/>
            <a:ext cx="6003823" cy="55029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756B27B-5A77-8F1B-3BE6-0D2080CEA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670" y="3969403"/>
            <a:ext cx="3256538" cy="21191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D907A18-63E3-8C7A-0102-135A23B72BEB}"/>
              </a:ext>
            </a:extLst>
          </p:cNvPr>
          <p:cNvSpPr txBox="1"/>
          <p:nvPr/>
        </p:nvSpPr>
        <p:spPr>
          <a:xfrm rot="21395830">
            <a:off x="794179" y="4885242"/>
            <a:ext cx="895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CPU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6B14C6-8D22-E51D-55BA-506E5ADB60E1}"/>
              </a:ext>
            </a:extLst>
          </p:cNvPr>
          <p:cNvCxnSpPr>
            <a:cxnSpLocks/>
          </p:cNvCxnSpPr>
          <p:nvPr/>
        </p:nvCxnSpPr>
        <p:spPr>
          <a:xfrm>
            <a:off x="1508760" y="5111541"/>
            <a:ext cx="720234" cy="0"/>
          </a:xfrm>
          <a:prstGeom prst="straightConnector1">
            <a:avLst/>
          </a:prstGeom>
          <a:ln w="28575">
            <a:solidFill>
              <a:srgbClr val="FFD4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314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6034F-EA7C-05D6-F61C-3ED08FF5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B1E1D29-E137-4A71-B3C3-9654E3FE3346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FD45EE8-A2E7-7DE1-092E-C2D5CC1F804F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19EA00C0-D294-1C83-4ADF-8BECA7E29B9E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AECA9E6-3809-4544-5B73-DD87FAE65E3D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1BC6B3-248C-2408-4273-30AA977D2489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DF869D4-00D4-0740-DCCB-84E88468DAAB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B68D1F7-98DC-C76A-094D-62053C14E64D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022868-2DFE-458B-6DD8-911AAF1F1892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F99C698-98E3-96F5-A014-510CEA5DB09C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E027FE-465C-DA20-ED57-BC23D2A37718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18F7137E-6A94-C10F-176D-981B08B1C84E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6B5298E-F4E0-56E9-95A3-BF055F311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3B35A-A5CC-036B-961B-765B004D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C4A2C2-C6CC-EF76-76E6-1A4C4201BEF5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4D2AFC-501D-289F-8B6D-23BA75B1DE7A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– Getting Data In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6880A-9F32-A35A-E83E-56ACEE37F898}"/>
              </a:ext>
            </a:extLst>
          </p:cNvPr>
          <p:cNvSpPr txBox="1"/>
          <p:nvPr/>
        </p:nvSpPr>
        <p:spPr>
          <a:xfrm>
            <a:off x="486943" y="1231709"/>
            <a:ext cx="550237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computers receive information: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Keyboard typing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Mouse clicks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uploads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Sensors (temperature, location, etc.)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data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Python: You will use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input()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 to get user data</a:t>
            </a:r>
            <a:endParaRPr lang="en-US" sz="2000" dirty="0">
              <a:solidFill>
                <a:srgbClr val="FFD43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D97BBD1-6CFA-708E-9841-B6F81B5F2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38" b="93896" l="3742" r="96154">
                        <a14:foregroundMark x1="47505" y1="20311" x2="51351" y2="21976"/>
                        <a14:foregroundMark x1="48857" y1="74029" x2="19023" y2="70588"/>
                        <a14:foregroundMark x1="19023" y1="70588" x2="7069" y2="59711"/>
                        <a14:foregroundMark x1="7069" y1="59711" x2="5925" y2="24972"/>
                        <a14:foregroundMark x1="5925" y1="24972" x2="5301" y2="24417"/>
                        <a14:foregroundMark x1="52391" y1="77469" x2="82952" y2="73363"/>
                        <a14:foregroundMark x1="82952" y1="73363" x2="97089" y2="46060"/>
                        <a14:foregroundMark x1="97089" y1="46060" x2="89085" y2="11099"/>
                        <a14:foregroundMark x1="89085" y1="11099" x2="26091" y2="6437"/>
                        <a14:foregroundMark x1="26091" y1="6437" x2="13929" y2="9323"/>
                        <a14:foregroundMark x1="43659" y1="88346" x2="43659" y2="88346"/>
                        <a14:foregroundMark x1="43659" y1="88346" x2="43659" y2="88346"/>
                        <a14:foregroundMark x1="43659" y1="88346" x2="51351" y2="87014"/>
                        <a14:foregroundMark x1="51351" y1="87014" x2="48545" y2="82242"/>
                        <a14:foregroundMark x1="14241" y1="75361" x2="9044" y2="61709"/>
                        <a14:foregroundMark x1="9044" y1="61709" x2="4990" y2="25749"/>
                        <a14:foregroundMark x1="4990" y1="25749" x2="5613" y2="66926"/>
                        <a14:foregroundMark x1="5613" y1="66926" x2="19439" y2="75694"/>
                        <a14:foregroundMark x1="19439" y1="75694" x2="20686" y2="75694"/>
                        <a14:foregroundMark x1="93035" y1="11765" x2="96674" y2="56382"/>
                        <a14:foregroundMark x1="96674" y1="56382" x2="92100" y2="74695"/>
                        <a14:foregroundMark x1="92100" y1="74695" x2="87942" y2="78135"/>
                        <a14:foregroundMark x1="54158" y1="85350" x2="41996" y2="91898"/>
                        <a14:foregroundMark x1="41996" y1="91898" x2="41684" y2="79911"/>
                        <a14:foregroundMark x1="55198" y1="79467" x2="56861" y2="89789"/>
                        <a14:foregroundMark x1="56861" y1="89789" x2="61954" y2="92453"/>
                        <a14:foregroundMark x1="64137" y1="93452" x2="64137" y2="93452"/>
                        <a14:foregroundMark x1="50000" y1="91787" x2="37942" y2="92120"/>
                        <a14:foregroundMark x1="35343" y1="93230" x2="35343" y2="93230"/>
                        <a14:foregroundMark x1="34200" y1="93341" x2="34200" y2="93341"/>
                        <a14:foregroundMark x1="35031" y1="77469" x2="16008" y2="77026"/>
                        <a14:foregroundMark x1="16008" y1="77026" x2="4054" y2="72031"/>
                        <a14:foregroundMark x1="4054" y1="72031" x2="4054" y2="72031"/>
                        <a14:foregroundMark x1="84823" y1="66815" x2="57069" y2="67592"/>
                        <a14:foregroundMark x1="95322" y1="53385" x2="96154" y2="69145"/>
                        <a14:foregroundMark x1="96154" y1="69145" x2="88773" y2="78357"/>
                        <a14:foregroundMark x1="62786" y1="93674" x2="62786" y2="93674"/>
                        <a14:foregroundMark x1="52287" y1="93452" x2="52287" y2="93452"/>
                        <a14:foregroundMark x1="49688" y1="93563" x2="49688" y2="93563"/>
                        <a14:foregroundMark x1="48337" y1="93452" x2="48337" y2="93452"/>
                        <a14:foregroundMark x1="42308" y1="93341" x2="53326" y2="92897"/>
                        <a14:foregroundMark x1="42412" y1="93674" x2="54678" y2="93119"/>
                        <a14:foregroundMark x1="54678" y1="93119" x2="55198" y2="93341"/>
                        <a14:foregroundMark x1="54886" y1="93341" x2="44283" y2="93896"/>
                        <a14:foregroundMark x1="82536" y1="7214" x2="94906" y2="7769"/>
                        <a14:foregroundMark x1="94906" y1="7769" x2="94906" y2="117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488" y="2636305"/>
            <a:ext cx="2605352" cy="24401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3DA994-5D90-4CD4-1430-9CA9F3D666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778" b="89778" l="3810" r="94921">
                        <a14:foregroundMark x1="7302" y1="66667" x2="7302" y2="66667"/>
                        <a14:foregroundMark x1="3810" y1="68000" x2="3810" y2="68000"/>
                        <a14:foregroundMark x1="94921" y1="68000" x2="94921" y2="6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193" y="4946633"/>
            <a:ext cx="1283898" cy="91707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873FC82-06E5-1540-E430-17F30E7C5F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317" y="5961204"/>
            <a:ext cx="3769283" cy="3756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C8C0DD2-3ACA-7B08-FEE3-64DFC96CA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17810">
            <a:off x="7328471" y="2128697"/>
            <a:ext cx="697120" cy="4417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DB24DD8-45A3-C21F-DCE9-20284E87F7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87983" y1="30663" x2="87554" y2="72928"/>
                        <a14:foregroundMark x1="72532" y1="50000" x2="33047" y2="50552"/>
                        <a14:foregroundMark x1="71674" y1="44199" x2="35622" y2="43923"/>
                        <a14:foregroundMark x1="69957" y1="37017" x2="36910" y2="37293"/>
                        <a14:foregroundMark x1="54936" y1="30387" x2="35193" y2="30387"/>
                        <a14:foregroundMark x1="73391" y1="57735" x2="31330" y2="57459"/>
                        <a14:foregroundMark x1="75536" y1="64365" x2="31760" y2="643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505" y="2859506"/>
            <a:ext cx="1006276" cy="156339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0CA19AD-E0B6-5554-6E4F-8EE70941DA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699" b="89967" l="7246" r="91787">
                        <a14:foregroundMark x1="7729" y1="41137" x2="7729" y2="41137"/>
                        <a14:foregroundMark x1="91787" y1="41137" x2="91787" y2="41137"/>
                        <a14:foregroundMark x1="76329" y1="82609" x2="23188" y2="81605"/>
                        <a14:foregroundMark x1="66667" y1="43144" x2="66667" y2="43144"/>
                        <a14:foregroundMark x1="46860" y1="36789" x2="46860" y2="367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537" y="1249555"/>
            <a:ext cx="970315" cy="14015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61EF73C-2AB2-E8F2-A715-9261120B74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772" b="92544" l="2198" r="97070">
                        <a14:foregroundMark x1="22711" y1="40351" x2="22711" y2="40351"/>
                        <a14:foregroundMark x1="17216" y1="35088" x2="17216" y2="35088"/>
                        <a14:foregroundMark x1="10256" y1="34211" x2="10256" y2="34211"/>
                        <a14:foregroundMark x1="2930" y1="32895" x2="2930" y2="32895"/>
                        <a14:foregroundMark x1="31502" y1="52632" x2="31502" y2="52632"/>
                        <a14:foregroundMark x1="49817" y1="92544" x2="49817" y2="92544"/>
                        <a14:foregroundMark x1="89377" y1="43860" x2="89377" y2="43860"/>
                        <a14:foregroundMark x1="82784" y1="39912" x2="82784" y2="39912"/>
                        <a14:foregroundMark x1="76557" y1="40351" x2="76557" y2="40351"/>
                        <a14:foregroundMark x1="49451" y1="8772" x2="49451" y2="8772"/>
                        <a14:foregroundMark x1="97070" y1="39912" x2="97070" y2="399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240" y="4797979"/>
            <a:ext cx="1304206" cy="10892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2A4A6CF-C874-6C4C-EC01-254D1C9AE2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5357" l="9871" r="89700">
                        <a14:foregroundMark x1="80687" y1="75714" x2="80687" y2="75714"/>
                        <a14:foregroundMark x1="84549" y1="95357" x2="84549" y2="95357"/>
                        <a14:foregroundMark x1="50644" y1="42143" x2="50644" y2="42143"/>
                        <a14:foregroundMark x1="43777" y1="12500" x2="43777" y2="1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27" y="2969752"/>
            <a:ext cx="1103363" cy="132592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67DED9-768B-3668-7CD8-32C39181DA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67" b="89701" l="4260" r="92601">
                        <a14:foregroundMark x1="7175" y1="42193" x2="6726" y2="74086"/>
                        <a14:foregroundMark x1="89686" y1="41528" x2="89013" y2="78405"/>
                        <a14:foregroundMark x1="92825" y1="40864" x2="91031" y2="79070"/>
                        <a14:foregroundMark x1="2915" y1="35216" x2="4709" y2="71761"/>
                        <a14:foregroundMark x1="4709" y1="71761" x2="4260" y2="76080"/>
                        <a14:foregroundMark x1="65247" y1="10299" x2="65247" y2="102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45" y="1249555"/>
            <a:ext cx="1972548" cy="13312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BFB8D92-3720-ED64-2870-5AF8E78DA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779" y="5691740"/>
            <a:ext cx="798591" cy="7985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86737C-03BC-7A5D-3C82-23C08986E4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73641">
            <a:off x="6874762" y="3468175"/>
            <a:ext cx="697120" cy="4417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3FCD8D9-52CC-BF8F-812B-C8259E29D2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66769">
            <a:off x="9657751" y="2161424"/>
            <a:ext cx="697120" cy="44171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B22FDD7-3EEF-D2EA-6502-A809A3C838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2369">
            <a:off x="10072294" y="3519992"/>
            <a:ext cx="697120" cy="44171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B0B4DC1-21AA-66CC-51BD-E02C76ECC6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41795">
            <a:off x="10108633" y="4658472"/>
            <a:ext cx="697120" cy="44171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B3599DE-4D85-BBCC-5B0B-E1B5AE4E56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24050">
            <a:off x="8482603" y="5171949"/>
            <a:ext cx="697120" cy="44171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7794AE-AA48-8D24-FD2B-93A7604617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53" b="89100" l="8709" r="92793">
                        <a14:foregroundMark x1="9009" y1="76303" x2="9009" y2="76303"/>
                        <a14:foregroundMark x1="92793" y1="16588" x2="92793" y2="165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05641">
            <a:off x="6433411" y="4555878"/>
            <a:ext cx="966074" cy="61213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3D201D0-00D6-1CD7-9DE1-4B753230BBC9}"/>
              </a:ext>
            </a:extLst>
          </p:cNvPr>
          <p:cNvSpPr txBox="1"/>
          <p:nvPr/>
        </p:nvSpPr>
        <p:spPr>
          <a:xfrm>
            <a:off x="6948015" y="1196909"/>
            <a:ext cx="16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Typing…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B8D763-6645-6F1B-C644-239F77FA822D}"/>
              </a:ext>
            </a:extLst>
          </p:cNvPr>
          <p:cNvSpPr txBox="1"/>
          <p:nvPr/>
        </p:nvSpPr>
        <p:spPr>
          <a:xfrm>
            <a:off x="6036177" y="4161615"/>
            <a:ext cx="16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Click!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0DAA0B-C25D-D5C3-E078-1F919D31C64F}"/>
              </a:ext>
            </a:extLst>
          </p:cNvPr>
          <p:cNvSpPr txBox="1"/>
          <p:nvPr/>
        </p:nvSpPr>
        <p:spPr>
          <a:xfrm>
            <a:off x="4056410" y="5352867"/>
            <a:ext cx="16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Voice!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C8D18D-DA3D-89C1-5E0A-5A616026FCDB}"/>
              </a:ext>
            </a:extLst>
          </p:cNvPr>
          <p:cNvSpPr txBox="1"/>
          <p:nvPr/>
        </p:nvSpPr>
        <p:spPr>
          <a:xfrm>
            <a:off x="9132807" y="1632738"/>
            <a:ext cx="16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Camera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537F1D-2A80-79B8-9366-5CE76790A864}"/>
              </a:ext>
            </a:extLst>
          </p:cNvPr>
          <p:cNvSpPr txBox="1"/>
          <p:nvPr/>
        </p:nvSpPr>
        <p:spPr>
          <a:xfrm>
            <a:off x="10580133" y="4066281"/>
            <a:ext cx="16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 Upload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AD2AF9-DE0A-0640-B45F-7915DFE35654}"/>
              </a:ext>
            </a:extLst>
          </p:cNvPr>
          <p:cNvSpPr txBox="1"/>
          <p:nvPr/>
        </p:nvSpPr>
        <p:spPr>
          <a:xfrm>
            <a:off x="9225495" y="4981161"/>
            <a:ext cx="1600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data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2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1A13-6EA6-307E-0085-8E012EEF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D2E071-4101-606D-B8E5-FE81B085DDAD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A82DAAC-84F7-4736-FC28-E11F8505480D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1B654504-2319-50F4-7229-92722B2BF2BA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031CB07-591F-ED19-4D49-792D12A19320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334CCB-2908-A85A-DBA7-174B6AFAAF0D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4EA3240-17CE-C071-1782-8A7FD3E88F65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EE1F9A2-4511-6F46-C251-2CCCE5890B53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5001309-31F1-39C9-F188-CD42759FB3BD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77C7AD-44FA-49B6-824B-A2B4BE8BD054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488F032-F2BD-65C2-FED0-AB70AB98621E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2F38617-F625-C854-0757-36414F5AF29C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ACD3A56-671A-ACCC-BEFE-4601E1898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7787F-1ABE-2834-0ACC-DC219144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427A80-51F1-FF02-6F85-B049923B6B7D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0DD133-CDA5-7287-85F9-28C6D056BF47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– Showing Results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03F3DC-DB46-4A64-EFB8-44BC50E52B87}"/>
              </a:ext>
            </a:extLst>
          </p:cNvPr>
          <p:cNvSpPr txBox="1"/>
          <p:nvPr/>
        </p:nvSpPr>
        <p:spPr>
          <a:xfrm>
            <a:off x="486943" y="1231709"/>
            <a:ext cx="620946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 (Command Line Interface):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Text-based output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Block screen with text (Terminal/Command Prompt)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Fast, simple, programmer-friendly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(Graphical User Interface):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output with windows, buttons, images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User-friendly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you normally see in applications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CAA46D-6708-7405-A030-9D57CEFED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4" t="19676" r="4969" b="14622"/>
          <a:stretch>
            <a:fillRect/>
          </a:stretch>
        </p:blipFill>
        <p:spPr>
          <a:xfrm>
            <a:off x="8263392" y="1577082"/>
            <a:ext cx="3057823" cy="1874443"/>
          </a:xfrm>
          <a:prstGeom prst="roundRect">
            <a:avLst>
              <a:gd name="adj" fmla="val 1960"/>
            </a:avLst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41FA7A-4671-40B8-6688-9F541D57A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" t="20696" r="53227" b="15061"/>
          <a:stretch>
            <a:fillRect/>
          </a:stretch>
        </p:blipFill>
        <p:spPr>
          <a:xfrm>
            <a:off x="8263393" y="4054446"/>
            <a:ext cx="3057823" cy="1914990"/>
          </a:xfrm>
          <a:prstGeom prst="roundRect">
            <a:avLst>
              <a:gd name="adj" fmla="val 3203"/>
            </a:avLst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2BDBB6E-56BD-0DB1-B6AF-0D47FE900057}"/>
              </a:ext>
            </a:extLst>
          </p:cNvPr>
          <p:cNvSpPr txBox="1"/>
          <p:nvPr/>
        </p:nvSpPr>
        <p:spPr>
          <a:xfrm>
            <a:off x="9145380" y="1176972"/>
            <a:ext cx="129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 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1EE1C5-8387-D618-B63E-EDF998578220}"/>
              </a:ext>
            </a:extLst>
          </p:cNvPr>
          <p:cNvSpPr txBox="1"/>
          <p:nvPr/>
        </p:nvSpPr>
        <p:spPr>
          <a:xfrm>
            <a:off x="9145380" y="3620660"/>
            <a:ext cx="1293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 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D647FD4-9C8E-48D5-F977-1A1C6AB5C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606" y="1568306"/>
            <a:ext cx="803040" cy="7781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F97B860-4A42-1048-4636-334B934A2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130" y="2178525"/>
            <a:ext cx="803041" cy="63305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2D5024C-EF5F-C4FE-18A4-6A80DF9C3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606" y="2774822"/>
            <a:ext cx="803040" cy="6767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F9BC781-3AEE-0336-3E6F-D81D7D9716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4769" y="4695413"/>
            <a:ext cx="1064684" cy="63305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8AA6E72-9640-7E63-6095-320490633D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1112" y="4046219"/>
            <a:ext cx="803040" cy="77813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5A5A75F-3924-57AA-11A6-99C7D8CB2A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4606" y="5187910"/>
            <a:ext cx="803040" cy="77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4F61-8A63-6C35-7183-325325D8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1D6670-C73A-7AE3-3CAA-4510DA37ECE9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5710017-B42C-9ECD-1FA2-AB098EF7B82A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B5F15F76-B3D5-60EB-CE75-176484E528FC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5F5645DB-BFAE-2CBD-FBD5-4AAA79B34C7A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5D2D75-7A1A-E617-4703-1B44750C4DC4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DA3C07A-6641-A6AB-AAD7-4082A7C6297E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C8681A-8A53-C634-321E-5CF5AE602DF8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B1E018-8774-7C65-DC66-05AB22CB30CA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0BDF56-51A2-3201-4D24-5484F59E4C9B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FFDF59-AA62-E7F1-01B4-9C0E5E51790D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F48D7F9-04FC-3CE1-D4C9-3CF24FAC177F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E5795D5-F08B-91E8-4E9A-4414AA4EB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31753-FE7C-99C0-143E-4A0FD162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CBD61-33B7-EFD8-9D72-438F491DC194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342B4B-E8F5-A681-CE9E-014762C3ECDA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(RAM)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B4768-D71B-25E5-B1D7-A2EDACD513B1}"/>
              </a:ext>
            </a:extLst>
          </p:cNvPr>
          <p:cNvSpPr txBox="1"/>
          <p:nvPr/>
        </p:nvSpPr>
        <p:spPr>
          <a:xfrm>
            <a:off x="486943" y="1231709"/>
            <a:ext cx="620946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 = Random Access Memory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Temporary, fast storage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 your program runs and stores variables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 of it as your computer’s “working desk”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Important: Data in RAM disappears when program ends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size: 4GB, 8GB, 21GB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5BA16A-20FD-7EB8-0832-1825DB76F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739" y="3734314"/>
            <a:ext cx="2553056" cy="25340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036812-24FC-2B3A-4BE6-491194875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900" y="1486744"/>
            <a:ext cx="4293291" cy="37109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6D38F5-3E0E-BCF7-A97C-A294D13FDB0A}"/>
              </a:ext>
            </a:extLst>
          </p:cNvPr>
          <p:cNvSpPr txBox="1"/>
          <p:nvPr/>
        </p:nvSpPr>
        <p:spPr>
          <a:xfrm>
            <a:off x="5305036" y="5298347"/>
            <a:ext cx="2343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</a:t>
            </a:r>
          </a:p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(Random Access Memory)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25556E-EF85-F4CD-069E-F0FFE86610A7}"/>
              </a:ext>
            </a:extLst>
          </p:cNvPr>
          <p:cNvSpPr txBox="1"/>
          <p:nvPr/>
        </p:nvSpPr>
        <p:spPr>
          <a:xfrm>
            <a:off x="7752944" y="4606559"/>
            <a:ext cx="3774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IMPORTANT: Data disappears with when program ends/power off.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24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F14F3-64E5-943F-F02E-469B28D8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081038D-6D66-F6E5-DCCF-3D4297724776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47B33E-02FC-3488-B54F-741EF9A735CF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5017EA98-E95E-7AA4-531C-50BA0DA2F6E7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80A56EEA-4A1F-FC95-C988-96706318813B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7D58AB-2902-6461-0D5E-249F37FB3E59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FDB3DEEE-96B8-AB70-B1FE-230DDE2BDEA6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007C45-23EB-AA95-D84F-C6243C7F30FF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AE67CF-E154-E799-949F-2A719DB241F5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025DBF-795D-E0B2-324A-47DB008B5F54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9A057-5AD1-C193-A505-E53CBE4279DA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4511F39-9399-721F-B5C6-B09A3C44AA94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7879A6A-FFF8-6661-38F4-F94CEE38D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10DBA-0517-5220-22C0-6EFA2553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97746F-9AA0-1492-3E0E-CF331535020C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449CDF9-5642-41EB-D3C7-849D42B339CC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 (Hard Disk/SSD)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40AF1-B70D-60E3-D15A-86FCCBC73615}"/>
              </a:ext>
            </a:extLst>
          </p:cNvPr>
          <p:cNvSpPr txBox="1"/>
          <p:nvPr/>
        </p:nvSpPr>
        <p:spPr>
          <a:xfrm>
            <a:off x="486943" y="1231709"/>
            <a:ext cx="620946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Permanent storage 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files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Python code files (.</a:t>
            </a:r>
            <a:r>
              <a:rPr lang="en-US" sz="2000" dirty="0" err="1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are saved here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stays even when computer is off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Much larger but slower than RAM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Typical size: 256GB, 512GB, 1TB, 2TB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When you “save” code, it goes here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A777B3-0BF1-E68B-49ED-2F94844F5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102" b="89815" l="3740" r="96953">
                        <a14:foregroundMark x1="48338" y1="8333" x2="33102" y2="9259"/>
                        <a14:foregroundMark x1="8033" y1="44213" x2="8033" y2="50694"/>
                        <a14:foregroundMark x1="5263" y1="44213" x2="14820" y2="47685"/>
                        <a14:foregroundMark x1="14820" y1="47685" x2="14127" y2="51389"/>
                        <a14:foregroundMark x1="66759" y1="73843" x2="66759" y2="49769"/>
                        <a14:foregroundMark x1="62327" y1="32870" x2="70637" y2="31713"/>
                        <a14:foregroundMark x1="70637" y1="31713" x2="77701" y2="24769"/>
                        <a14:foregroundMark x1="77701" y1="24769" x2="84626" y2="18981"/>
                        <a14:foregroundMark x1="84626" y1="18981" x2="86842" y2="26852"/>
                        <a14:foregroundMark x1="77285" y1="15509" x2="88366" y2="12731"/>
                        <a14:foregroundMark x1="88366" y1="12731" x2="94737" y2="19676"/>
                        <a14:foregroundMark x1="94737" y1="19676" x2="91690" y2="34954"/>
                        <a14:foregroundMark x1="91690" y1="34954" x2="79640" y2="40509"/>
                        <a14:foregroundMark x1="79640" y1="40509" x2="77285" y2="36111"/>
                        <a14:foregroundMark x1="3740" y1="42361" x2="8726" y2="42593"/>
                        <a14:foregroundMark x1="96122" y1="16667" x2="96953" y2="29167"/>
                        <a14:foregroundMark x1="96953" y1="29167" x2="96260" y2="324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35" y="2528002"/>
            <a:ext cx="6878010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087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F048-CACF-7453-9ED5-626B330E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FCA1B9-416B-6856-65D8-DAEA4E374B75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24AEE9-4218-767D-C0F6-34ED5C2F22FD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848F2E45-899E-9A4B-CC64-E78C0A07E8B2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3E13FC9E-19EE-1A9D-3AA1-06F239C15FAE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7D25CAC-EF21-EA7D-60C1-8F759859CE96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FFFCFF8-DC69-9956-C633-263E045AB07E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12805AD-41BE-2D57-C9F4-44B430EE3F7C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01F848-F2BB-83CE-C60E-A195D76B4DFF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1D7F7F9-B780-D729-9599-0EC82FACF3AE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9930501-B299-6BE6-2E1A-D29FBD4FFF9A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5622F019-5440-B845-A76B-D290EBCDC40C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3ED9E00-A6C8-1CC7-D78E-120A7A104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FEA37-65F2-1EA2-76BC-002E8B8DB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66F4ABE-D882-48C8-B4F2-90DA5E0F1CCA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9049B5-3B16-9DF0-D6DF-742E2090E654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Connecting to Programming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0F058-1BC4-16C8-4FE2-C0B1621B226C}"/>
              </a:ext>
            </a:extLst>
          </p:cNvPr>
          <p:cNvSpPr txBox="1"/>
          <p:nvPr/>
        </p:nvSpPr>
        <p:spPr>
          <a:xfrm>
            <a:off x="486943" y="1231709"/>
            <a:ext cx="620946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happens when you run Python code: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Your code file is read from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storage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Loaded into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(memory)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GPU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executes instructions line by line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 shown as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</a:t>
            </a: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(screen/files)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 stored temporarily in </a:t>
            </a:r>
            <a:r>
              <a:rPr lang="en-US" sz="2000" dirty="0">
                <a:solidFill>
                  <a:srgbClr val="FFD43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RAM</a:t>
            </a:r>
          </a:p>
          <a:p>
            <a:pPr>
              <a:spcBef>
                <a:spcPts val="1200"/>
              </a:spcBef>
            </a:pPr>
            <a:r>
              <a:rPr lang="en-US" sz="20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what happens behind every program you write!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286AF9-70F1-4138-F0B3-E4700D77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185" y="4406007"/>
            <a:ext cx="1692230" cy="20217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015EDB-F24D-F437-EF3E-F5DE2D1DEB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86" y="4406007"/>
            <a:ext cx="1687767" cy="206721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19B9DE1-FF4E-86B3-1907-556045E79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85" y="1909275"/>
            <a:ext cx="1687768" cy="18752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862EEBE-B35B-496D-B66E-2E42D79032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483" y="1441097"/>
            <a:ext cx="1838582" cy="23434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EFCE83-7501-1489-D9CF-4815C210FE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85" y="1393029"/>
            <a:ext cx="1687768" cy="552527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AECD67A3-5528-35E5-8DCD-4797E5CF9610}"/>
              </a:ext>
            </a:extLst>
          </p:cNvPr>
          <p:cNvSpPr/>
          <p:nvPr/>
        </p:nvSpPr>
        <p:spPr>
          <a:xfrm>
            <a:off x="8263783" y="5344366"/>
            <a:ext cx="440935" cy="190494"/>
          </a:xfrm>
          <a:prstGeom prst="rightArrow">
            <a:avLst/>
          </a:prstGeom>
          <a:solidFill>
            <a:srgbClr val="244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172C27F-583B-BD41-6AA9-2A37C7DB2AAB}"/>
              </a:ext>
            </a:extLst>
          </p:cNvPr>
          <p:cNvSpPr/>
          <p:nvPr/>
        </p:nvSpPr>
        <p:spPr>
          <a:xfrm rot="16436544">
            <a:off x="9590501" y="4000044"/>
            <a:ext cx="440935" cy="190494"/>
          </a:xfrm>
          <a:prstGeom prst="rightArrow">
            <a:avLst/>
          </a:prstGeom>
          <a:solidFill>
            <a:srgbClr val="244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7FB4D089-F438-8599-91F8-1F9D7B086AFF}"/>
              </a:ext>
            </a:extLst>
          </p:cNvPr>
          <p:cNvSpPr/>
          <p:nvPr/>
        </p:nvSpPr>
        <p:spPr>
          <a:xfrm rot="10800000">
            <a:off x="8415336" y="2541058"/>
            <a:ext cx="440935" cy="190494"/>
          </a:xfrm>
          <a:prstGeom prst="rightArrow">
            <a:avLst/>
          </a:prstGeom>
          <a:solidFill>
            <a:srgbClr val="244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46099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C58B-FF32-B3EC-E12A-D50F18812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AE77C6-5422-CCA4-3E1F-BEC2D7E73D20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9D8603C-3180-3435-DACF-387A6D55C3EA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5D0F77BB-C2CC-F711-CF94-5B2CCB40EF83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D40AE3F9-29E4-8AD5-9340-D27B37CA1DD0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B4A22B-F3C1-1362-1A01-A3F8634F8A7A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518CAAF-17D7-6953-553F-6705A7A34F6A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491CFDC-2BE3-77FA-A363-6FFF50F5EF10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7D1ACE-43A1-BC41-4E6C-260574010C87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5BB8299-3A13-FCD7-7614-D615E037B5E6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D14DA7B-1515-DEF1-9A0C-3136CD1DF9A9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30F01FE4-6F0E-4BDB-43A4-9A909E8C73C7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513FE59-0C1D-D822-FAD7-5D1D7F5DA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23F71-FE62-F9C0-9B1A-1448DB2E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B9347F-FEE5-0D74-E029-5B9A844DF136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772E04-F6EF-5CC3-6864-E05E881C9C01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 and File Systems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F2215C1-B046-C5B4-2182-33274C43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09" y="1365117"/>
            <a:ext cx="10675721" cy="466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733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6B90-57DE-7C30-643A-2E26033A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6BEDE1-CE26-543B-14A4-3E3279463E89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DB26C8-DDFD-477F-5119-F58234903F99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75AF457C-0456-7A18-EE3C-D28578357899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7765D66F-DCC6-EDD0-F49A-2099CF0B5C08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08C768-0C31-9E8F-5BB0-CE665495AD6D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B5A18DDD-9206-C9FB-14CF-15347EEFB490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0D5CC6E-E398-D954-5B4E-F281031B4A27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0274E8B-E036-035B-7987-E3D6DE85AE16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525222-B5EC-D68D-4301-AADA2E8108E3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7CBDF7C-3FCA-E86B-32B6-1BD44E517398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A80174E-6F20-122D-DAE1-585C5DFAF9CA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61C9E0E-9C00-DFC8-26D1-ED6807DCD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BCD20-7501-3220-7111-9FED471A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B9A8D0-6763-D531-694A-9CC270CFDD2D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AA2E02-C4DC-837E-6A28-2F516F98BF0B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Programming Environment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7CEAB9-FF5B-20E3-52C4-6B5CCFD26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09" y="1188124"/>
            <a:ext cx="10675721" cy="497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414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1A4-533C-ADEC-621F-C561ACAAB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61F58B-687D-80AE-12BF-1B37451D34C2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081190-CA8B-B150-37CC-834AC206ACF6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089C1C80-D959-023D-2043-9159F7A84C9E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351BDD3D-11A6-2BAE-51BE-BE8CD4C17B42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AD8060F-B3AF-DEF6-A688-42F7D8841B7D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A755124-2977-A2D4-112E-602AC0D126CD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392E9B2-6567-38F2-8E8D-8B3D3744A65F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84FA979-69FF-28D8-166C-66A0A43976E3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D139BC-D561-1572-68C6-ECC9C8F56240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5DBF8D-5DC1-6035-B9F7-F0A3CC820878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3CA358BB-0E2F-DDB5-2D5F-1ED484D7C42E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DABBD60-1255-2968-2CF8-DE1B41ADA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E697B-13F8-6B80-CB7F-94CF2CDD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7695" y="6314010"/>
            <a:ext cx="1017270" cy="329366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7E80D-2A33-4E15-7D29-A3A714ED72FE}"/>
              </a:ext>
            </a:extLst>
          </p:cNvPr>
          <p:cNvCxnSpPr>
            <a:cxnSpLocks/>
          </p:cNvCxnSpPr>
          <p:nvPr/>
        </p:nvCxnSpPr>
        <p:spPr>
          <a:xfrm>
            <a:off x="499009" y="970794"/>
            <a:ext cx="10315676" cy="0"/>
          </a:xfrm>
          <a:prstGeom prst="line">
            <a:avLst/>
          </a:prstGeom>
          <a:ln w="28575">
            <a:solidFill>
              <a:srgbClr val="2446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345FC63-5EEF-6A2A-03B2-6700D5A1C7EC}"/>
              </a:ext>
            </a:extLst>
          </p:cNvPr>
          <p:cNvSpPr txBox="1"/>
          <p:nvPr/>
        </p:nvSpPr>
        <p:spPr>
          <a:xfrm>
            <a:off x="384502" y="379307"/>
            <a:ext cx="631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Computational Logic: The “Recipe”</a:t>
            </a:r>
            <a:endParaRPr lang="en-PK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016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272D-BCA9-A5E8-B3C2-052F3914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1B687B-8BDB-52E2-8BCE-93E406A7ED99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12700" y="-12700"/>
            <a:chExt cx="12204700" cy="68707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60551C-E497-CEB8-FEDC-B429DB81512E}"/>
                </a:ext>
              </a:extLst>
            </p:cNvPr>
            <p:cNvSpPr/>
            <p:nvPr/>
          </p:nvSpPr>
          <p:spPr>
            <a:xfrm>
              <a:off x="-12700" y="-12700"/>
              <a:ext cx="12204700" cy="68707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EE773862-CBAF-46D4-6B50-2722D454F1D4}"/>
                </a:ext>
              </a:extLst>
            </p:cNvPr>
            <p:cNvSpPr/>
            <p:nvPr/>
          </p:nvSpPr>
          <p:spPr>
            <a:xfrm>
              <a:off x="-9625" y="1234440"/>
              <a:ext cx="4206240" cy="5623560"/>
            </a:xfrm>
            <a:prstGeom prst="rtTriangle">
              <a:avLst/>
            </a:prstGeom>
            <a:solidFill>
              <a:srgbClr val="EDEE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E52890EF-C056-687C-B43A-9D4D76220376}"/>
                </a:ext>
              </a:extLst>
            </p:cNvPr>
            <p:cNvSpPr/>
            <p:nvPr/>
          </p:nvSpPr>
          <p:spPr>
            <a:xfrm rot="10800000" flipH="1">
              <a:off x="-9625" y="-11430"/>
              <a:ext cx="1518385" cy="2766060"/>
            </a:xfrm>
            <a:prstGeom prst="rtTriangle">
              <a:avLst/>
            </a:prstGeom>
            <a:solidFill>
              <a:srgbClr val="E1E1E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88834F-A63A-A303-3973-86BA2B03F87A}"/>
                </a:ext>
              </a:extLst>
            </p:cNvPr>
            <p:cNvSpPr/>
            <p:nvPr/>
          </p:nvSpPr>
          <p:spPr>
            <a:xfrm>
              <a:off x="-9626" y="6160770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DEC94EC-B98F-55EA-5CBC-F3F1F3B31A9F}"/>
                </a:ext>
              </a:extLst>
            </p:cNvPr>
            <p:cNvSpPr/>
            <p:nvPr/>
          </p:nvSpPr>
          <p:spPr>
            <a:xfrm>
              <a:off x="859054" y="6160770"/>
              <a:ext cx="1072616" cy="697230"/>
            </a:xfrm>
            <a:prstGeom prst="triangle">
              <a:avLst/>
            </a:prstGeom>
            <a:solidFill>
              <a:srgbClr val="CAD7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8BEAA91-8BAA-3A97-B017-74A4AE00DBED}"/>
                </a:ext>
              </a:extLst>
            </p:cNvPr>
            <p:cNvSpPr/>
            <p:nvPr/>
          </p:nvSpPr>
          <p:spPr>
            <a:xfrm>
              <a:off x="-9627" y="4179571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49E838-4677-287D-EFD4-228C70DA3414}"/>
                </a:ext>
              </a:extLst>
            </p:cNvPr>
            <p:cNvSpPr/>
            <p:nvPr/>
          </p:nvSpPr>
          <p:spPr>
            <a:xfrm>
              <a:off x="11174730" y="-11431"/>
              <a:ext cx="1017270" cy="697230"/>
            </a:xfrm>
            <a:prstGeom prst="rect">
              <a:avLst/>
            </a:prstGeom>
            <a:solidFill>
              <a:srgbClr val="F0DC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2EEBF8-1F0F-76E6-2433-62BC73928948}"/>
                </a:ext>
              </a:extLst>
            </p:cNvPr>
            <p:cNvSpPr/>
            <p:nvPr/>
          </p:nvSpPr>
          <p:spPr>
            <a:xfrm>
              <a:off x="11814073" y="337183"/>
              <a:ext cx="377927" cy="2299122"/>
            </a:xfrm>
            <a:custGeom>
              <a:avLst/>
              <a:gdLst>
                <a:gd name="csX0" fmla="*/ 0 w 422910"/>
                <a:gd name="csY0" fmla="*/ 0 h 1874520"/>
                <a:gd name="csX1" fmla="*/ 422910 w 422910"/>
                <a:gd name="csY1" fmla="*/ 411480 h 1874520"/>
                <a:gd name="csX2" fmla="*/ 422910 w 422910"/>
                <a:gd name="csY2" fmla="*/ 1874520 h 1874520"/>
                <a:gd name="csX3" fmla="*/ 0 w 422910"/>
                <a:gd name="csY3" fmla="*/ 1463040 h 1874520"/>
                <a:gd name="csX4" fmla="*/ 0 w 422910"/>
                <a:gd name="csY4" fmla="*/ 411480 h 1874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2910" h="1874520">
                  <a:moveTo>
                    <a:pt x="0" y="0"/>
                  </a:moveTo>
                  <a:lnTo>
                    <a:pt x="422910" y="411480"/>
                  </a:lnTo>
                  <a:lnTo>
                    <a:pt x="422910" y="1874520"/>
                  </a:lnTo>
                  <a:lnTo>
                    <a:pt x="0" y="146304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D8E0E3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02C002-2A26-11B8-C540-E5A2D8FF6A65}"/>
                </a:ext>
              </a:extLst>
            </p:cNvPr>
            <p:cNvSpPr/>
            <p:nvPr/>
          </p:nvSpPr>
          <p:spPr>
            <a:xfrm>
              <a:off x="9946530" y="-11431"/>
              <a:ext cx="1228200" cy="431800"/>
            </a:xfrm>
            <a:custGeom>
              <a:avLst/>
              <a:gdLst>
                <a:gd name="csX0" fmla="*/ 0 w 1228200"/>
                <a:gd name="csY0" fmla="*/ 0 h 431800"/>
                <a:gd name="csX1" fmla="*/ 389467 w 1228200"/>
                <a:gd name="csY1" fmla="*/ 0 h 431800"/>
                <a:gd name="csX2" fmla="*/ 778933 w 1228200"/>
                <a:gd name="csY2" fmla="*/ 0 h 431800"/>
                <a:gd name="csX3" fmla="*/ 1228200 w 1228200"/>
                <a:gd name="csY3" fmla="*/ 0 h 431800"/>
                <a:gd name="csX4" fmla="*/ 1228200 w 1228200"/>
                <a:gd name="csY4" fmla="*/ 431800 h 431800"/>
                <a:gd name="csX5" fmla="*/ 389467 w 1228200"/>
                <a:gd name="csY5" fmla="*/ 431800 h 431800"/>
                <a:gd name="csX6" fmla="*/ 389467 w 1228200"/>
                <a:gd name="csY6" fmla="*/ 431799 h 431800"/>
                <a:gd name="csX7" fmla="*/ 389466 w 1228200"/>
                <a:gd name="csY7" fmla="*/ 431800 h 431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28200" h="431800">
                  <a:moveTo>
                    <a:pt x="0" y="0"/>
                  </a:moveTo>
                  <a:lnTo>
                    <a:pt x="389467" y="0"/>
                  </a:lnTo>
                  <a:lnTo>
                    <a:pt x="778933" y="0"/>
                  </a:lnTo>
                  <a:lnTo>
                    <a:pt x="1228200" y="0"/>
                  </a:lnTo>
                  <a:lnTo>
                    <a:pt x="1228200" y="431800"/>
                  </a:lnTo>
                  <a:lnTo>
                    <a:pt x="389467" y="431800"/>
                  </a:lnTo>
                  <a:lnTo>
                    <a:pt x="389467" y="431799"/>
                  </a:lnTo>
                  <a:lnTo>
                    <a:pt x="389466" y="431800"/>
                  </a:lnTo>
                  <a:close/>
                </a:path>
              </a:pathLst>
            </a:custGeom>
            <a:solidFill>
              <a:srgbClr val="D4DCE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K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A44C128B-C981-7310-B73A-187A0B40D071}"/>
                </a:ext>
              </a:extLst>
            </p:cNvPr>
            <p:cNvSpPr/>
            <p:nvPr/>
          </p:nvSpPr>
          <p:spPr>
            <a:xfrm rot="10800000">
              <a:off x="9525535" y="-11432"/>
              <a:ext cx="1072616" cy="697230"/>
            </a:xfrm>
            <a:prstGeom prst="triangle">
              <a:avLst/>
            </a:prstGeom>
            <a:solidFill>
              <a:srgbClr val="CAD7E1">
                <a:alpha val="5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2B92B86-AAFF-6CA4-164F-FC4435CFA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6374" y="324603"/>
              <a:ext cx="798591" cy="798591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316DE-CB6F-88D0-596B-6B59C6C0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7008" y="6302104"/>
            <a:ext cx="517957" cy="353178"/>
          </a:xfrm>
        </p:spPr>
        <p:txBody>
          <a:bodyPr/>
          <a:lstStyle/>
          <a:p>
            <a:fld id="{C7E4D804-FA03-4B4E-935D-ADBDA903953D}" type="slidenum">
              <a:rPr lang="en-PK" sz="14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</a:t>
            </a:fld>
            <a:endParaRPr lang="en-PK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11252-508F-209E-A637-0A028EFEA858}"/>
              </a:ext>
            </a:extLst>
          </p:cNvPr>
          <p:cNvSpPr txBox="1"/>
          <p:nvPr/>
        </p:nvSpPr>
        <p:spPr>
          <a:xfrm>
            <a:off x="4119880" y="2514501"/>
            <a:ext cx="3952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  <a:endParaRPr lang="en-PK" sz="2000" b="1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D5771-A231-DF24-D189-F8C45B3C9E0C}"/>
              </a:ext>
            </a:extLst>
          </p:cNvPr>
          <p:cNvSpPr txBox="1"/>
          <p:nvPr/>
        </p:nvSpPr>
        <p:spPr>
          <a:xfrm>
            <a:off x="5563897" y="3429000"/>
            <a:ext cx="105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Ask!</a:t>
            </a:r>
            <a:endParaRPr lang="en-PK" sz="24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80082-4C8D-10EB-1520-ABFB835C56CF}"/>
              </a:ext>
            </a:extLst>
          </p:cNvPr>
          <p:cNvSpPr txBox="1"/>
          <p:nvPr/>
        </p:nvSpPr>
        <p:spPr>
          <a:xfrm>
            <a:off x="1373403" y="3948738"/>
            <a:ext cx="9432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art and science of asking questions is the source of knowledge.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6F3C5-3E1A-7DCE-954B-71562467AEFD}"/>
              </a:ext>
            </a:extLst>
          </p:cNvPr>
          <p:cNvSpPr txBox="1"/>
          <p:nvPr/>
        </p:nvSpPr>
        <p:spPr>
          <a:xfrm>
            <a:off x="4921070" y="4363948"/>
            <a:ext cx="2426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2446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Thomas Berger</a:t>
            </a:r>
            <a:endParaRPr lang="en-PK" sz="2000" dirty="0">
              <a:solidFill>
                <a:srgbClr val="2446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40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790</Words>
  <Application>Microsoft Office PowerPoint</Application>
  <PresentationFormat>Widescreen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Abbas</dc:creator>
  <cp:lastModifiedBy>Muhammad Abbas</cp:lastModifiedBy>
  <cp:revision>31</cp:revision>
  <dcterms:created xsi:type="dcterms:W3CDTF">2026-02-12T18:53:45Z</dcterms:created>
  <dcterms:modified xsi:type="dcterms:W3CDTF">2026-02-15T19:10:34Z</dcterms:modified>
</cp:coreProperties>
</file>