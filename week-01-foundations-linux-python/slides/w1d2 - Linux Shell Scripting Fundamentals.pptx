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292840" y="0"/>
            <a:ext cx="899160" cy="6858000"/>
          </a:xfrm>
          <a:custGeom>
            <a:avLst/>
            <a:gdLst/>
            <a:ahLst/>
            <a:cxnLst/>
            <a:rect l="l" t="t" r="r" b="b"/>
            <a:pathLst>
              <a:path w="899159" h="6858000">
                <a:moveTo>
                  <a:pt x="0" y="0"/>
                </a:moveTo>
                <a:lnTo>
                  <a:pt x="0" y="6858000"/>
                </a:lnTo>
                <a:lnTo>
                  <a:pt x="899159" y="6858000"/>
                </a:lnTo>
                <a:lnTo>
                  <a:pt x="899159" y="0"/>
                </a:lnTo>
                <a:lnTo>
                  <a:pt x="0" y="0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5429250" cy="6858000"/>
          </a:xfrm>
          <a:custGeom>
            <a:avLst/>
            <a:gdLst/>
            <a:ahLst/>
            <a:cxnLst/>
            <a:rect l="l" t="t" r="r" b="b"/>
            <a:pathLst>
              <a:path w="5429250" h="6858000">
                <a:moveTo>
                  <a:pt x="5429250" y="0"/>
                </a:moveTo>
                <a:lnTo>
                  <a:pt x="0" y="0"/>
                </a:lnTo>
                <a:lnTo>
                  <a:pt x="0" y="6858000"/>
                </a:lnTo>
                <a:lnTo>
                  <a:pt x="5429250" y="6858000"/>
                </a:lnTo>
                <a:lnTo>
                  <a:pt x="5429250" y="0"/>
                </a:lnTo>
                <a:close/>
              </a:path>
            </a:pathLst>
          </a:custGeom>
          <a:solidFill>
            <a:srgbClr val="A7B7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5429250" cy="6858000"/>
          </a:xfrm>
          <a:custGeom>
            <a:avLst/>
            <a:gdLst/>
            <a:ahLst/>
            <a:cxnLst/>
            <a:rect l="l" t="t" r="r" b="b"/>
            <a:pathLst>
              <a:path w="5429250" h="6858000">
                <a:moveTo>
                  <a:pt x="0" y="6858000"/>
                </a:moveTo>
                <a:lnTo>
                  <a:pt x="5429250" y="6858000"/>
                </a:lnTo>
                <a:lnTo>
                  <a:pt x="542925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7145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292840" y="0"/>
            <a:ext cx="899160" cy="6858000"/>
          </a:xfrm>
          <a:custGeom>
            <a:avLst/>
            <a:gdLst/>
            <a:ahLst/>
            <a:cxnLst/>
            <a:rect l="l" t="t" r="r" b="b"/>
            <a:pathLst>
              <a:path w="899159" h="6858000">
                <a:moveTo>
                  <a:pt x="0" y="0"/>
                </a:moveTo>
                <a:lnTo>
                  <a:pt x="0" y="6858000"/>
                </a:lnTo>
                <a:lnTo>
                  <a:pt x="899159" y="6858000"/>
                </a:lnTo>
                <a:lnTo>
                  <a:pt x="899159" y="0"/>
                </a:lnTo>
                <a:lnTo>
                  <a:pt x="0" y="0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0866" y="348488"/>
            <a:ext cx="9510267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17612" y="1822450"/>
            <a:ext cx="8683625" cy="400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hyperlink" Target="https://code.visualstudio.com/download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12" Type="http://schemas.openxmlformats.org/officeDocument/2006/relationships/image" Target="../media/image20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jpg"/><Relationship Id="rId9" Type="http://schemas.openxmlformats.org/officeDocument/2006/relationships/image" Target="../media/image17.jpg"/><Relationship Id="rId1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" y="0"/>
              <a:ext cx="11734800" cy="6858000"/>
            </a:xfrm>
            <a:custGeom>
              <a:avLst/>
              <a:gdLst/>
              <a:ahLst/>
              <a:cxnLst/>
              <a:rect l="l" t="t" r="r" b="b"/>
              <a:pathLst>
                <a:path w="11734800" h="6858000">
                  <a:moveTo>
                    <a:pt x="0" y="6858000"/>
                  </a:moveTo>
                  <a:lnTo>
                    <a:pt x="11734800" y="6858000"/>
                  </a:lnTo>
                  <a:lnTo>
                    <a:pt x="117348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53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6858000"/>
            </a:xfrm>
            <a:custGeom>
              <a:avLst/>
              <a:gdLst/>
              <a:ahLst/>
              <a:cxnLst/>
              <a:rect l="l" t="t" r="r" b="b"/>
              <a:pathLst>
                <a:path w="457200" h="6858000">
                  <a:moveTo>
                    <a:pt x="457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" y="68580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31032" y="2262073"/>
            <a:ext cx="6337935" cy="13119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" algn="ctr">
              <a:lnSpc>
                <a:spcPts val="4795"/>
              </a:lnSpc>
              <a:spcBef>
                <a:spcPts val="95"/>
              </a:spcBef>
            </a:pPr>
            <a:r>
              <a:rPr lang="en-US" sz="4000" spc="-25" dirty="0">
                <a:solidFill>
                  <a:srgbClr val="FFFFFF"/>
                </a:solidFill>
                <a:latin typeface="Tahoma"/>
                <a:cs typeface="Tahoma"/>
              </a:rPr>
              <a:t>Spring</a:t>
            </a:r>
            <a:r>
              <a:rPr sz="40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40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spc="-20" dirty="0">
                <a:solidFill>
                  <a:srgbClr val="FFFFFF"/>
                </a:solidFill>
                <a:latin typeface="Tahoma"/>
                <a:cs typeface="Tahoma"/>
              </a:rPr>
              <a:t>Code</a:t>
            </a:r>
            <a:endParaRPr sz="4000" dirty="0">
              <a:latin typeface="Tahoma"/>
              <a:cs typeface="Tahoma"/>
            </a:endParaRPr>
          </a:p>
          <a:p>
            <a:pPr algn="ctr">
              <a:lnSpc>
                <a:spcPts val="5755"/>
              </a:lnSpc>
            </a:pPr>
            <a:r>
              <a:rPr sz="4800" b="1" spc="-45" dirty="0">
                <a:solidFill>
                  <a:srgbClr val="FFFFFF"/>
                </a:solidFill>
                <a:latin typeface="Tahoma"/>
                <a:cs typeface="Tahoma"/>
              </a:rPr>
              <a:t>Artificial</a:t>
            </a:r>
            <a:r>
              <a:rPr sz="4800" b="1" spc="-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800" b="1" spc="-25" dirty="0">
                <a:solidFill>
                  <a:srgbClr val="FFFFFF"/>
                </a:solidFill>
                <a:latin typeface="Tahoma"/>
                <a:cs typeface="Tahoma"/>
              </a:rPr>
              <a:t>Intelligence</a:t>
            </a:r>
            <a:endParaRPr sz="48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4545" y="3603752"/>
            <a:ext cx="80511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>
                <a:solidFill>
                  <a:srgbClr val="FFFFFF"/>
                </a:solidFill>
                <a:latin typeface="Tahoma"/>
                <a:cs typeface="Tahoma"/>
              </a:rPr>
              <a:t>(Machine</a:t>
            </a:r>
            <a:r>
              <a:rPr sz="40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spc="-35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40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40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FFFFFF"/>
                </a:solidFill>
                <a:latin typeface="Tahoma"/>
                <a:cs typeface="Tahoma"/>
              </a:rPr>
              <a:t>Deep</a:t>
            </a:r>
            <a:r>
              <a:rPr sz="40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Tahoma"/>
                <a:cs typeface="Tahoma"/>
              </a:rPr>
              <a:t>Learning)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5833" y="4706239"/>
            <a:ext cx="383540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95"/>
              </a:spcBef>
            </a:pPr>
            <a:r>
              <a:rPr sz="2200" spc="-10" dirty="0">
                <a:solidFill>
                  <a:srgbClr val="BEBEBE"/>
                </a:solidFill>
                <a:latin typeface="Tahoma"/>
                <a:cs typeface="Tahoma"/>
              </a:rPr>
              <a:t>Instructor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ts val="2460"/>
              </a:lnSpc>
            </a:pPr>
            <a:r>
              <a:rPr lang="en-US" sz="2200" b="1" dirty="0">
                <a:solidFill>
                  <a:srgbClr val="BEBEBE"/>
                </a:solidFill>
                <a:latin typeface="Tahoma"/>
                <a:cs typeface="Tahoma"/>
              </a:rPr>
              <a:t>Asad</a:t>
            </a:r>
            <a:r>
              <a:rPr sz="2200" b="1" spc="1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BEBEBE"/>
                </a:solidFill>
                <a:latin typeface="Tahoma"/>
                <a:cs typeface="Tahoma"/>
              </a:rPr>
              <a:t>U</a:t>
            </a:r>
            <a:r>
              <a:rPr lang="en-US" sz="2200" b="1" spc="-10" dirty="0">
                <a:solidFill>
                  <a:srgbClr val="BEBEBE"/>
                </a:solidFill>
                <a:latin typeface="Tahoma"/>
                <a:cs typeface="Tahoma"/>
              </a:rPr>
              <a:t>llah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ts val="2645"/>
              </a:lnSpc>
            </a:pPr>
            <a:r>
              <a:rPr sz="2200" b="1" dirty="0">
                <a:solidFill>
                  <a:srgbClr val="BEBEBE"/>
                </a:solidFill>
                <a:latin typeface="Tahoma"/>
                <a:cs typeface="Tahoma"/>
              </a:rPr>
              <a:t>-</a:t>
            </a:r>
            <a:r>
              <a:rPr sz="2200" b="1" spc="-2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300" i="1" spc="-45" dirty="0">
                <a:solidFill>
                  <a:srgbClr val="BEBEBE"/>
                </a:solidFill>
                <a:latin typeface="Tahoma"/>
                <a:cs typeface="Tahoma"/>
              </a:rPr>
              <a:t>Research</a:t>
            </a:r>
            <a:r>
              <a:rPr sz="2300" i="1" spc="-7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300" i="1" spc="-35" dirty="0">
                <a:solidFill>
                  <a:srgbClr val="BEBEBE"/>
                </a:solidFill>
                <a:latin typeface="Tahoma"/>
                <a:cs typeface="Tahoma"/>
              </a:rPr>
              <a:t>Assistant</a:t>
            </a:r>
            <a:r>
              <a:rPr sz="2300" i="1" spc="-7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BEBEBE"/>
                </a:solidFill>
                <a:latin typeface="Tahoma"/>
                <a:cs typeface="Tahoma"/>
              </a:rPr>
              <a:t>(DIP</a:t>
            </a:r>
            <a:r>
              <a:rPr sz="2200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BEBEBE"/>
                </a:solidFill>
                <a:latin typeface="Tahoma"/>
                <a:cs typeface="Tahoma"/>
              </a:rPr>
              <a:t>Lab)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41132" y="4706239"/>
            <a:ext cx="3183890" cy="99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2575"/>
              </a:lnSpc>
              <a:spcBef>
                <a:spcPts val="95"/>
              </a:spcBef>
            </a:pPr>
            <a:r>
              <a:rPr sz="2200" spc="-10" dirty="0">
                <a:solidFill>
                  <a:srgbClr val="BEBEBE"/>
                </a:solidFill>
                <a:latin typeface="Tahoma"/>
                <a:cs typeface="Tahoma"/>
              </a:rPr>
              <a:t>Duration</a:t>
            </a:r>
            <a:endParaRPr sz="2200" dirty="0">
              <a:latin typeface="Tahoma"/>
              <a:cs typeface="Tahoma"/>
            </a:endParaRPr>
          </a:p>
          <a:p>
            <a:pPr marR="5080" algn="r">
              <a:lnSpc>
                <a:spcPts val="2510"/>
              </a:lnSpc>
            </a:pPr>
            <a:r>
              <a:rPr sz="2200" b="1" dirty="0">
                <a:solidFill>
                  <a:srgbClr val="BEBEBE"/>
                </a:solidFill>
                <a:latin typeface="Tahoma"/>
                <a:cs typeface="Tahoma"/>
              </a:rPr>
              <a:t>03</a:t>
            </a:r>
            <a:r>
              <a:rPr sz="2200" b="1" spc="-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BEBEBE"/>
                </a:solidFill>
                <a:latin typeface="Tahoma"/>
                <a:cs typeface="Tahoma"/>
              </a:rPr>
              <a:t>Months</a:t>
            </a:r>
            <a:endParaRPr sz="2200" dirty="0">
              <a:latin typeface="Tahoma"/>
              <a:cs typeface="Tahoma"/>
            </a:endParaRPr>
          </a:p>
          <a:p>
            <a:pPr marR="5080" algn="r">
              <a:lnSpc>
                <a:spcPts val="2575"/>
              </a:lnSpc>
            </a:pPr>
            <a:r>
              <a:rPr sz="2200" dirty="0">
                <a:solidFill>
                  <a:srgbClr val="BEBEBE"/>
                </a:solidFill>
                <a:latin typeface="Tahoma"/>
                <a:cs typeface="Tahoma"/>
              </a:rPr>
              <a:t>(</a:t>
            </a:r>
            <a:r>
              <a:rPr lang="en-US" sz="2200" dirty="0">
                <a:solidFill>
                  <a:srgbClr val="BEBEBE"/>
                </a:solidFill>
                <a:latin typeface="Tahoma"/>
                <a:cs typeface="Tahoma"/>
              </a:rPr>
              <a:t>February</a:t>
            </a:r>
            <a:r>
              <a:rPr sz="2200" spc="4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BEBEBE"/>
                </a:solidFill>
                <a:latin typeface="Tahoma"/>
                <a:cs typeface="Tahoma"/>
              </a:rPr>
              <a:t>–</a:t>
            </a:r>
            <a:r>
              <a:rPr sz="2200" spc="1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lang="en-US" sz="2200" spc="-10" dirty="0">
                <a:solidFill>
                  <a:srgbClr val="BEBEBE"/>
                </a:solidFill>
                <a:latin typeface="Tahoma"/>
                <a:cs typeface="Tahoma"/>
              </a:rPr>
              <a:t>April</a:t>
            </a:r>
            <a:r>
              <a:rPr sz="2200" spc="-10" dirty="0">
                <a:solidFill>
                  <a:srgbClr val="BEBEBE"/>
                </a:solidFill>
                <a:latin typeface="Tahoma"/>
                <a:cs typeface="Tahoma"/>
              </a:rPr>
              <a:t>)</a:t>
            </a:r>
            <a:endParaRPr sz="2200" dirty="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4094" y="72517"/>
            <a:ext cx="1543811" cy="2152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18253" y="1022730"/>
            <a:ext cx="620077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b="1" spc="-10" dirty="0">
                <a:latin typeface="Segoe UI"/>
                <a:cs typeface="Segoe UI"/>
              </a:rPr>
              <a:t>Day</a:t>
            </a:r>
            <a:r>
              <a:rPr sz="3600" b="1" spc="-200" dirty="0">
                <a:latin typeface="Segoe UI"/>
                <a:cs typeface="Segoe UI"/>
              </a:rPr>
              <a:t> </a:t>
            </a:r>
            <a:r>
              <a:rPr sz="3600" b="1" dirty="0">
                <a:latin typeface="Segoe UI"/>
                <a:cs typeface="Segoe UI"/>
              </a:rPr>
              <a:t>02</a:t>
            </a:r>
            <a:r>
              <a:rPr sz="3600" b="1" spc="-175" dirty="0">
                <a:latin typeface="Segoe UI"/>
                <a:cs typeface="Segoe UI"/>
              </a:rPr>
              <a:t> </a:t>
            </a:r>
            <a:r>
              <a:rPr sz="3600" b="1" dirty="0">
                <a:latin typeface="Segoe UI"/>
                <a:cs typeface="Segoe UI"/>
              </a:rPr>
              <a:t>–</a:t>
            </a:r>
            <a:r>
              <a:rPr sz="3600" b="1" spc="-190" dirty="0">
                <a:latin typeface="Segoe UI"/>
                <a:cs typeface="Segoe UI"/>
              </a:rPr>
              <a:t> </a:t>
            </a:r>
            <a:r>
              <a:rPr sz="3600" b="1" spc="-25" dirty="0">
                <a:latin typeface="Segoe UI"/>
                <a:cs typeface="Segoe UI"/>
              </a:rPr>
              <a:t>Linux</a:t>
            </a:r>
            <a:r>
              <a:rPr sz="3600" b="1" spc="-190" dirty="0">
                <a:latin typeface="Segoe UI"/>
                <a:cs typeface="Segoe UI"/>
              </a:rPr>
              <a:t> </a:t>
            </a:r>
            <a:r>
              <a:rPr sz="3600" b="1" spc="-30" dirty="0">
                <a:latin typeface="Segoe UI"/>
                <a:cs typeface="Segoe UI"/>
              </a:rPr>
              <a:t>Shell</a:t>
            </a:r>
            <a:r>
              <a:rPr sz="3600" b="1" spc="-200" dirty="0">
                <a:latin typeface="Segoe UI"/>
                <a:cs typeface="Segoe UI"/>
              </a:rPr>
              <a:t> </a:t>
            </a:r>
            <a:r>
              <a:rPr sz="3600" b="1" spc="-30" dirty="0">
                <a:latin typeface="Segoe UI"/>
                <a:cs typeface="Segoe UI"/>
              </a:rPr>
              <a:t>Scripting </a:t>
            </a:r>
            <a:r>
              <a:rPr sz="3600" b="1" spc="-10" dirty="0">
                <a:latin typeface="Segoe UI"/>
                <a:cs typeface="Segoe UI"/>
              </a:rPr>
              <a:t>Fundamentals</a:t>
            </a:r>
            <a:endParaRPr sz="3600">
              <a:latin typeface="Segoe UI"/>
              <a:cs typeface="Segoe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18253" y="2317350"/>
            <a:ext cx="4511675" cy="38798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400" b="1" spc="-10" dirty="0">
                <a:latin typeface="Segoe UI"/>
                <a:cs typeface="Segoe UI"/>
              </a:rPr>
              <a:t>Objectives:</a:t>
            </a:r>
            <a:endParaRPr sz="2400">
              <a:latin typeface="Segoe UI"/>
              <a:cs typeface="Segoe UI"/>
            </a:endParaRPr>
          </a:p>
          <a:p>
            <a:pPr marL="194310" indent="-181610">
              <a:lnSpc>
                <a:spcPct val="100000"/>
              </a:lnSpc>
              <a:spcBef>
                <a:spcPts val="1455"/>
              </a:spcBef>
              <a:buClr>
                <a:srgbClr val="6E6E74"/>
              </a:buClr>
              <a:buSzPct val="79166"/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Segoe UI"/>
                <a:cs typeface="Segoe UI"/>
              </a:rPr>
              <a:t>Introduction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to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Computer?</a:t>
            </a:r>
            <a:endParaRPr sz="2400">
              <a:latin typeface="Segoe UI"/>
              <a:cs typeface="Segoe UI"/>
            </a:endParaRPr>
          </a:p>
          <a:p>
            <a:pPr marL="194310" indent="-181610">
              <a:lnSpc>
                <a:spcPct val="100000"/>
              </a:lnSpc>
              <a:spcBef>
                <a:spcPts val="1455"/>
              </a:spcBef>
              <a:buClr>
                <a:srgbClr val="6E6E74"/>
              </a:buClr>
              <a:buSzPct val="79166"/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Segoe UI"/>
                <a:cs typeface="Segoe UI"/>
              </a:rPr>
              <a:t>Introduction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to</a:t>
            </a:r>
            <a:r>
              <a:rPr sz="2400" spc="-10" dirty="0">
                <a:latin typeface="Segoe UI"/>
                <a:cs typeface="Segoe UI"/>
              </a:rPr>
              <a:t> Programming</a:t>
            </a:r>
            <a:endParaRPr sz="2400">
              <a:latin typeface="Segoe UI"/>
              <a:cs typeface="Segoe UI"/>
            </a:endParaRPr>
          </a:p>
          <a:p>
            <a:pPr marL="194310" indent="-181610">
              <a:lnSpc>
                <a:spcPct val="100000"/>
              </a:lnSpc>
              <a:spcBef>
                <a:spcPts val="1465"/>
              </a:spcBef>
              <a:buClr>
                <a:srgbClr val="6E6E74"/>
              </a:buClr>
              <a:buSzPct val="79166"/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Segoe UI"/>
                <a:cs typeface="Segoe UI"/>
              </a:rPr>
              <a:t>Introduction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to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spc="-25" dirty="0">
                <a:latin typeface="Segoe UI"/>
                <a:cs typeface="Segoe UI"/>
              </a:rPr>
              <a:t>OS</a:t>
            </a:r>
            <a:endParaRPr sz="2400">
              <a:latin typeface="Segoe UI"/>
              <a:cs typeface="Segoe UI"/>
            </a:endParaRPr>
          </a:p>
          <a:p>
            <a:pPr marL="194310" indent="-181610">
              <a:lnSpc>
                <a:spcPct val="100000"/>
              </a:lnSpc>
              <a:spcBef>
                <a:spcPts val="1450"/>
              </a:spcBef>
              <a:buClr>
                <a:srgbClr val="6E6E74"/>
              </a:buClr>
              <a:buSzPct val="79166"/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Segoe UI"/>
                <a:cs typeface="Segoe UI"/>
              </a:rPr>
              <a:t>What is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an</a:t>
            </a:r>
            <a:r>
              <a:rPr sz="2400" spc="2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Interface?</a:t>
            </a:r>
            <a:endParaRPr sz="2400">
              <a:latin typeface="Segoe UI"/>
              <a:cs typeface="Segoe UI"/>
            </a:endParaRPr>
          </a:p>
          <a:p>
            <a:pPr marL="194310" indent="-181610">
              <a:lnSpc>
                <a:spcPct val="100000"/>
              </a:lnSpc>
              <a:spcBef>
                <a:spcPts val="1455"/>
              </a:spcBef>
              <a:buClr>
                <a:srgbClr val="6E6E74"/>
              </a:buClr>
              <a:buSzPct val="79166"/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Segoe UI"/>
                <a:cs typeface="Segoe UI"/>
              </a:rPr>
              <a:t>Core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Commands</a:t>
            </a:r>
            <a:endParaRPr sz="2400">
              <a:latin typeface="Segoe UI"/>
              <a:cs typeface="Segoe UI"/>
            </a:endParaRPr>
          </a:p>
          <a:p>
            <a:pPr marL="194310" indent="-181610">
              <a:lnSpc>
                <a:spcPct val="100000"/>
              </a:lnSpc>
              <a:spcBef>
                <a:spcPts val="1465"/>
              </a:spcBef>
              <a:buClr>
                <a:srgbClr val="6E6E74"/>
              </a:buClr>
              <a:buSzPct val="79166"/>
              <a:buFont typeface="Arial"/>
              <a:buChar char="•"/>
              <a:tabLst>
                <a:tab pos="194310" algn="l"/>
              </a:tabLst>
            </a:pPr>
            <a:r>
              <a:rPr sz="2400" dirty="0">
                <a:latin typeface="Segoe UI"/>
                <a:cs typeface="Segoe UI"/>
              </a:rPr>
              <a:t>Setting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Up</a:t>
            </a:r>
            <a:r>
              <a:rPr sz="2400" spc="1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Python and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VS</a:t>
            </a:r>
            <a:r>
              <a:rPr sz="2400" spc="15" dirty="0">
                <a:latin typeface="Segoe UI"/>
                <a:cs typeface="Segoe UI"/>
              </a:rPr>
              <a:t> </a:t>
            </a:r>
            <a:r>
              <a:rPr sz="2400" spc="-20" dirty="0">
                <a:latin typeface="Segoe UI"/>
                <a:cs typeface="Segoe UI"/>
              </a:rPr>
              <a:t>Code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"/>
            <a:ext cx="3581361" cy="68578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226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Segoe UI"/>
                <a:cs typeface="Segoe UI"/>
              </a:rPr>
              <a:t>What</a:t>
            </a:r>
            <a:r>
              <a:rPr b="1" spc="-190" dirty="0">
                <a:latin typeface="Segoe UI"/>
                <a:cs typeface="Segoe UI"/>
              </a:rPr>
              <a:t> </a:t>
            </a:r>
            <a:r>
              <a:rPr b="1" dirty="0">
                <a:latin typeface="Segoe UI"/>
                <a:cs typeface="Segoe UI"/>
              </a:rPr>
              <a:t>is</a:t>
            </a:r>
            <a:r>
              <a:rPr b="1" spc="-165" dirty="0">
                <a:latin typeface="Segoe UI"/>
                <a:cs typeface="Segoe UI"/>
              </a:rPr>
              <a:t> </a:t>
            </a:r>
            <a:r>
              <a:rPr b="1" dirty="0">
                <a:latin typeface="Segoe UI"/>
                <a:cs typeface="Segoe UI"/>
              </a:rPr>
              <a:t>a</a:t>
            </a:r>
            <a:r>
              <a:rPr b="1" spc="-180" dirty="0">
                <a:latin typeface="Segoe UI"/>
                <a:cs typeface="Segoe UI"/>
              </a:rPr>
              <a:t> </a:t>
            </a:r>
            <a:r>
              <a:rPr b="1" spc="-40" dirty="0">
                <a:latin typeface="Segoe UI"/>
                <a:cs typeface="Segoe UI"/>
              </a:rPr>
              <a:t>Computer?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" cy="6858000"/>
          </a:xfrm>
          <a:custGeom>
            <a:avLst/>
            <a:gdLst/>
            <a:ahLst/>
            <a:cxnLst/>
            <a:rect l="l" t="t" r="r" b="b"/>
            <a:pathLst>
              <a:path w="914400" h="6858000">
                <a:moveTo>
                  <a:pt x="9144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" y="6858000"/>
                </a:lnTo>
                <a:lnTo>
                  <a:pt x="914400" y="0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763756" y="0"/>
            <a:ext cx="428625" cy="6858000"/>
          </a:xfrm>
          <a:custGeom>
            <a:avLst/>
            <a:gdLst/>
            <a:ahLst/>
            <a:cxnLst/>
            <a:rect l="l" t="t" r="r" b="b"/>
            <a:pathLst>
              <a:path w="428625" h="6858000">
                <a:moveTo>
                  <a:pt x="0" y="0"/>
                </a:moveTo>
                <a:lnTo>
                  <a:pt x="0" y="6858000"/>
                </a:lnTo>
                <a:lnTo>
                  <a:pt x="428243" y="6858000"/>
                </a:lnTo>
                <a:lnTo>
                  <a:pt x="428243" y="0"/>
                </a:lnTo>
                <a:lnTo>
                  <a:pt x="0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262062" y="2013076"/>
            <a:ext cx="9858375" cy="4201795"/>
            <a:chOff x="1262062" y="2013076"/>
            <a:chExt cx="9858375" cy="4201795"/>
          </a:xfrm>
        </p:grpSpPr>
        <p:sp>
          <p:nvSpPr>
            <p:cNvPr id="6" name="object 6"/>
            <p:cNvSpPr/>
            <p:nvPr/>
          </p:nvSpPr>
          <p:spPr>
            <a:xfrm>
              <a:off x="1262062" y="2013076"/>
              <a:ext cx="7886700" cy="924560"/>
            </a:xfrm>
            <a:custGeom>
              <a:avLst/>
              <a:gdLst/>
              <a:ahLst/>
              <a:cxnLst/>
              <a:rect l="l" t="t" r="r" b="b"/>
              <a:pathLst>
                <a:path w="7886700" h="924560">
                  <a:moveTo>
                    <a:pt x="7794180" y="0"/>
                  </a:moveTo>
                  <a:lnTo>
                    <a:pt x="92392" y="0"/>
                  </a:lnTo>
                  <a:lnTo>
                    <a:pt x="56417" y="7266"/>
                  </a:lnTo>
                  <a:lnTo>
                    <a:pt x="27050" y="27082"/>
                  </a:lnTo>
                  <a:lnTo>
                    <a:pt x="7256" y="56471"/>
                  </a:lnTo>
                  <a:lnTo>
                    <a:pt x="0" y="92456"/>
                  </a:lnTo>
                  <a:lnTo>
                    <a:pt x="0" y="831850"/>
                  </a:lnTo>
                  <a:lnTo>
                    <a:pt x="7256" y="867834"/>
                  </a:lnTo>
                  <a:lnTo>
                    <a:pt x="27051" y="897223"/>
                  </a:lnTo>
                  <a:lnTo>
                    <a:pt x="56417" y="917039"/>
                  </a:lnTo>
                  <a:lnTo>
                    <a:pt x="92392" y="924306"/>
                  </a:lnTo>
                  <a:lnTo>
                    <a:pt x="7794180" y="924306"/>
                  </a:lnTo>
                  <a:lnTo>
                    <a:pt x="7830091" y="917039"/>
                  </a:lnTo>
                  <a:lnTo>
                    <a:pt x="7859442" y="897223"/>
                  </a:lnTo>
                  <a:lnTo>
                    <a:pt x="7879244" y="867834"/>
                  </a:lnTo>
                  <a:lnTo>
                    <a:pt x="7886509" y="831850"/>
                  </a:lnTo>
                  <a:lnTo>
                    <a:pt x="7886509" y="92456"/>
                  </a:lnTo>
                  <a:lnTo>
                    <a:pt x="7879244" y="56471"/>
                  </a:lnTo>
                  <a:lnTo>
                    <a:pt x="7859442" y="27082"/>
                  </a:lnTo>
                  <a:lnTo>
                    <a:pt x="7830091" y="7266"/>
                  </a:lnTo>
                  <a:lnTo>
                    <a:pt x="7794180" y="0"/>
                  </a:lnTo>
                  <a:close/>
                </a:path>
              </a:pathLst>
            </a:custGeom>
            <a:solidFill>
              <a:srgbClr val="8D62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2526" y="3105403"/>
              <a:ext cx="7886700" cy="924560"/>
            </a:xfrm>
            <a:custGeom>
              <a:avLst/>
              <a:gdLst/>
              <a:ahLst/>
              <a:cxnLst/>
              <a:rect l="l" t="t" r="r" b="b"/>
              <a:pathLst>
                <a:path w="7886700" h="924560">
                  <a:moveTo>
                    <a:pt x="7794117" y="0"/>
                  </a:moveTo>
                  <a:lnTo>
                    <a:pt x="92456" y="0"/>
                  </a:lnTo>
                  <a:lnTo>
                    <a:pt x="56471" y="7266"/>
                  </a:lnTo>
                  <a:lnTo>
                    <a:pt x="27082" y="27082"/>
                  </a:lnTo>
                  <a:lnTo>
                    <a:pt x="7266" y="56471"/>
                  </a:lnTo>
                  <a:lnTo>
                    <a:pt x="0" y="92456"/>
                  </a:lnTo>
                  <a:lnTo>
                    <a:pt x="0" y="831977"/>
                  </a:lnTo>
                  <a:lnTo>
                    <a:pt x="7266" y="867941"/>
                  </a:lnTo>
                  <a:lnTo>
                    <a:pt x="27082" y="897286"/>
                  </a:lnTo>
                  <a:lnTo>
                    <a:pt x="56471" y="917059"/>
                  </a:lnTo>
                  <a:lnTo>
                    <a:pt x="92456" y="924306"/>
                  </a:lnTo>
                  <a:lnTo>
                    <a:pt x="7794117" y="924306"/>
                  </a:lnTo>
                  <a:lnTo>
                    <a:pt x="7830101" y="917059"/>
                  </a:lnTo>
                  <a:lnTo>
                    <a:pt x="7859490" y="897286"/>
                  </a:lnTo>
                  <a:lnTo>
                    <a:pt x="7879306" y="867941"/>
                  </a:lnTo>
                  <a:lnTo>
                    <a:pt x="7886573" y="831977"/>
                  </a:lnTo>
                  <a:lnTo>
                    <a:pt x="7886573" y="92456"/>
                  </a:lnTo>
                  <a:lnTo>
                    <a:pt x="7879306" y="56471"/>
                  </a:lnTo>
                  <a:lnTo>
                    <a:pt x="7859490" y="27082"/>
                  </a:lnTo>
                  <a:lnTo>
                    <a:pt x="7830101" y="7266"/>
                  </a:lnTo>
                  <a:lnTo>
                    <a:pt x="7794117" y="0"/>
                  </a:lnTo>
                  <a:close/>
                </a:path>
              </a:pathLst>
            </a:custGeom>
            <a:solidFill>
              <a:srgbClr val="626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73147" y="4197857"/>
              <a:ext cx="7886700" cy="924560"/>
            </a:xfrm>
            <a:custGeom>
              <a:avLst/>
              <a:gdLst/>
              <a:ahLst/>
              <a:cxnLst/>
              <a:rect l="l" t="t" r="r" b="b"/>
              <a:pathLst>
                <a:path w="7886700" h="924560">
                  <a:moveTo>
                    <a:pt x="7794117" y="0"/>
                  </a:moveTo>
                  <a:lnTo>
                    <a:pt x="92455" y="0"/>
                  </a:lnTo>
                  <a:lnTo>
                    <a:pt x="56471" y="7266"/>
                  </a:lnTo>
                  <a:lnTo>
                    <a:pt x="27082" y="27082"/>
                  </a:lnTo>
                  <a:lnTo>
                    <a:pt x="7266" y="56471"/>
                  </a:lnTo>
                  <a:lnTo>
                    <a:pt x="0" y="92456"/>
                  </a:lnTo>
                  <a:lnTo>
                    <a:pt x="0" y="831850"/>
                  </a:lnTo>
                  <a:lnTo>
                    <a:pt x="7266" y="867834"/>
                  </a:lnTo>
                  <a:lnTo>
                    <a:pt x="27082" y="897223"/>
                  </a:lnTo>
                  <a:lnTo>
                    <a:pt x="56471" y="917039"/>
                  </a:lnTo>
                  <a:lnTo>
                    <a:pt x="92455" y="924306"/>
                  </a:lnTo>
                  <a:lnTo>
                    <a:pt x="7794117" y="924306"/>
                  </a:lnTo>
                  <a:lnTo>
                    <a:pt x="7830101" y="917039"/>
                  </a:lnTo>
                  <a:lnTo>
                    <a:pt x="7859490" y="897223"/>
                  </a:lnTo>
                  <a:lnTo>
                    <a:pt x="7879306" y="867834"/>
                  </a:lnTo>
                  <a:lnTo>
                    <a:pt x="7886573" y="831850"/>
                  </a:lnTo>
                  <a:lnTo>
                    <a:pt x="7886573" y="92456"/>
                  </a:lnTo>
                  <a:lnTo>
                    <a:pt x="7879306" y="56471"/>
                  </a:lnTo>
                  <a:lnTo>
                    <a:pt x="7859490" y="27082"/>
                  </a:lnTo>
                  <a:lnTo>
                    <a:pt x="7830101" y="7266"/>
                  </a:lnTo>
                  <a:lnTo>
                    <a:pt x="7794117" y="0"/>
                  </a:lnTo>
                  <a:close/>
                </a:path>
              </a:pathLst>
            </a:custGeom>
            <a:solidFill>
              <a:srgbClr val="619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33673" y="5290185"/>
              <a:ext cx="7886700" cy="924560"/>
            </a:xfrm>
            <a:custGeom>
              <a:avLst/>
              <a:gdLst/>
              <a:ahLst/>
              <a:cxnLst/>
              <a:rect l="l" t="t" r="r" b="b"/>
              <a:pathLst>
                <a:path w="7886700" h="924560">
                  <a:moveTo>
                    <a:pt x="7794117" y="0"/>
                  </a:moveTo>
                  <a:lnTo>
                    <a:pt x="92455" y="0"/>
                  </a:lnTo>
                  <a:lnTo>
                    <a:pt x="56471" y="7266"/>
                  </a:lnTo>
                  <a:lnTo>
                    <a:pt x="27082" y="27082"/>
                  </a:lnTo>
                  <a:lnTo>
                    <a:pt x="7266" y="56471"/>
                  </a:lnTo>
                  <a:lnTo>
                    <a:pt x="0" y="92455"/>
                  </a:lnTo>
                  <a:lnTo>
                    <a:pt x="0" y="831913"/>
                  </a:lnTo>
                  <a:lnTo>
                    <a:pt x="7266" y="867894"/>
                  </a:lnTo>
                  <a:lnTo>
                    <a:pt x="27082" y="897274"/>
                  </a:lnTo>
                  <a:lnTo>
                    <a:pt x="56471" y="917081"/>
                  </a:lnTo>
                  <a:lnTo>
                    <a:pt x="92455" y="924344"/>
                  </a:lnTo>
                  <a:lnTo>
                    <a:pt x="7794117" y="924344"/>
                  </a:lnTo>
                  <a:lnTo>
                    <a:pt x="7830101" y="917081"/>
                  </a:lnTo>
                  <a:lnTo>
                    <a:pt x="7859490" y="897274"/>
                  </a:lnTo>
                  <a:lnTo>
                    <a:pt x="7879306" y="867894"/>
                  </a:lnTo>
                  <a:lnTo>
                    <a:pt x="7886573" y="831913"/>
                  </a:lnTo>
                  <a:lnTo>
                    <a:pt x="7886573" y="92455"/>
                  </a:lnTo>
                  <a:lnTo>
                    <a:pt x="7879306" y="56471"/>
                  </a:lnTo>
                  <a:lnTo>
                    <a:pt x="7859490" y="27082"/>
                  </a:lnTo>
                  <a:lnTo>
                    <a:pt x="7830101" y="7266"/>
                  </a:lnTo>
                  <a:lnTo>
                    <a:pt x="7794117" y="0"/>
                  </a:lnTo>
                  <a:close/>
                </a:path>
              </a:pathLst>
            </a:custGeom>
            <a:solidFill>
              <a:srgbClr val="9B73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41500" y="2081276"/>
            <a:ext cx="7787640" cy="402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105"/>
              </a:spcBef>
            </a:pPr>
            <a:r>
              <a:rPr sz="1700" b="1" spc="9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1700" b="1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80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700" b="1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125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700" b="1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95" dirty="0">
                <a:solidFill>
                  <a:srgbClr val="FFFFFF"/>
                </a:solidFill>
                <a:latin typeface="Cambria"/>
                <a:cs typeface="Cambria"/>
              </a:rPr>
              <a:t>computer?</a:t>
            </a:r>
            <a:endParaRPr sz="1700">
              <a:latin typeface="Cambria"/>
              <a:cs typeface="Cambria"/>
            </a:endParaRPr>
          </a:p>
          <a:p>
            <a:pPr marL="12700" marR="1125220">
              <a:lnSpc>
                <a:spcPts val="1839"/>
              </a:lnSpc>
              <a:spcBef>
                <a:spcPts val="125"/>
              </a:spcBef>
            </a:pPr>
            <a:r>
              <a:rPr sz="1700" spc="155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7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r>
              <a:rPr sz="1700" spc="22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700" spc="2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sz="1700" spc="25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electronic</a:t>
            </a:r>
            <a:r>
              <a:rPr sz="1700" spc="2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device</a:t>
            </a:r>
            <a:r>
              <a:rPr sz="1700" spc="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sz="1700" spc="2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processes</a:t>
            </a:r>
            <a:r>
              <a:rPr sz="1700" spc="22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sz="1700" spc="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according</a:t>
            </a:r>
            <a:r>
              <a:rPr sz="1700" spc="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Cambria"/>
                <a:cs typeface="Cambria"/>
              </a:rPr>
              <a:t>to </a:t>
            </a:r>
            <a:r>
              <a:rPr sz="1700" spc="114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70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FFFFFF"/>
                </a:solidFill>
                <a:latin typeface="Cambria"/>
                <a:cs typeface="Cambria"/>
              </a:rPr>
              <a:t>set</a:t>
            </a:r>
            <a:r>
              <a:rPr sz="17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7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Cambria"/>
                <a:cs typeface="Cambria"/>
              </a:rPr>
              <a:t>instructions</a:t>
            </a:r>
            <a:r>
              <a:rPr sz="170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17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perform</a:t>
            </a:r>
            <a:r>
              <a:rPr sz="1700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85" dirty="0">
                <a:solidFill>
                  <a:srgbClr val="FFFFFF"/>
                </a:solidFill>
                <a:latin typeface="Cambria"/>
                <a:cs typeface="Cambria"/>
              </a:rPr>
              <a:t>tasks</a:t>
            </a:r>
            <a:r>
              <a:rPr sz="17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FFFFFF"/>
                </a:solidFill>
                <a:latin typeface="Cambria"/>
                <a:cs typeface="Cambria"/>
              </a:rPr>
              <a:t>automatically</a:t>
            </a:r>
            <a:r>
              <a:rPr sz="17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70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mbria"/>
                <a:cs typeface="Cambria"/>
              </a:rPr>
              <a:t>efficiently.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700">
              <a:latin typeface="Cambria"/>
              <a:cs typeface="Cambria"/>
            </a:endParaRPr>
          </a:p>
          <a:p>
            <a:pPr marL="673100">
              <a:lnSpc>
                <a:spcPts val="1939"/>
              </a:lnSpc>
            </a:pPr>
            <a:r>
              <a:rPr sz="1700" b="1" spc="100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1700" b="1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80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700" b="1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110" dirty="0">
                <a:solidFill>
                  <a:srgbClr val="FFFFFF"/>
                </a:solidFill>
                <a:latin typeface="Cambria"/>
                <a:cs typeface="Cambria"/>
              </a:rPr>
              <a:t>programming</a:t>
            </a:r>
            <a:r>
              <a:rPr sz="1700" b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85" dirty="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sz="1700" b="1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100" dirty="0">
                <a:solidFill>
                  <a:srgbClr val="FFFFFF"/>
                </a:solidFill>
                <a:latin typeface="Cambria"/>
                <a:cs typeface="Cambria"/>
              </a:rPr>
              <a:t>coding?</a:t>
            </a:r>
            <a:endParaRPr sz="1700">
              <a:latin typeface="Cambria"/>
              <a:cs typeface="Cambria"/>
            </a:endParaRPr>
          </a:p>
          <a:p>
            <a:pPr marL="673100" marR="1571625">
              <a:lnSpc>
                <a:spcPts val="1839"/>
              </a:lnSpc>
              <a:spcBef>
                <a:spcPts val="125"/>
              </a:spcBef>
            </a:pPr>
            <a:r>
              <a:rPr sz="1700" spc="8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7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process</a:t>
            </a:r>
            <a:r>
              <a:rPr sz="17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7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Cambria"/>
                <a:cs typeface="Cambria"/>
              </a:rPr>
              <a:t>writing</a:t>
            </a:r>
            <a:r>
              <a:rPr sz="17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Cambria"/>
                <a:cs typeface="Cambria"/>
              </a:rPr>
              <a:t>instructions</a:t>
            </a:r>
            <a:r>
              <a:rPr sz="17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90" dirty="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sz="17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7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r>
              <a:rPr sz="17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40" dirty="0">
                <a:solidFill>
                  <a:srgbClr val="FFFFFF"/>
                </a:solidFill>
                <a:latin typeface="Cambria"/>
                <a:cs typeface="Cambria"/>
              </a:rPr>
              <a:t>can </a:t>
            </a:r>
            <a:r>
              <a:rPr sz="1700" spc="60" dirty="0">
                <a:solidFill>
                  <a:srgbClr val="FFFFFF"/>
                </a:solidFill>
                <a:latin typeface="Cambria"/>
                <a:cs typeface="Cambria"/>
              </a:rPr>
              <a:t>understand</a:t>
            </a:r>
            <a:r>
              <a:rPr sz="17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7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FFFFFF"/>
                </a:solidFill>
                <a:latin typeface="Cambria"/>
                <a:cs typeface="Cambria"/>
              </a:rPr>
              <a:t>execute.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700">
              <a:latin typeface="Cambria"/>
              <a:cs typeface="Cambria"/>
            </a:endParaRPr>
          </a:p>
          <a:p>
            <a:pPr marL="1323975">
              <a:lnSpc>
                <a:spcPts val="1939"/>
              </a:lnSpc>
            </a:pPr>
            <a:r>
              <a:rPr sz="1700" b="1" spc="10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1700" b="1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95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1700" b="1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110" dirty="0">
                <a:solidFill>
                  <a:srgbClr val="FFFFFF"/>
                </a:solidFill>
                <a:latin typeface="Cambria"/>
                <a:cs typeface="Cambria"/>
              </a:rPr>
              <a:t>we</a:t>
            </a:r>
            <a:r>
              <a:rPr sz="1700" b="1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95" dirty="0">
                <a:solidFill>
                  <a:srgbClr val="FFFFFF"/>
                </a:solidFill>
                <a:latin typeface="Cambria"/>
                <a:cs typeface="Cambria"/>
              </a:rPr>
              <a:t>need</a:t>
            </a:r>
            <a:r>
              <a:rPr sz="1700" b="1" spc="100" dirty="0">
                <a:solidFill>
                  <a:srgbClr val="FFFFFF"/>
                </a:solidFill>
                <a:latin typeface="Cambria"/>
                <a:cs typeface="Cambria"/>
              </a:rPr>
              <a:t> programming?</a:t>
            </a:r>
            <a:endParaRPr sz="1700">
              <a:latin typeface="Cambria"/>
              <a:cs typeface="Cambria"/>
            </a:endParaRPr>
          </a:p>
          <a:p>
            <a:pPr marL="1323975">
              <a:lnSpc>
                <a:spcPts val="1835"/>
              </a:lnSpc>
            </a:pP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1700" spc="2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solve</a:t>
            </a:r>
            <a:r>
              <a:rPr sz="1700" spc="2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problems</a:t>
            </a:r>
            <a:r>
              <a:rPr sz="1700" spc="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efficiently,</a:t>
            </a:r>
            <a:r>
              <a:rPr sz="1700" spc="25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1700" spc="2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FFFFFF"/>
                </a:solidFill>
                <a:latin typeface="Cambria"/>
                <a:cs typeface="Cambria"/>
              </a:rPr>
              <a:t>create</a:t>
            </a:r>
            <a:r>
              <a:rPr sz="1700" spc="2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50" dirty="0">
                <a:solidFill>
                  <a:srgbClr val="FFFFFF"/>
                </a:solidFill>
                <a:latin typeface="Cambria"/>
                <a:cs typeface="Cambria"/>
              </a:rPr>
              <a:t>software,</a:t>
            </a:r>
            <a:r>
              <a:rPr sz="1700" spc="25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websites,</a:t>
            </a:r>
            <a:r>
              <a:rPr sz="1700" spc="2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45" dirty="0">
                <a:solidFill>
                  <a:srgbClr val="FFFFFF"/>
                </a:solidFill>
                <a:latin typeface="Cambria"/>
                <a:cs typeface="Cambria"/>
              </a:rPr>
              <a:t>apps,</a:t>
            </a:r>
            <a:endParaRPr sz="1700">
              <a:latin typeface="Cambria"/>
              <a:cs typeface="Cambria"/>
            </a:endParaRPr>
          </a:p>
          <a:p>
            <a:pPr marL="1323975">
              <a:lnSpc>
                <a:spcPts val="1939"/>
              </a:lnSpc>
            </a:pP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7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FFFFFF"/>
                </a:solidFill>
                <a:latin typeface="Cambria"/>
                <a:cs typeface="Cambria"/>
              </a:rPr>
              <a:t>intelligent</a:t>
            </a:r>
            <a:r>
              <a:rPr sz="17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FFFFFF"/>
                </a:solidFill>
                <a:latin typeface="Cambria"/>
                <a:cs typeface="Cambria"/>
              </a:rPr>
              <a:t>systems.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700">
              <a:latin typeface="Cambria"/>
              <a:cs typeface="Cambria"/>
            </a:endParaRPr>
          </a:p>
          <a:p>
            <a:pPr marL="1984375">
              <a:lnSpc>
                <a:spcPts val="1939"/>
              </a:lnSpc>
            </a:pPr>
            <a:r>
              <a:rPr sz="1700" b="1" spc="150" dirty="0">
                <a:solidFill>
                  <a:srgbClr val="FFFFFF"/>
                </a:solidFill>
                <a:latin typeface="Cambria"/>
                <a:cs typeface="Cambria"/>
              </a:rPr>
              <a:t>How</a:t>
            </a:r>
            <a:r>
              <a:rPr sz="1700" b="1" spc="95" dirty="0">
                <a:solidFill>
                  <a:srgbClr val="FFFFFF"/>
                </a:solidFill>
                <a:latin typeface="Cambria"/>
                <a:cs typeface="Cambria"/>
              </a:rPr>
              <a:t> do</a:t>
            </a:r>
            <a:r>
              <a:rPr sz="1700" b="1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110" dirty="0">
                <a:solidFill>
                  <a:srgbClr val="FFFFFF"/>
                </a:solidFill>
                <a:latin typeface="Cambria"/>
                <a:cs typeface="Cambria"/>
              </a:rPr>
              <a:t>we</a:t>
            </a:r>
            <a:r>
              <a:rPr sz="1700" b="1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b="1" spc="95" dirty="0">
                <a:solidFill>
                  <a:srgbClr val="FFFFFF"/>
                </a:solidFill>
                <a:latin typeface="Cambria"/>
                <a:cs typeface="Cambria"/>
              </a:rPr>
              <a:t>program?</a:t>
            </a:r>
            <a:endParaRPr sz="1700">
              <a:latin typeface="Cambria"/>
              <a:cs typeface="Cambria"/>
            </a:endParaRPr>
          </a:p>
          <a:p>
            <a:pPr marL="1984375" marR="5080">
              <a:lnSpc>
                <a:spcPts val="1839"/>
              </a:lnSpc>
              <a:spcBef>
                <a:spcPts val="125"/>
              </a:spcBef>
            </a:pP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We</a:t>
            </a:r>
            <a:r>
              <a:rPr sz="17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0" dirty="0">
                <a:solidFill>
                  <a:srgbClr val="FFFFFF"/>
                </a:solidFill>
                <a:latin typeface="Cambria"/>
                <a:cs typeface="Cambria"/>
              </a:rPr>
              <a:t>use</a:t>
            </a:r>
            <a:r>
              <a:rPr sz="17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Cambria"/>
                <a:cs typeface="Cambria"/>
              </a:rPr>
              <a:t>programming</a:t>
            </a:r>
            <a:r>
              <a:rPr sz="17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80" dirty="0">
                <a:solidFill>
                  <a:srgbClr val="FFFFFF"/>
                </a:solidFill>
                <a:latin typeface="Cambria"/>
                <a:cs typeface="Cambria"/>
              </a:rPr>
              <a:t>languages</a:t>
            </a:r>
            <a:r>
              <a:rPr sz="17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17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write</a:t>
            </a:r>
            <a:r>
              <a:rPr sz="17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Cambria"/>
                <a:cs typeface="Cambria"/>
              </a:rPr>
              <a:t>instructions</a:t>
            </a:r>
            <a:r>
              <a:rPr sz="17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FFFFFF"/>
                </a:solidFill>
                <a:latin typeface="Cambria"/>
                <a:cs typeface="Cambria"/>
              </a:rPr>
              <a:t>that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computers</a:t>
            </a:r>
            <a:r>
              <a:rPr sz="17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65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170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FFFFFF"/>
                </a:solidFill>
                <a:latin typeface="Cambria"/>
                <a:cs typeface="Cambria"/>
              </a:rPr>
              <a:t>follow.</a:t>
            </a:r>
            <a:r>
              <a:rPr sz="17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Cambria"/>
                <a:cs typeface="Cambria"/>
              </a:rPr>
              <a:t>(Python,</a:t>
            </a:r>
            <a:r>
              <a:rPr sz="17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160" dirty="0">
                <a:solidFill>
                  <a:srgbClr val="FFFFFF"/>
                </a:solidFill>
                <a:latin typeface="Cambria"/>
                <a:cs typeface="Cambria"/>
              </a:rPr>
              <a:t>Java, </a:t>
            </a:r>
            <a:r>
              <a:rPr sz="1700" spc="140" dirty="0">
                <a:solidFill>
                  <a:srgbClr val="FFFFFF"/>
                </a:solidFill>
                <a:latin typeface="Cambria"/>
                <a:cs typeface="Cambria"/>
              </a:rPr>
              <a:t>C++,</a:t>
            </a:r>
            <a:r>
              <a:rPr sz="17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FFFFFF"/>
                </a:solidFill>
                <a:latin typeface="Cambria"/>
                <a:cs typeface="Cambria"/>
              </a:rPr>
              <a:t>JavaScript,</a:t>
            </a:r>
            <a:r>
              <a:rPr sz="17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mbria"/>
                <a:cs typeface="Cambria"/>
              </a:rPr>
              <a:t>C#)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40877" y="2713989"/>
            <a:ext cx="1925955" cy="2799715"/>
            <a:chOff x="8540877" y="2713989"/>
            <a:chExt cx="1925955" cy="2799715"/>
          </a:xfrm>
        </p:grpSpPr>
        <p:sp>
          <p:nvSpPr>
            <p:cNvPr id="12" name="object 12"/>
            <p:cNvSpPr/>
            <p:nvPr/>
          </p:nvSpPr>
          <p:spPr>
            <a:xfrm>
              <a:off x="8547862" y="2720974"/>
              <a:ext cx="600710" cy="601345"/>
            </a:xfrm>
            <a:custGeom>
              <a:avLst/>
              <a:gdLst/>
              <a:ahLst/>
              <a:cxnLst/>
              <a:rect l="l" t="t" r="r" b="b"/>
              <a:pathLst>
                <a:path w="600709" h="601345">
                  <a:moveTo>
                    <a:pt x="465582" y="0"/>
                  </a:moveTo>
                  <a:lnTo>
                    <a:pt x="135128" y="0"/>
                  </a:lnTo>
                  <a:lnTo>
                    <a:pt x="135128" y="330453"/>
                  </a:lnTo>
                  <a:lnTo>
                    <a:pt x="0" y="330453"/>
                  </a:lnTo>
                  <a:lnTo>
                    <a:pt x="300355" y="600837"/>
                  </a:lnTo>
                  <a:lnTo>
                    <a:pt x="600710" y="330453"/>
                  </a:lnTo>
                  <a:lnTo>
                    <a:pt x="465582" y="330453"/>
                  </a:lnTo>
                  <a:lnTo>
                    <a:pt x="465582" y="0"/>
                  </a:lnTo>
                  <a:close/>
                </a:path>
              </a:pathLst>
            </a:custGeom>
            <a:solidFill>
              <a:srgbClr val="DBD2D5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47862" y="2720974"/>
              <a:ext cx="600710" cy="601345"/>
            </a:xfrm>
            <a:custGeom>
              <a:avLst/>
              <a:gdLst/>
              <a:ahLst/>
              <a:cxnLst/>
              <a:rect l="l" t="t" r="r" b="b"/>
              <a:pathLst>
                <a:path w="600709" h="601345">
                  <a:moveTo>
                    <a:pt x="0" y="330453"/>
                  </a:moveTo>
                  <a:lnTo>
                    <a:pt x="135128" y="330453"/>
                  </a:lnTo>
                  <a:lnTo>
                    <a:pt x="135128" y="0"/>
                  </a:lnTo>
                  <a:lnTo>
                    <a:pt x="465582" y="0"/>
                  </a:lnTo>
                  <a:lnTo>
                    <a:pt x="465582" y="330453"/>
                  </a:lnTo>
                  <a:lnTo>
                    <a:pt x="600710" y="330453"/>
                  </a:lnTo>
                  <a:lnTo>
                    <a:pt x="300355" y="600837"/>
                  </a:lnTo>
                  <a:lnTo>
                    <a:pt x="0" y="330453"/>
                  </a:lnTo>
                  <a:close/>
                </a:path>
              </a:pathLst>
            </a:custGeom>
            <a:ln w="13970">
              <a:solidFill>
                <a:srgbClr val="DBD2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08262" y="3813428"/>
              <a:ext cx="601345" cy="600710"/>
            </a:xfrm>
            <a:custGeom>
              <a:avLst/>
              <a:gdLst/>
              <a:ahLst/>
              <a:cxnLst/>
              <a:rect l="l" t="t" r="r" b="b"/>
              <a:pathLst>
                <a:path w="601345" h="600710">
                  <a:moveTo>
                    <a:pt x="465709" y="0"/>
                  </a:moveTo>
                  <a:lnTo>
                    <a:pt x="135255" y="0"/>
                  </a:lnTo>
                  <a:lnTo>
                    <a:pt x="135255" y="330454"/>
                  </a:lnTo>
                  <a:lnTo>
                    <a:pt x="0" y="330454"/>
                  </a:lnTo>
                  <a:lnTo>
                    <a:pt x="300482" y="600710"/>
                  </a:lnTo>
                  <a:lnTo>
                    <a:pt x="600837" y="330454"/>
                  </a:lnTo>
                  <a:lnTo>
                    <a:pt x="465709" y="330454"/>
                  </a:lnTo>
                  <a:lnTo>
                    <a:pt x="465709" y="0"/>
                  </a:lnTo>
                  <a:close/>
                </a:path>
              </a:pathLst>
            </a:custGeom>
            <a:solidFill>
              <a:srgbClr val="D2DCD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08262" y="3813428"/>
              <a:ext cx="601345" cy="600710"/>
            </a:xfrm>
            <a:custGeom>
              <a:avLst/>
              <a:gdLst/>
              <a:ahLst/>
              <a:cxnLst/>
              <a:rect l="l" t="t" r="r" b="b"/>
              <a:pathLst>
                <a:path w="601345" h="600710">
                  <a:moveTo>
                    <a:pt x="0" y="330454"/>
                  </a:moveTo>
                  <a:lnTo>
                    <a:pt x="135255" y="330454"/>
                  </a:lnTo>
                  <a:lnTo>
                    <a:pt x="135255" y="0"/>
                  </a:lnTo>
                  <a:lnTo>
                    <a:pt x="465709" y="0"/>
                  </a:lnTo>
                  <a:lnTo>
                    <a:pt x="465709" y="330454"/>
                  </a:lnTo>
                  <a:lnTo>
                    <a:pt x="600837" y="330454"/>
                  </a:lnTo>
                  <a:lnTo>
                    <a:pt x="300482" y="600710"/>
                  </a:lnTo>
                  <a:lnTo>
                    <a:pt x="0" y="330454"/>
                  </a:lnTo>
                  <a:close/>
                </a:path>
              </a:pathLst>
            </a:custGeom>
            <a:ln w="13969">
              <a:solidFill>
                <a:srgbClr val="DBD2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858883" y="4905755"/>
              <a:ext cx="601345" cy="601345"/>
            </a:xfrm>
            <a:custGeom>
              <a:avLst/>
              <a:gdLst/>
              <a:ahLst/>
              <a:cxnLst/>
              <a:rect l="l" t="t" r="r" b="b"/>
              <a:pathLst>
                <a:path w="601345" h="601345">
                  <a:moveTo>
                    <a:pt x="465709" y="0"/>
                  </a:moveTo>
                  <a:lnTo>
                    <a:pt x="135255" y="0"/>
                  </a:lnTo>
                  <a:lnTo>
                    <a:pt x="135255" y="330454"/>
                  </a:lnTo>
                  <a:lnTo>
                    <a:pt x="0" y="330454"/>
                  </a:lnTo>
                  <a:lnTo>
                    <a:pt x="300482" y="600837"/>
                  </a:lnTo>
                  <a:lnTo>
                    <a:pt x="600837" y="330454"/>
                  </a:lnTo>
                  <a:lnTo>
                    <a:pt x="465709" y="330454"/>
                  </a:lnTo>
                  <a:lnTo>
                    <a:pt x="465709" y="0"/>
                  </a:lnTo>
                  <a:close/>
                </a:path>
              </a:pathLst>
            </a:custGeom>
            <a:solidFill>
              <a:srgbClr val="DED4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58883" y="4905755"/>
              <a:ext cx="601345" cy="601345"/>
            </a:xfrm>
            <a:custGeom>
              <a:avLst/>
              <a:gdLst/>
              <a:ahLst/>
              <a:cxnLst/>
              <a:rect l="l" t="t" r="r" b="b"/>
              <a:pathLst>
                <a:path w="601345" h="601345">
                  <a:moveTo>
                    <a:pt x="0" y="330454"/>
                  </a:moveTo>
                  <a:lnTo>
                    <a:pt x="135255" y="330454"/>
                  </a:lnTo>
                  <a:lnTo>
                    <a:pt x="135255" y="0"/>
                  </a:lnTo>
                  <a:lnTo>
                    <a:pt x="465709" y="0"/>
                  </a:lnTo>
                  <a:lnTo>
                    <a:pt x="465709" y="330454"/>
                  </a:lnTo>
                  <a:lnTo>
                    <a:pt x="600837" y="330454"/>
                  </a:lnTo>
                  <a:lnTo>
                    <a:pt x="300482" y="600837"/>
                  </a:lnTo>
                  <a:lnTo>
                    <a:pt x="0" y="330454"/>
                  </a:lnTo>
                  <a:close/>
                </a:path>
              </a:pathLst>
            </a:custGeom>
            <a:ln w="13970">
              <a:solidFill>
                <a:srgbClr val="DBD2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0739" y="186385"/>
            <a:ext cx="3292475" cy="188722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95"/>
              </a:spcBef>
            </a:pPr>
            <a:r>
              <a:rPr sz="3300" b="1" spc="260" dirty="0">
                <a:latin typeface="Cambria"/>
                <a:cs typeface="Cambria"/>
              </a:rPr>
              <a:t>How</a:t>
            </a:r>
            <a:r>
              <a:rPr sz="3300" b="1" spc="135" dirty="0">
                <a:latin typeface="Cambria"/>
                <a:cs typeface="Cambria"/>
              </a:rPr>
              <a:t> </a:t>
            </a:r>
            <a:r>
              <a:rPr sz="3300" b="1" spc="114" dirty="0">
                <a:latin typeface="Cambria"/>
                <a:cs typeface="Cambria"/>
              </a:rPr>
              <a:t>does</a:t>
            </a:r>
            <a:r>
              <a:rPr sz="3300" b="1" spc="125" dirty="0">
                <a:latin typeface="Cambria"/>
                <a:cs typeface="Cambria"/>
              </a:rPr>
              <a:t> </a:t>
            </a:r>
            <a:r>
              <a:rPr sz="3300" b="1" spc="195" dirty="0">
                <a:latin typeface="Cambria"/>
                <a:cs typeface="Cambria"/>
              </a:rPr>
              <a:t>a </a:t>
            </a:r>
            <a:r>
              <a:rPr sz="3300" b="1" spc="200" dirty="0">
                <a:latin typeface="Cambria"/>
                <a:cs typeface="Cambria"/>
              </a:rPr>
              <a:t>Computer </a:t>
            </a:r>
            <a:r>
              <a:rPr sz="3300" b="1" spc="165" dirty="0">
                <a:latin typeface="Cambria"/>
                <a:cs typeface="Cambria"/>
              </a:rPr>
              <a:t>understand</a:t>
            </a:r>
            <a:r>
              <a:rPr sz="3300" b="1" spc="140" dirty="0">
                <a:latin typeface="Cambria"/>
                <a:cs typeface="Cambria"/>
              </a:rPr>
              <a:t> </a:t>
            </a:r>
            <a:r>
              <a:rPr sz="3300" b="1" spc="145" dirty="0">
                <a:latin typeface="Cambria"/>
                <a:cs typeface="Cambria"/>
              </a:rPr>
              <a:t>the </a:t>
            </a:r>
            <a:r>
              <a:rPr sz="3300" b="1" spc="140" dirty="0">
                <a:latin typeface="Cambria"/>
                <a:cs typeface="Cambria"/>
              </a:rPr>
              <a:t>instructions?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2383663"/>
            <a:ext cx="4852035" cy="3995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indent="-182245">
              <a:lnSpc>
                <a:spcPts val="1780"/>
              </a:lnSpc>
              <a:spcBef>
                <a:spcPts val="105"/>
              </a:spcBef>
              <a:buClr>
                <a:srgbClr val="6E6E74"/>
              </a:buClr>
              <a:buSzPct val="79411"/>
              <a:buFont typeface="Arial"/>
              <a:buChar char="•"/>
              <a:tabLst>
                <a:tab pos="194945" algn="l"/>
              </a:tabLst>
            </a:pPr>
            <a:r>
              <a:rPr sz="1700" b="1" spc="125" dirty="0">
                <a:latin typeface="Cambria"/>
                <a:cs typeface="Cambria"/>
              </a:rPr>
              <a:t>The</a:t>
            </a:r>
            <a:r>
              <a:rPr sz="1700" b="1" spc="120" dirty="0">
                <a:latin typeface="Cambria"/>
                <a:cs typeface="Cambria"/>
              </a:rPr>
              <a:t> </a:t>
            </a:r>
            <a:r>
              <a:rPr sz="1700" b="1" spc="140" dirty="0">
                <a:latin typeface="Cambria"/>
                <a:cs typeface="Cambria"/>
              </a:rPr>
              <a:t>Central</a:t>
            </a:r>
            <a:r>
              <a:rPr sz="1700" b="1" spc="125" dirty="0">
                <a:latin typeface="Cambria"/>
                <a:cs typeface="Cambria"/>
              </a:rPr>
              <a:t> </a:t>
            </a:r>
            <a:r>
              <a:rPr sz="1700" b="1" spc="120" dirty="0">
                <a:latin typeface="Cambria"/>
                <a:cs typeface="Cambria"/>
              </a:rPr>
              <a:t>Processing</a:t>
            </a:r>
            <a:r>
              <a:rPr sz="1700" b="1" spc="110" dirty="0">
                <a:latin typeface="Cambria"/>
                <a:cs typeface="Cambria"/>
              </a:rPr>
              <a:t> </a:t>
            </a:r>
            <a:r>
              <a:rPr sz="1700" b="1" spc="130" dirty="0">
                <a:latin typeface="Cambria"/>
                <a:cs typeface="Cambria"/>
              </a:rPr>
              <a:t>Unit</a:t>
            </a:r>
            <a:endParaRPr sz="1700">
              <a:latin typeface="Cambria"/>
              <a:cs typeface="Cambria"/>
            </a:endParaRPr>
          </a:p>
          <a:p>
            <a:pPr marL="194945">
              <a:lnSpc>
                <a:spcPts val="1530"/>
              </a:lnSpc>
            </a:pPr>
            <a:r>
              <a:rPr sz="1700" spc="55" dirty="0">
                <a:latin typeface="Cambria"/>
                <a:cs typeface="Cambria"/>
              </a:rPr>
              <a:t>It’s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the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brain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the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computer,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made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up</a:t>
            </a:r>
            <a:r>
              <a:rPr sz="1700" spc="170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of</a:t>
            </a:r>
            <a:endParaRPr sz="1700">
              <a:latin typeface="Cambria"/>
              <a:cs typeface="Cambria"/>
            </a:endParaRPr>
          </a:p>
          <a:p>
            <a:pPr marL="194945" marR="122555">
              <a:lnSpc>
                <a:spcPct val="74700"/>
              </a:lnSpc>
              <a:spcBef>
                <a:spcPts val="260"/>
              </a:spcBef>
            </a:pPr>
            <a:r>
              <a:rPr sz="1700" spc="60" dirty="0">
                <a:latin typeface="Cambria"/>
                <a:cs typeface="Cambria"/>
              </a:rPr>
              <a:t>millions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(or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even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billions)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170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tiny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components </a:t>
            </a:r>
            <a:r>
              <a:rPr sz="1700" spc="60" dirty="0">
                <a:latin typeface="Cambria"/>
                <a:cs typeface="Cambria"/>
              </a:rPr>
              <a:t>called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transistors.</a:t>
            </a:r>
            <a:endParaRPr sz="1700">
              <a:latin typeface="Cambria"/>
              <a:cs typeface="Cambria"/>
            </a:endParaRPr>
          </a:p>
          <a:p>
            <a:pPr marL="194945" indent="-182245">
              <a:lnSpc>
                <a:spcPts val="1789"/>
              </a:lnSpc>
              <a:spcBef>
                <a:spcPts val="1095"/>
              </a:spcBef>
              <a:buClr>
                <a:srgbClr val="6E6E74"/>
              </a:buClr>
              <a:buSzPct val="79411"/>
              <a:buFont typeface="Arial"/>
              <a:buChar char="•"/>
              <a:tabLst>
                <a:tab pos="194945" algn="l"/>
              </a:tabLst>
            </a:pPr>
            <a:r>
              <a:rPr sz="1700" b="1" spc="105" dirty="0">
                <a:latin typeface="Cambria"/>
                <a:cs typeface="Cambria"/>
              </a:rPr>
              <a:t>What</a:t>
            </a:r>
            <a:r>
              <a:rPr sz="1700" b="1" spc="114" dirty="0">
                <a:latin typeface="Cambria"/>
                <a:cs typeface="Cambria"/>
              </a:rPr>
              <a:t> </a:t>
            </a:r>
            <a:r>
              <a:rPr sz="1700" b="1" spc="85" dirty="0">
                <a:latin typeface="Cambria"/>
                <a:cs typeface="Cambria"/>
              </a:rPr>
              <a:t>is</a:t>
            </a:r>
            <a:r>
              <a:rPr sz="1700" b="1" spc="120" dirty="0">
                <a:latin typeface="Cambria"/>
                <a:cs typeface="Cambria"/>
              </a:rPr>
              <a:t> </a:t>
            </a:r>
            <a:r>
              <a:rPr sz="1700" b="1" spc="125" dirty="0">
                <a:latin typeface="Cambria"/>
                <a:cs typeface="Cambria"/>
              </a:rPr>
              <a:t>a</a:t>
            </a:r>
            <a:r>
              <a:rPr sz="1700" b="1" spc="135" dirty="0">
                <a:latin typeface="Cambria"/>
                <a:cs typeface="Cambria"/>
              </a:rPr>
              <a:t> </a:t>
            </a:r>
            <a:r>
              <a:rPr sz="1700" b="1" spc="90" dirty="0">
                <a:latin typeface="Cambria"/>
                <a:cs typeface="Cambria"/>
              </a:rPr>
              <a:t>transistor?</a:t>
            </a:r>
            <a:endParaRPr sz="1700">
              <a:latin typeface="Cambria"/>
              <a:cs typeface="Cambria"/>
            </a:endParaRPr>
          </a:p>
          <a:p>
            <a:pPr marL="194945">
              <a:lnSpc>
                <a:spcPts val="1530"/>
              </a:lnSpc>
            </a:pPr>
            <a:r>
              <a:rPr sz="1700" spc="60" dirty="0">
                <a:latin typeface="Cambria"/>
                <a:cs typeface="Cambria"/>
              </a:rPr>
              <a:t>Transistors</a:t>
            </a:r>
            <a:r>
              <a:rPr sz="1700" spc="19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act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like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tiny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electronic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switches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or</a:t>
            </a:r>
            <a:endParaRPr sz="1700">
              <a:latin typeface="Cambria"/>
              <a:cs typeface="Cambria"/>
            </a:endParaRPr>
          </a:p>
          <a:p>
            <a:pPr marL="194945">
              <a:lnSpc>
                <a:spcPts val="1530"/>
              </a:lnSpc>
            </a:pPr>
            <a:r>
              <a:rPr sz="1700" dirty="0">
                <a:latin typeface="Cambria"/>
                <a:cs typeface="Cambria"/>
              </a:rPr>
              <a:t>logic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gates.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spc="125" dirty="0">
                <a:latin typeface="Cambria"/>
                <a:cs typeface="Cambria"/>
              </a:rPr>
              <a:t>Each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gate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can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be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215" dirty="0">
                <a:latin typeface="Cambria"/>
                <a:cs typeface="Cambria"/>
              </a:rPr>
              <a:t>ON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or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spc="130" dirty="0">
                <a:latin typeface="Cambria"/>
                <a:cs typeface="Cambria"/>
              </a:rPr>
              <a:t>OFF,</a:t>
            </a:r>
            <a:endParaRPr sz="1700">
              <a:latin typeface="Cambria"/>
              <a:cs typeface="Cambria"/>
            </a:endParaRPr>
          </a:p>
          <a:p>
            <a:pPr marL="194945">
              <a:lnSpc>
                <a:spcPts val="1530"/>
              </a:lnSpc>
            </a:pPr>
            <a:r>
              <a:rPr sz="1700" spc="55" dirty="0">
                <a:latin typeface="Cambria"/>
                <a:cs typeface="Cambria"/>
              </a:rPr>
              <a:t>which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is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represented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as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1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or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0,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forming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the</a:t>
            </a:r>
            <a:endParaRPr sz="1700">
              <a:latin typeface="Cambria"/>
              <a:cs typeface="Cambria"/>
            </a:endParaRPr>
          </a:p>
          <a:p>
            <a:pPr marL="194945" marR="910590">
              <a:lnSpc>
                <a:spcPct val="75300"/>
              </a:lnSpc>
              <a:spcBef>
                <a:spcPts val="245"/>
              </a:spcBef>
            </a:pPr>
            <a:r>
              <a:rPr sz="1700" spc="70" dirty="0">
                <a:latin typeface="Cambria"/>
                <a:cs typeface="Cambria"/>
              </a:rPr>
              <a:t>binary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95" dirty="0">
                <a:latin typeface="Cambria"/>
                <a:cs typeface="Cambria"/>
              </a:rPr>
              <a:t>language, </a:t>
            </a:r>
            <a:r>
              <a:rPr sz="1700" spc="55" dirty="0">
                <a:latin typeface="Cambria"/>
                <a:cs typeface="Cambria"/>
              </a:rPr>
              <a:t>also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called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machine </a:t>
            </a:r>
            <a:r>
              <a:rPr sz="1700" spc="85" dirty="0">
                <a:latin typeface="Cambria"/>
                <a:cs typeface="Cambria"/>
              </a:rPr>
              <a:t>language.</a:t>
            </a:r>
            <a:endParaRPr sz="1700">
              <a:latin typeface="Cambria"/>
              <a:cs typeface="Cambria"/>
            </a:endParaRPr>
          </a:p>
          <a:p>
            <a:pPr marL="194945" indent="-182245">
              <a:lnSpc>
                <a:spcPts val="1789"/>
              </a:lnSpc>
              <a:spcBef>
                <a:spcPts val="1080"/>
              </a:spcBef>
              <a:buClr>
                <a:srgbClr val="6E6E74"/>
              </a:buClr>
              <a:buSzPct val="79411"/>
              <a:buFont typeface="Arial"/>
              <a:buChar char="•"/>
              <a:tabLst>
                <a:tab pos="194945" algn="l"/>
              </a:tabLst>
            </a:pPr>
            <a:r>
              <a:rPr sz="1700" b="1" spc="140" dirty="0">
                <a:latin typeface="Cambria"/>
                <a:cs typeface="Cambria"/>
              </a:rPr>
              <a:t>Machine</a:t>
            </a:r>
            <a:r>
              <a:rPr sz="1700" b="1" spc="110" dirty="0">
                <a:latin typeface="Cambria"/>
                <a:cs typeface="Cambria"/>
              </a:rPr>
              <a:t> </a:t>
            </a:r>
            <a:r>
              <a:rPr sz="1700" b="1" spc="130" dirty="0">
                <a:latin typeface="Cambria"/>
                <a:cs typeface="Cambria"/>
              </a:rPr>
              <a:t>language</a:t>
            </a:r>
            <a:r>
              <a:rPr sz="1700" b="1" spc="114" dirty="0">
                <a:latin typeface="Cambria"/>
                <a:cs typeface="Cambria"/>
              </a:rPr>
              <a:t> </a:t>
            </a:r>
            <a:r>
              <a:rPr sz="1700" b="1" spc="135" dirty="0">
                <a:latin typeface="Cambria"/>
                <a:cs typeface="Cambria"/>
              </a:rPr>
              <a:t>and</a:t>
            </a:r>
            <a:r>
              <a:rPr sz="1700" b="1" spc="130" dirty="0">
                <a:latin typeface="Cambria"/>
                <a:cs typeface="Cambria"/>
              </a:rPr>
              <a:t> </a:t>
            </a:r>
            <a:r>
              <a:rPr sz="1700" b="1" spc="85" dirty="0">
                <a:latin typeface="Cambria"/>
                <a:cs typeface="Cambria"/>
              </a:rPr>
              <a:t>low-</a:t>
            </a:r>
            <a:r>
              <a:rPr sz="1700" b="1" spc="75" dirty="0">
                <a:latin typeface="Cambria"/>
                <a:cs typeface="Cambria"/>
              </a:rPr>
              <a:t>level</a:t>
            </a:r>
            <a:endParaRPr sz="1700">
              <a:latin typeface="Cambria"/>
              <a:cs typeface="Cambria"/>
            </a:endParaRPr>
          </a:p>
          <a:p>
            <a:pPr marL="194945">
              <a:lnSpc>
                <a:spcPts val="1540"/>
              </a:lnSpc>
            </a:pPr>
            <a:r>
              <a:rPr sz="1700" b="1" spc="110" dirty="0">
                <a:latin typeface="Cambria"/>
                <a:cs typeface="Cambria"/>
              </a:rPr>
              <a:t>languages</a:t>
            </a:r>
            <a:endParaRPr sz="1700">
              <a:latin typeface="Cambria"/>
              <a:cs typeface="Cambria"/>
            </a:endParaRPr>
          </a:p>
          <a:p>
            <a:pPr marL="194945">
              <a:lnSpc>
                <a:spcPts val="1530"/>
              </a:lnSpc>
            </a:pPr>
            <a:r>
              <a:rPr sz="1700" spc="65" dirty="0">
                <a:latin typeface="Cambria"/>
                <a:cs typeface="Cambria"/>
              </a:rPr>
              <a:t>Writing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code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directly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in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binary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(0s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and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1s)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spc="35" dirty="0">
                <a:latin typeface="Cambria"/>
                <a:cs typeface="Cambria"/>
              </a:rPr>
              <a:t>is</a:t>
            </a:r>
            <a:endParaRPr sz="1700">
              <a:latin typeface="Cambria"/>
              <a:cs typeface="Cambria"/>
            </a:endParaRPr>
          </a:p>
          <a:p>
            <a:pPr marL="194945">
              <a:lnSpc>
                <a:spcPts val="1530"/>
              </a:lnSpc>
            </a:pPr>
            <a:r>
              <a:rPr sz="1700" spc="65" dirty="0">
                <a:latin typeface="Cambria"/>
                <a:cs typeface="Cambria"/>
              </a:rPr>
              <a:t>extremely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difficult.</a:t>
            </a:r>
            <a:r>
              <a:rPr sz="1700" spc="90" dirty="0">
                <a:latin typeface="Cambria"/>
                <a:cs typeface="Cambria"/>
              </a:rPr>
              <a:t> This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kind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114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programming</a:t>
            </a:r>
            <a:endParaRPr sz="1700">
              <a:latin typeface="Cambria"/>
              <a:cs typeface="Cambria"/>
            </a:endParaRPr>
          </a:p>
          <a:p>
            <a:pPr marL="194945">
              <a:lnSpc>
                <a:spcPts val="1530"/>
              </a:lnSpc>
            </a:pPr>
            <a:r>
              <a:rPr sz="1700" spc="60" dirty="0">
                <a:latin typeface="Cambria"/>
                <a:cs typeface="Cambria"/>
              </a:rPr>
              <a:t>is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called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low-</a:t>
            </a:r>
            <a:r>
              <a:rPr sz="1700" spc="55" dirty="0">
                <a:latin typeface="Cambria"/>
                <a:cs typeface="Cambria"/>
              </a:rPr>
              <a:t>level</a:t>
            </a:r>
            <a:r>
              <a:rPr sz="1700" spc="13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programming.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Other</a:t>
            </a:r>
            <a:endParaRPr sz="1700">
              <a:latin typeface="Cambria"/>
              <a:cs typeface="Cambria"/>
            </a:endParaRPr>
          </a:p>
          <a:p>
            <a:pPr marL="194945">
              <a:lnSpc>
                <a:spcPts val="1530"/>
              </a:lnSpc>
            </a:pPr>
            <a:r>
              <a:rPr sz="1700" spc="70" dirty="0">
                <a:latin typeface="Cambria"/>
                <a:cs typeface="Cambria"/>
              </a:rPr>
              <a:t>examples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low-</a:t>
            </a:r>
            <a:r>
              <a:rPr sz="1700" spc="55" dirty="0">
                <a:latin typeface="Cambria"/>
                <a:cs typeface="Cambria"/>
              </a:rPr>
              <a:t>level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languages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include:</a:t>
            </a:r>
            <a:endParaRPr sz="1700">
              <a:latin typeface="Cambria"/>
              <a:cs typeface="Cambria"/>
            </a:endParaRPr>
          </a:p>
          <a:p>
            <a:pPr marL="194945" marR="478155">
              <a:lnSpc>
                <a:spcPct val="74700"/>
              </a:lnSpc>
              <a:spcBef>
                <a:spcPts val="265"/>
              </a:spcBef>
            </a:pPr>
            <a:r>
              <a:rPr sz="1700" spc="75" dirty="0">
                <a:latin typeface="Cambria"/>
                <a:cs typeface="Cambria"/>
              </a:rPr>
              <a:t>Assembly</a:t>
            </a:r>
            <a:r>
              <a:rPr sz="1700" spc="13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language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(uses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mnemonics</a:t>
            </a:r>
            <a:r>
              <a:rPr sz="1700" spc="17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like </a:t>
            </a:r>
            <a:r>
              <a:rPr sz="1700" spc="140" dirty="0">
                <a:latin typeface="Cambria"/>
                <a:cs typeface="Cambria"/>
              </a:rPr>
              <a:t>MOV,</a:t>
            </a:r>
            <a:r>
              <a:rPr sz="1700" spc="5" dirty="0">
                <a:latin typeface="Cambria"/>
                <a:cs typeface="Cambria"/>
              </a:rPr>
              <a:t> </a:t>
            </a:r>
            <a:r>
              <a:rPr sz="1700" spc="170" dirty="0">
                <a:latin typeface="Cambria"/>
                <a:cs typeface="Cambria"/>
              </a:rPr>
              <a:t>ADD,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165" dirty="0">
                <a:latin typeface="Cambria"/>
                <a:cs typeface="Cambria"/>
              </a:rPr>
              <a:t>JMP)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-3"/>
            <a:ext cx="6096000" cy="68580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58902"/>
            <a:ext cx="4561840" cy="13925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b="1" spc="254" dirty="0">
                <a:latin typeface="Cambria"/>
                <a:cs typeface="Cambria"/>
              </a:rPr>
              <a:t>How</a:t>
            </a:r>
            <a:r>
              <a:rPr sz="3200" b="1" spc="120" dirty="0">
                <a:latin typeface="Cambria"/>
                <a:cs typeface="Cambria"/>
              </a:rPr>
              <a:t> </a:t>
            </a:r>
            <a:r>
              <a:rPr sz="3200" b="1" spc="105" dirty="0">
                <a:latin typeface="Cambria"/>
                <a:cs typeface="Cambria"/>
              </a:rPr>
              <a:t>does</a:t>
            </a:r>
            <a:r>
              <a:rPr sz="3200" b="1" spc="114" dirty="0">
                <a:latin typeface="Cambria"/>
                <a:cs typeface="Cambria"/>
              </a:rPr>
              <a:t> </a:t>
            </a:r>
            <a:r>
              <a:rPr sz="3200" b="1" spc="235" dirty="0">
                <a:latin typeface="Cambria"/>
                <a:cs typeface="Cambria"/>
              </a:rPr>
              <a:t>a</a:t>
            </a:r>
            <a:r>
              <a:rPr sz="3200" b="1" spc="114" dirty="0">
                <a:latin typeface="Cambria"/>
                <a:cs typeface="Cambria"/>
              </a:rPr>
              <a:t> </a:t>
            </a:r>
            <a:r>
              <a:rPr sz="3200" b="1" spc="190" dirty="0">
                <a:latin typeface="Cambria"/>
                <a:cs typeface="Cambria"/>
              </a:rPr>
              <a:t>Computer </a:t>
            </a:r>
            <a:r>
              <a:rPr sz="3200" b="1" spc="160" dirty="0">
                <a:latin typeface="Cambria"/>
                <a:cs typeface="Cambria"/>
              </a:rPr>
              <a:t>understand</a:t>
            </a:r>
            <a:r>
              <a:rPr sz="3200" b="1" spc="75" dirty="0">
                <a:latin typeface="Cambria"/>
                <a:cs typeface="Cambria"/>
              </a:rPr>
              <a:t> </a:t>
            </a:r>
            <a:r>
              <a:rPr sz="3200" b="1" spc="140" dirty="0">
                <a:latin typeface="Cambria"/>
                <a:cs typeface="Cambria"/>
              </a:rPr>
              <a:t>the </a:t>
            </a:r>
            <a:r>
              <a:rPr sz="3200" b="1" spc="130" dirty="0">
                <a:latin typeface="Cambria"/>
                <a:cs typeface="Cambria"/>
              </a:rPr>
              <a:t>instructions?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811781"/>
            <a:ext cx="4885055" cy="3922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4310" indent="-181610">
              <a:lnSpc>
                <a:spcPts val="2110"/>
              </a:lnSpc>
              <a:spcBef>
                <a:spcPts val="95"/>
              </a:spcBef>
              <a:buClr>
                <a:srgbClr val="6E6E74"/>
              </a:buClr>
              <a:buSzPct val="78947"/>
              <a:buFont typeface="Arial"/>
              <a:buChar char="•"/>
              <a:tabLst>
                <a:tab pos="194310" algn="l"/>
              </a:tabLst>
            </a:pPr>
            <a:r>
              <a:rPr sz="1900" b="1" spc="140" dirty="0">
                <a:latin typeface="Cambria"/>
                <a:cs typeface="Cambria"/>
              </a:rPr>
              <a:t>High-Level</a:t>
            </a:r>
            <a:r>
              <a:rPr sz="1900" b="1" spc="180" dirty="0">
                <a:latin typeface="Cambria"/>
                <a:cs typeface="Cambria"/>
              </a:rPr>
              <a:t> </a:t>
            </a:r>
            <a:r>
              <a:rPr sz="1900" b="1" spc="150" dirty="0">
                <a:latin typeface="Cambria"/>
                <a:cs typeface="Cambria"/>
              </a:rPr>
              <a:t>Languages</a:t>
            </a:r>
            <a:endParaRPr sz="1900">
              <a:latin typeface="Cambria"/>
              <a:cs typeface="Cambria"/>
            </a:endParaRPr>
          </a:p>
          <a:p>
            <a:pPr marL="195580" marR="5080">
              <a:lnSpc>
                <a:spcPts val="1930"/>
              </a:lnSpc>
              <a:spcBef>
                <a:spcPts val="190"/>
              </a:spcBef>
            </a:pPr>
            <a:r>
              <a:rPr sz="1900" spc="80" dirty="0">
                <a:latin typeface="Cambria"/>
                <a:cs typeface="Cambria"/>
              </a:rPr>
              <a:t>Programming</a:t>
            </a:r>
            <a:r>
              <a:rPr sz="1900" spc="150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languages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which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are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easier </a:t>
            </a:r>
            <a:r>
              <a:rPr sz="1900" spc="90" dirty="0">
                <a:latin typeface="Cambria"/>
                <a:cs typeface="Cambria"/>
              </a:rPr>
              <a:t>and</a:t>
            </a:r>
            <a:r>
              <a:rPr sz="1900" spc="16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more</a:t>
            </a:r>
            <a:r>
              <a:rPr sz="1900" spc="170" dirty="0">
                <a:latin typeface="Cambria"/>
                <a:cs typeface="Cambria"/>
              </a:rPr>
              <a:t> </a:t>
            </a:r>
            <a:r>
              <a:rPr sz="1900" spc="105" dirty="0">
                <a:latin typeface="Cambria"/>
                <a:cs typeface="Cambria"/>
              </a:rPr>
              <a:t>human-</a:t>
            </a:r>
            <a:r>
              <a:rPr sz="1900" spc="60" dirty="0">
                <a:latin typeface="Cambria"/>
                <a:cs typeface="Cambria"/>
              </a:rPr>
              <a:t>readable</a:t>
            </a:r>
            <a:r>
              <a:rPr sz="1900" spc="16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(e.g.</a:t>
            </a:r>
            <a:r>
              <a:rPr sz="1900" spc="160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Python)</a:t>
            </a:r>
            <a:endParaRPr sz="1900">
              <a:latin typeface="Cambria"/>
              <a:cs typeface="Cambria"/>
            </a:endParaRPr>
          </a:p>
          <a:p>
            <a:pPr marL="193675" marR="39370" indent="-181610">
              <a:lnSpc>
                <a:spcPts val="1930"/>
              </a:lnSpc>
              <a:spcBef>
                <a:spcPts val="1615"/>
              </a:spcBef>
              <a:buClr>
                <a:srgbClr val="6E6E74"/>
              </a:buClr>
              <a:buSzPct val="78947"/>
              <a:buFont typeface="Arial"/>
              <a:buChar char="•"/>
              <a:tabLst>
                <a:tab pos="195580" algn="l"/>
              </a:tabLst>
            </a:pPr>
            <a:r>
              <a:rPr sz="1900" b="1" spc="165" dirty="0">
                <a:latin typeface="Cambria"/>
                <a:cs typeface="Cambria"/>
              </a:rPr>
              <a:t>How</a:t>
            </a:r>
            <a:r>
              <a:rPr sz="1900" b="1" spc="150" dirty="0">
                <a:latin typeface="Cambria"/>
                <a:cs typeface="Cambria"/>
              </a:rPr>
              <a:t> </a:t>
            </a:r>
            <a:r>
              <a:rPr sz="1900" b="1" spc="120" dirty="0">
                <a:latin typeface="Cambria"/>
                <a:cs typeface="Cambria"/>
              </a:rPr>
              <a:t>Does</a:t>
            </a:r>
            <a:r>
              <a:rPr sz="1900" b="1" spc="145" dirty="0">
                <a:latin typeface="Cambria"/>
                <a:cs typeface="Cambria"/>
              </a:rPr>
              <a:t> </a:t>
            </a:r>
            <a:r>
              <a:rPr sz="1900" b="1" spc="114" dirty="0">
                <a:latin typeface="Cambria"/>
                <a:cs typeface="Cambria"/>
              </a:rPr>
              <a:t>the</a:t>
            </a:r>
            <a:r>
              <a:rPr sz="1900" b="1" spc="160" dirty="0">
                <a:latin typeface="Cambria"/>
                <a:cs typeface="Cambria"/>
              </a:rPr>
              <a:t> </a:t>
            </a:r>
            <a:r>
              <a:rPr sz="1900" b="1" spc="150" dirty="0">
                <a:latin typeface="Cambria"/>
                <a:cs typeface="Cambria"/>
              </a:rPr>
              <a:t>Computer</a:t>
            </a:r>
            <a:r>
              <a:rPr sz="1900" b="1" spc="145" dirty="0">
                <a:latin typeface="Cambria"/>
                <a:cs typeface="Cambria"/>
              </a:rPr>
              <a:t> </a:t>
            </a:r>
            <a:r>
              <a:rPr sz="1900" b="1" spc="125" dirty="0">
                <a:latin typeface="Cambria"/>
                <a:cs typeface="Cambria"/>
              </a:rPr>
              <a:t>Understand 	</a:t>
            </a:r>
            <a:r>
              <a:rPr sz="1900" b="1" spc="140" dirty="0">
                <a:latin typeface="Cambria"/>
                <a:cs typeface="Cambria"/>
              </a:rPr>
              <a:t>High-Level</a:t>
            </a:r>
            <a:r>
              <a:rPr sz="1900" b="1" spc="180" dirty="0">
                <a:latin typeface="Cambria"/>
                <a:cs typeface="Cambria"/>
              </a:rPr>
              <a:t> </a:t>
            </a:r>
            <a:r>
              <a:rPr sz="1900" b="1" spc="130" dirty="0">
                <a:latin typeface="Cambria"/>
                <a:cs typeface="Cambria"/>
              </a:rPr>
              <a:t>Code?</a:t>
            </a:r>
            <a:endParaRPr sz="1900">
              <a:latin typeface="Cambria"/>
              <a:cs typeface="Cambria"/>
            </a:endParaRPr>
          </a:p>
          <a:p>
            <a:pPr marL="195580" marR="245110">
              <a:lnSpc>
                <a:spcPct val="85000"/>
              </a:lnSpc>
            </a:pPr>
            <a:r>
              <a:rPr sz="1900" spc="114" dirty="0">
                <a:latin typeface="Cambria"/>
                <a:cs typeface="Cambria"/>
              </a:rPr>
              <a:t>High-</a:t>
            </a:r>
            <a:r>
              <a:rPr sz="1900" spc="55" dirty="0">
                <a:latin typeface="Cambria"/>
                <a:cs typeface="Cambria"/>
              </a:rPr>
              <a:t>level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code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must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be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translated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into </a:t>
            </a:r>
            <a:r>
              <a:rPr sz="1900" spc="80" dirty="0">
                <a:latin typeface="Cambria"/>
                <a:cs typeface="Cambria"/>
              </a:rPr>
              <a:t>machine</a:t>
            </a:r>
            <a:r>
              <a:rPr sz="1900" spc="15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code</a:t>
            </a:r>
            <a:r>
              <a:rPr sz="1900" spc="1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so</a:t>
            </a:r>
            <a:r>
              <a:rPr sz="1900" spc="155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the</a:t>
            </a:r>
            <a:r>
              <a:rPr sz="1900" spc="16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processor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can </a:t>
            </a:r>
            <a:r>
              <a:rPr sz="1900" spc="55" dirty="0">
                <a:latin typeface="Cambria"/>
                <a:cs typeface="Cambria"/>
              </a:rPr>
              <a:t>execute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it.</a:t>
            </a:r>
            <a:endParaRPr sz="1900">
              <a:latin typeface="Cambria"/>
              <a:cs typeface="Cambria"/>
            </a:endParaRPr>
          </a:p>
          <a:p>
            <a:pPr marL="193675" indent="-180975">
              <a:lnSpc>
                <a:spcPts val="2115"/>
              </a:lnSpc>
              <a:spcBef>
                <a:spcPts val="1260"/>
              </a:spcBef>
              <a:buClr>
                <a:srgbClr val="6E6E74"/>
              </a:buClr>
              <a:buSzPct val="78947"/>
              <a:buFont typeface="Arial"/>
              <a:buChar char="•"/>
              <a:tabLst>
                <a:tab pos="193675" algn="l"/>
              </a:tabLst>
            </a:pPr>
            <a:r>
              <a:rPr sz="1900" b="1" spc="100" dirty="0">
                <a:latin typeface="Cambria"/>
                <a:cs typeface="Cambria"/>
              </a:rPr>
              <a:t>Translators</a:t>
            </a:r>
            <a:endParaRPr sz="1900">
              <a:latin typeface="Cambria"/>
              <a:cs typeface="Cambria"/>
            </a:endParaRPr>
          </a:p>
          <a:p>
            <a:pPr marL="195580" marR="182245">
              <a:lnSpc>
                <a:spcPct val="85000"/>
              </a:lnSpc>
              <a:spcBef>
                <a:spcPts val="175"/>
              </a:spcBef>
              <a:tabLst>
                <a:tab pos="2660650" algn="l"/>
              </a:tabLst>
            </a:pPr>
            <a:r>
              <a:rPr sz="1900" spc="175" dirty="0">
                <a:latin typeface="Cambria"/>
                <a:cs typeface="Cambria"/>
              </a:rPr>
              <a:t>A</a:t>
            </a:r>
            <a:r>
              <a:rPr sz="1900" spc="25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Compiler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translates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the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entire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code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at </a:t>
            </a:r>
            <a:r>
              <a:rPr sz="1900" dirty="0">
                <a:latin typeface="Cambria"/>
                <a:cs typeface="Cambria"/>
              </a:rPr>
              <a:t>once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into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machine</a:t>
            </a:r>
            <a:r>
              <a:rPr sz="1900" spc="150" dirty="0">
                <a:latin typeface="Cambria"/>
                <a:cs typeface="Cambria"/>
              </a:rPr>
              <a:t> </a:t>
            </a:r>
            <a:r>
              <a:rPr sz="1900" spc="95" dirty="0">
                <a:latin typeface="Cambria"/>
                <a:cs typeface="Cambria"/>
              </a:rPr>
              <a:t>language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(e.g.,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190" dirty="0">
                <a:latin typeface="Cambria"/>
                <a:cs typeface="Cambria"/>
              </a:rPr>
              <a:t>C, </a:t>
            </a:r>
            <a:r>
              <a:rPr sz="1900" spc="110" dirty="0">
                <a:latin typeface="Cambria"/>
                <a:cs typeface="Cambria"/>
              </a:rPr>
              <a:t>C++).</a:t>
            </a:r>
            <a:r>
              <a:rPr sz="1900" spc="15" dirty="0">
                <a:latin typeface="Cambria"/>
                <a:cs typeface="Cambria"/>
              </a:rPr>
              <a:t> </a:t>
            </a:r>
            <a:r>
              <a:rPr sz="1900" spc="135" dirty="0">
                <a:latin typeface="Cambria"/>
                <a:cs typeface="Cambria"/>
              </a:rPr>
              <a:t>An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Interpreter</a:t>
            </a:r>
            <a:r>
              <a:rPr sz="1900" dirty="0">
                <a:latin typeface="Cambria"/>
                <a:cs typeface="Cambria"/>
              </a:rPr>
              <a:t>	</a:t>
            </a:r>
            <a:r>
              <a:rPr sz="1900" spc="85" dirty="0">
                <a:latin typeface="Cambria"/>
                <a:cs typeface="Cambria"/>
              </a:rPr>
              <a:t>translates</a:t>
            </a:r>
            <a:r>
              <a:rPr sz="1900" spc="14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and </a:t>
            </a:r>
            <a:r>
              <a:rPr sz="1900" spc="55" dirty="0">
                <a:latin typeface="Cambria"/>
                <a:cs typeface="Cambria"/>
              </a:rPr>
              <a:t>executes</a:t>
            </a:r>
            <a:r>
              <a:rPr sz="1900" spc="15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code</a:t>
            </a:r>
            <a:r>
              <a:rPr sz="1900" spc="155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line-</a:t>
            </a:r>
            <a:r>
              <a:rPr sz="1900" dirty="0">
                <a:latin typeface="Cambria"/>
                <a:cs typeface="Cambria"/>
              </a:rPr>
              <a:t>by-</a:t>
            </a:r>
            <a:r>
              <a:rPr sz="1900" spc="70" dirty="0">
                <a:latin typeface="Cambria"/>
                <a:cs typeface="Cambria"/>
              </a:rPr>
              <a:t>line</a:t>
            </a:r>
            <a:r>
              <a:rPr sz="1900" spc="160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(e.g.,</a:t>
            </a:r>
            <a:r>
              <a:rPr sz="1900" spc="14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Python, </a:t>
            </a:r>
            <a:r>
              <a:rPr sz="1900" spc="105" dirty="0">
                <a:latin typeface="Cambria"/>
                <a:cs typeface="Cambria"/>
              </a:rPr>
              <a:t>JavaScript).</a:t>
            </a:r>
            <a:endParaRPr sz="19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-3"/>
            <a:ext cx="6096000" cy="68580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6831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580"/>
              </a:spcBef>
            </a:pPr>
            <a:r>
              <a:rPr sz="3600" b="1" spc="290" dirty="0">
                <a:latin typeface="Cambria"/>
                <a:cs typeface="Cambria"/>
              </a:rPr>
              <a:t>How</a:t>
            </a:r>
            <a:r>
              <a:rPr sz="3600" b="1" spc="155" dirty="0">
                <a:latin typeface="Cambria"/>
                <a:cs typeface="Cambria"/>
              </a:rPr>
              <a:t> </a:t>
            </a:r>
            <a:r>
              <a:rPr sz="3600" b="1" spc="130" dirty="0">
                <a:latin typeface="Cambria"/>
                <a:cs typeface="Cambria"/>
              </a:rPr>
              <a:t>does</a:t>
            </a:r>
            <a:r>
              <a:rPr sz="3600" b="1" spc="150" dirty="0">
                <a:latin typeface="Cambria"/>
                <a:cs typeface="Cambria"/>
              </a:rPr>
              <a:t> </a:t>
            </a:r>
            <a:r>
              <a:rPr sz="3600" b="1" spc="265" dirty="0">
                <a:latin typeface="Cambria"/>
                <a:cs typeface="Cambria"/>
              </a:rPr>
              <a:t>a</a:t>
            </a:r>
            <a:r>
              <a:rPr sz="3600" b="1" spc="160" dirty="0">
                <a:latin typeface="Cambria"/>
                <a:cs typeface="Cambria"/>
              </a:rPr>
              <a:t> </a:t>
            </a:r>
            <a:r>
              <a:rPr sz="3600" b="1" spc="229" dirty="0">
                <a:latin typeface="Cambria"/>
                <a:cs typeface="Cambria"/>
              </a:rPr>
              <a:t>Computer</a:t>
            </a:r>
            <a:r>
              <a:rPr sz="3600" b="1" spc="125" dirty="0">
                <a:latin typeface="Cambria"/>
                <a:cs typeface="Cambria"/>
              </a:rPr>
              <a:t> </a:t>
            </a:r>
            <a:r>
              <a:rPr sz="3600" b="1" spc="185" dirty="0">
                <a:latin typeface="Cambria"/>
                <a:cs typeface="Cambria"/>
              </a:rPr>
              <a:t>understand</a:t>
            </a:r>
            <a:r>
              <a:rPr sz="3600" b="1" spc="110" dirty="0">
                <a:latin typeface="Cambria"/>
                <a:cs typeface="Cambria"/>
              </a:rPr>
              <a:t> </a:t>
            </a:r>
            <a:r>
              <a:rPr sz="3600" b="1" spc="160" dirty="0">
                <a:latin typeface="Cambria"/>
                <a:cs typeface="Cambria"/>
              </a:rPr>
              <a:t>the </a:t>
            </a:r>
            <a:r>
              <a:rPr sz="3600" b="1" spc="155" dirty="0">
                <a:latin typeface="Cambria"/>
                <a:cs typeface="Cambria"/>
              </a:rPr>
              <a:t>instructions?</a:t>
            </a:r>
            <a:endParaRPr sz="36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55712" y="1822450"/>
          <a:ext cx="8594724" cy="38601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1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59">
                <a:tc>
                  <a:txBody>
                    <a:bodyPr/>
                    <a:lstStyle/>
                    <a:p>
                      <a:pPr marL="60706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1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Aspect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6E74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13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Compiled</a:t>
                      </a:r>
                      <a:r>
                        <a:rPr sz="1800" b="1" spc="14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Language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6E74"/>
                    </a:solidFill>
                  </a:tcPr>
                </a:tc>
                <a:tc>
                  <a:txBody>
                    <a:bodyPr/>
                    <a:lstStyle/>
                    <a:p>
                      <a:pPr marL="38798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10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Interpreted</a:t>
                      </a:r>
                      <a:r>
                        <a:rPr sz="1800" b="1" spc="1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Language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6E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spc="50" dirty="0">
                          <a:latin typeface="Cambria"/>
                          <a:cs typeface="Cambria"/>
                        </a:rPr>
                        <a:t>Execution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66675" algn="just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spc="80" dirty="0">
                          <a:latin typeface="Cambria"/>
                          <a:cs typeface="Cambria"/>
                        </a:rPr>
                        <a:t>Entire</a:t>
                      </a:r>
                      <a:r>
                        <a:rPr sz="1600" spc="35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program</a:t>
                      </a:r>
                      <a:r>
                        <a:rPr sz="1600" spc="3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spc="34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translated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into</a:t>
                      </a:r>
                      <a:r>
                        <a:rPr sz="1600" spc="43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machine</a:t>
                      </a:r>
                      <a:r>
                        <a:rPr sz="1600" spc="44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code</a:t>
                      </a:r>
                      <a:r>
                        <a:rPr sz="1600" spc="430" dirty="0">
                          <a:latin typeface="Cambria"/>
                          <a:cs typeface="Cambria"/>
                        </a:rPr>
                        <a:t>  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before execution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66675">
                        <a:lnSpc>
                          <a:spcPct val="100000"/>
                        </a:lnSpc>
                        <a:spcBef>
                          <a:spcPts val="1295"/>
                        </a:spcBef>
                        <a:tabLst>
                          <a:tab pos="736600" algn="l"/>
                          <a:tab pos="1090295" algn="l"/>
                          <a:tab pos="2260600" algn="l"/>
                        </a:tabLst>
                      </a:pPr>
                      <a:r>
                        <a:rPr sz="1600" spc="40" dirty="0">
                          <a:latin typeface="Cambria"/>
                          <a:cs typeface="Cambria"/>
                        </a:rPr>
                        <a:t>Code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15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translated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line-by-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line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during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execution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64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45" dirty="0">
                          <a:latin typeface="Cambria"/>
                          <a:cs typeface="Cambria"/>
                        </a:rPr>
                        <a:t>Speed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65405">
                        <a:lnSpc>
                          <a:spcPct val="100000"/>
                        </a:lnSpc>
                        <a:spcBef>
                          <a:spcPts val="1010"/>
                        </a:spcBef>
                        <a:tabLst>
                          <a:tab pos="1184275" algn="l"/>
                          <a:tab pos="1957070" algn="l"/>
                          <a:tab pos="2347595" algn="l"/>
                          <a:tab pos="2675255" algn="l"/>
                        </a:tabLst>
                      </a:pPr>
                      <a:r>
                        <a:rPr sz="1600" spc="60" dirty="0">
                          <a:latin typeface="Cambria"/>
                          <a:cs typeface="Cambria"/>
                        </a:rPr>
                        <a:t>Generally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35" dirty="0">
                          <a:latin typeface="Cambria"/>
                          <a:cs typeface="Cambria"/>
                        </a:rPr>
                        <a:t>faster,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35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runs </a:t>
                      </a:r>
                      <a:r>
                        <a:rPr sz="1600" spc="55" dirty="0">
                          <a:latin typeface="Cambria"/>
                          <a:cs typeface="Cambria"/>
                        </a:rPr>
                        <a:t>machine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code</a:t>
                      </a:r>
                      <a:r>
                        <a:rPr sz="16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directly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65405">
                        <a:lnSpc>
                          <a:spcPct val="100000"/>
                        </a:lnSpc>
                        <a:spcBef>
                          <a:spcPts val="1010"/>
                        </a:spcBef>
                        <a:tabLst>
                          <a:tab pos="1087120" algn="l"/>
                          <a:tab pos="1755139" algn="l"/>
                          <a:tab pos="2260600" algn="l"/>
                        </a:tabLst>
                      </a:pPr>
                      <a:r>
                        <a:rPr sz="1600" spc="-10" dirty="0">
                          <a:latin typeface="Cambria"/>
                          <a:cs typeface="Cambria"/>
                        </a:rPr>
                        <a:t>Slower,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due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-25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line-by-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line </a:t>
                      </a:r>
                      <a:r>
                        <a:rPr sz="1600" spc="40" dirty="0">
                          <a:latin typeface="Cambria"/>
                          <a:cs typeface="Cambria"/>
                        </a:rPr>
                        <a:t>interpretation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600" spc="60" dirty="0">
                          <a:latin typeface="Cambria"/>
                          <a:cs typeface="Cambria"/>
                        </a:rPr>
                        <a:t>Error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Handling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64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6794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871855" algn="l"/>
                          <a:tab pos="1361440" algn="l"/>
                          <a:tab pos="2149475" algn="l"/>
                          <a:tab pos="2787650" algn="l"/>
                        </a:tabLst>
                      </a:pPr>
                      <a:r>
                        <a:rPr sz="1600" spc="45" dirty="0">
                          <a:latin typeface="Cambria"/>
                          <a:cs typeface="Cambria"/>
                        </a:rPr>
                        <a:t>Errors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shown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after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35" dirty="0">
                          <a:latin typeface="Cambria"/>
                          <a:cs typeface="Cambria"/>
                        </a:rPr>
                        <a:t>full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compilation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69215">
                        <a:lnSpc>
                          <a:spcPct val="100000"/>
                        </a:lnSpc>
                        <a:spcBef>
                          <a:spcPts val="335"/>
                        </a:spcBef>
                        <a:tabLst>
                          <a:tab pos="1055370" algn="l"/>
                          <a:tab pos="1727200" algn="l"/>
                          <a:tab pos="2696845" algn="l"/>
                        </a:tabLst>
                      </a:pPr>
                      <a:r>
                        <a:rPr sz="1600" spc="45" dirty="0">
                          <a:latin typeface="Cambria"/>
                          <a:cs typeface="Cambria"/>
                        </a:rPr>
                        <a:t>Errors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shown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during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execution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spc="70" dirty="0">
                          <a:latin typeface="Cambria"/>
                          <a:cs typeface="Cambria"/>
                        </a:rPr>
                        <a:t>Output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Produces</a:t>
                      </a:r>
                      <a:r>
                        <a:rPr sz="1600" spc="4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9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600" spc="4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separate</a:t>
                      </a:r>
                      <a:r>
                        <a:rPr sz="1600" spc="43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10" dirty="0">
                          <a:latin typeface="Cambria"/>
                          <a:cs typeface="Cambria"/>
                        </a:rPr>
                        <a:t>executable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file</a:t>
                      </a:r>
                      <a:r>
                        <a:rPr sz="16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(e.g.,</a:t>
                      </a:r>
                      <a:r>
                        <a:rPr sz="1600" spc="2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-20" dirty="0">
                          <a:latin typeface="Cambria"/>
                          <a:cs typeface="Cambria"/>
                        </a:rPr>
                        <a:t>.exe)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600" spc="75" dirty="0">
                          <a:latin typeface="Cambria"/>
                          <a:cs typeface="Cambria"/>
                        </a:rPr>
                        <a:t>No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600" spc="50" dirty="0">
                          <a:latin typeface="Cambria"/>
                          <a:cs typeface="Cambria"/>
                        </a:rPr>
                        <a:t>separate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executable: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runs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via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1600" spc="35" dirty="0">
                          <a:latin typeface="Cambria"/>
                          <a:cs typeface="Cambria"/>
                        </a:rPr>
                        <a:t>interpreter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5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600" spc="60" dirty="0">
                          <a:latin typeface="Cambria"/>
                          <a:cs typeface="Cambria"/>
                        </a:rPr>
                        <a:t>Examples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600" spc="180" dirty="0">
                          <a:latin typeface="Cambria"/>
                          <a:cs typeface="Cambria"/>
                        </a:rPr>
                        <a:t>C,</a:t>
                      </a:r>
                      <a:r>
                        <a:rPr sz="1600" spc="105" dirty="0">
                          <a:latin typeface="Cambria"/>
                          <a:cs typeface="Cambria"/>
                        </a:rPr>
                        <a:t> C++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600" spc="70" dirty="0">
                          <a:latin typeface="Cambria"/>
                          <a:cs typeface="Cambria"/>
                        </a:rPr>
                        <a:t>Python,</a:t>
                      </a:r>
                      <a:r>
                        <a:rPr sz="1600" spc="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5" dirty="0">
                          <a:latin typeface="Cambria"/>
                          <a:cs typeface="Cambria"/>
                        </a:rPr>
                        <a:t>JavaScript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b="1" spc="240" dirty="0">
                <a:latin typeface="Cambria"/>
                <a:cs typeface="Cambria"/>
              </a:rPr>
              <a:t>Introduction</a:t>
            </a:r>
            <a:r>
              <a:rPr b="1" spc="175" dirty="0">
                <a:latin typeface="Cambria"/>
                <a:cs typeface="Cambria"/>
              </a:rPr>
              <a:t> </a:t>
            </a:r>
            <a:r>
              <a:rPr b="1" spc="185" dirty="0">
                <a:latin typeface="Cambria"/>
                <a:cs typeface="Cambria"/>
              </a:rPr>
              <a:t>to</a:t>
            </a:r>
            <a:r>
              <a:rPr b="1" spc="204" dirty="0">
                <a:latin typeface="Cambria"/>
                <a:cs typeface="Cambria"/>
              </a:rPr>
              <a:t> </a:t>
            </a:r>
            <a:r>
              <a:rPr b="1" spc="260" dirty="0">
                <a:latin typeface="Cambria"/>
                <a:cs typeface="Cambria"/>
              </a:rPr>
              <a:t>Operating </a:t>
            </a:r>
            <a:r>
              <a:rPr b="1" spc="229" dirty="0">
                <a:latin typeface="Cambria"/>
                <a:cs typeface="Cambria"/>
              </a:rPr>
              <a:t>Systems?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" cy="6858000"/>
          </a:xfrm>
          <a:custGeom>
            <a:avLst/>
            <a:gdLst/>
            <a:ahLst/>
            <a:cxnLst/>
            <a:rect l="l" t="t" r="r" b="b"/>
            <a:pathLst>
              <a:path w="914400" h="6858000">
                <a:moveTo>
                  <a:pt x="9144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" y="6858000"/>
                </a:lnTo>
                <a:lnTo>
                  <a:pt x="914400" y="0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763756" y="0"/>
            <a:ext cx="428625" cy="6858000"/>
          </a:xfrm>
          <a:custGeom>
            <a:avLst/>
            <a:gdLst/>
            <a:ahLst/>
            <a:cxnLst/>
            <a:rect l="l" t="t" r="r" b="b"/>
            <a:pathLst>
              <a:path w="428625" h="6858000">
                <a:moveTo>
                  <a:pt x="0" y="0"/>
                </a:moveTo>
                <a:lnTo>
                  <a:pt x="0" y="6858000"/>
                </a:lnTo>
                <a:lnTo>
                  <a:pt x="428243" y="6858000"/>
                </a:lnTo>
                <a:lnTo>
                  <a:pt x="428243" y="0"/>
                </a:lnTo>
                <a:lnTo>
                  <a:pt x="0" y="0"/>
                </a:lnTo>
                <a:close/>
              </a:path>
            </a:pathLst>
          </a:custGeom>
          <a:solidFill>
            <a:srgbClr val="6E6E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2837" y="2242235"/>
            <a:ext cx="3119755" cy="3743325"/>
          </a:xfrm>
          <a:prstGeom prst="rect">
            <a:avLst/>
          </a:prstGeom>
          <a:solidFill>
            <a:srgbClr val="8D6274"/>
          </a:solidFill>
          <a:ln w="13970">
            <a:solidFill>
              <a:srgbClr val="8D6274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1440"/>
              </a:spcBef>
            </a:pPr>
            <a:r>
              <a:rPr sz="6600" spc="-25" dirty="0">
                <a:solidFill>
                  <a:srgbClr val="FFFFFF"/>
                </a:solidFill>
                <a:latin typeface="Cambria"/>
                <a:cs typeface="Cambria"/>
              </a:rPr>
              <a:t>01</a:t>
            </a:r>
            <a:endParaRPr sz="6600">
              <a:latin typeface="Cambria"/>
              <a:cs typeface="Cambria"/>
            </a:endParaRPr>
          </a:p>
          <a:p>
            <a:pPr marL="307975">
              <a:lnSpc>
                <a:spcPts val="1710"/>
              </a:lnSpc>
              <a:spcBef>
                <a:spcPts val="2230"/>
              </a:spcBef>
            </a:pPr>
            <a:r>
              <a:rPr sz="1500" b="1" spc="8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1500" b="1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spc="65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500" b="1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spc="114" dirty="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sz="1500" b="1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spc="140" dirty="0">
                <a:solidFill>
                  <a:srgbClr val="FFFFFF"/>
                </a:solidFill>
                <a:latin typeface="Cambria"/>
                <a:cs typeface="Cambria"/>
              </a:rPr>
              <a:t>OS?</a:t>
            </a:r>
            <a:endParaRPr sz="1500">
              <a:latin typeface="Cambria"/>
              <a:cs typeface="Cambria"/>
            </a:endParaRPr>
          </a:p>
          <a:p>
            <a:pPr marL="307975" marR="396875">
              <a:lnSpc>
                <a:spcPct val="90400"/>
              </a:lnSpc>
              <a:spcBef>
                <a:spcPts val="80"/>
              </a:spcBef>
            </a:pPr>
            <a:r>
              <a:rPr sz="1500" spc="6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5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software</a:t>
            </a:r>
            <a:r>
              <a:rPr sz="15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75" dirty="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sz="15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FFFFFF"/>
                </a:solidFill>
                <a:latin typeface="Cambria"/>
                <a:cs typeface="Cambria"/>
              </a:rPr>
              <a:t>manages </a:t>
            </a:r>
            <a:r>
              <a:rPr sz="1500" spc="45" dirty="0">
                <a:solidFill>
                  <a:srgbClr val="FFFFFF"/>
                </a:solidFill>
                <a:latin typeface="Cambria"/>
                <a:cs typeface="Cambria"/>
              </a:rPr>
              <a:t>hardware</a:t>
            </a:r>
            <a:r>
              <a:rPr sz="15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60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5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FFFFFF"/>
                </a:solidFill>
                <a:latin typeface="Cambria"/>
                <a:cs typeface="Cambria"/>
              </a:rPr>
              <a:t>runs</a:t>
            </a:r>
            <a:r>
              <a:rPr sz="1500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Cambria"/>
                <a:cs typeface="Cambria"/>
              </a:rPr>
              <a:t>your </a:t>
            </a:r>
            <a:r>
              <a:rPr sz="1500" spc="40" dirty="0">
                <a:solidFill>
                  <a:srgbClr val="FFFFFF"/>
                </a:solidFill>
                <a:latin typeface="Cambria"/>
                <a:cs typeface="Cambria"/>
              </a:rPr>
              <a:t>apps.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1563" y="2242235"/>
            <a:ext cx="3119755" cy="3743325"/>
          </a:xfrm>
          <a:prstGeom prst="rect">
            <a:avLst/>
          </a:prstGeom>
          <a:solidFill>
            <a:srgbClr val="629391"/>
          </a:solidFill>
          <a:ln w="13969">
            <a:solidFill>
              <a:srgbClr val="629391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marL="308610">
              <a:lnSpc>
                <a:spcPct val="100000"/>
              </a:lnSpc>
              <a:spcBef>
                <a:spcPts val="1440"/>
              </a:spcBef>
            </a:pPr>
            <a:r>
              <a:rPr sz="6600" spc="-25" dirty="0">
                <a:solidFill>
                  <a:srgbClr val="FFFFFF"/>
                </a:solidFill>
                <a:latin typeface="Cambria"/>
                <a:cs typeface="Cambria"/>
              </a:rPr>
              <a:t>02</a:t>
            </a:r>
            <a:endParaRPr sz="6600">
              <a:latin typeface="Cambria"/>
              <a:cs typeface="Cambria"/>
            </a:endParaRPr>
          </a:p>
          <a:p>
            <a:pPr marL="308610" marR="450850">
              <a:lnSpc>
                <a:spcPct val="90200"/>
              </a:lnSpc>
              <a:spcBef>
                <a:spcPts val="2380"/>
              </a:spcBef>
            </a:pPr>
            <a:r>
              <a:rPr sz="1500" b="1" spc="140" dirty="0">
                <a:solidFill>
                  <a:srgbClr val="FFFFFF"/>
                </a:solidFill>
                <a:latin typeface="Cambria"/>
                <a:cs typeface="Cambria"/>
              </a:rPr>
              <a:t>Linux</a:t>
            </a:r>
            <a:r>
              <a:rPr sz="1500" b="1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spc="85" dirty="0">
                <a:solidFill>
                  <a:srgbClr val="FFFFFF"/>
                </a:solidFill>
                <a:latin typeface="Cambria"/>
                <a:cs typeface="Cambria"/>
              </a:rPr>
              <a:t>vs</a:t>
            </a:r>
            <a:r>
              <a:rPr sz="1500" b="1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spc="75" dirty="0">
                <a:solidFill>
                  <a:srgbClr val="FFFFFF"/>
                </a:solidFill>
                <a:latin typeface="Cambria"/>
                <a:cs typeface="Cambria"/>
              </a:rPr>
              <a:t>Windows</a:t>
            </a:r>
            <a:r>
              <a:rPr sz="1500" b="1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spc="100" dirty="0">
                <a:solidFill>
                  <a:srgbClr val="FFFFFF"/>
                </a:solidFill>
                <a:latin typeface="Cambria"/>
                <a:cs typeface="Cambria"/>
              </a:rPr>
              <a:t>in </a:t>
            </a:r>
            <a:r>
              <a:rPr sz="1500" b="1" spc="125" dirty="0">
                <a:solidFill>
                  <a:srgbClr val="FFFFFF"/>
                </a:solidFill>
                <a:latin typeface="Cambria"/>
                <a:cs typeface="Cambria"/>
              </a:rPr>
              <a:t>AI </a:t>
            </a:r>
            <a:r>
              <a:rPr sz="1500" spc="95" dirty="0">
                <a:solidFill>
                  <a:srgbClr val="FFFFFF"/>
                </a:solidFill>
                <a:latin typeface="Cambria"/>
                <a:cs typeface="Cambria"/>
              </a:rPr>
              <a:t>Linux</a:t>
            </a:r>
            <a:r>
              <a:rPr sz="1500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5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open-source</a:t>
            </a:r>
            <a:r>
              <a:rPr sz="15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3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free.</a:t>
            </a:r>
            <a:r>
              <a:rPr sz="1500" spc="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Powers</a:t>
            </a:r>
            <a:r>
              <a:rPr sz="1500" spc="22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most</a:t>
            </a:r>
            <a:r>
              <a:rPr sz="1500" spc="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mbria"/>
                <a:cs typeface="Cambria"/>
              </a:rPr>
              <a:t>cloud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servers</a:t>
            </a:r>
            <a:r>
              <a:rPr sz="1500" spc="1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60" dirty="0">
                <a:solidFill>
                  <a:srgbClr val="FFFFFF"/>
                </a:solidFill>
                <a:latin typeface="Cambria"/>
                <a:cs typeface="Cambria"/>
              </a:rPr>
              <a:t>(AWS,</a:t>
            </a:r>
            <a:r>
              <a:rPr sz="15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mbria"/>
                <a:cs typeface="Cambria"/>
              </a:rPr>
              <a:t>Google </a:t>
            </a:r>
            <a:r>
              <a:rPr sz="1500" spc="50" dirty="0">
                <a:solidFill>
                  <a:srgbClr val="FFFFFF"/>
                </a:solidFill>
                <a:latin typeface="Cambria"/>
                <a:cs typeface="Cambria"/>
              </a:rPr>
              <a:t>Colab).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Windows is </a:t>
            </a:r>
            <a:r>
              <a:rPr sz="1500" spc="-10" dirty="0">
                <a:solidFill>
                  <a:srgbClr val="FFFFFF"/>
                </a:solidFill>
                <a:latin typeface="Cambria"/>
                <a:cs typeface="Cambria"/>
              </a:rPr>
              <a:t>user-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friendly,</a:t>
            </a:r>
            <a:r>
              <a:rPr sz="1500" spc="2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50" dirty="0">
                <a:solidFill>
                  <a:srgbClr val="FFFFFF"/>
                </a:solidFill>
                <a:latin typeface="Cambria"/>
                <a:cs typeface="Cambria"/>
              </a:rPr>
              <a:t>great</a:t>
            </a:r>
            <a:r>
              <a:rPr sz="1500" spc="1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1500" spc="1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local</a:t>
            </a:r>
            <a:r>
              <a:rPr sz="1500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mbria"/>
                <a:cs typeface="Cambria"/>
              </a:rPr>
              <a:t>dev </a:t>
            </a:r>
            <a:r>
              <a:rPr sz="1500" spc="50" dirty="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sz="15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155" dirty="0">
                <a:solidFill>
                  <a:srgbClr val="FFFFFF"/>
                </a:solidFill>
                <a:latin typeface="Cambria"/>
                <a:cs typeface="Cambria"/>
              </a:rPr>
              <a:t>WSL</a:t>
            </a:r>
            <a:r>
              <a:rPr sz="15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mbria"/>
                <a:cs typeface="Cambria"/>
              </a:rPr>
              <a:t>(Windows </a:t>
            </a:r>
            <a:r>
              <a:rPr sz="1500" spc="60" dirty="0">
                <a:solidFill>
                  <a:srgbClr val="FFFFFF"/>
                </a:solidFill>
                <a:latin typeface="Cambria"/>
                <a:cs typeface="Cambria"/>
              </a:rPr>
              <a:t>Subsystem</a:t>
            </a:r>
            <a:r>
              <a:rPr sz="15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15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65" dirty="0">
                <a:solidFill>
                  <a:srgbClr val="FFFFFF"/>
                </a:solidFill>
                <a:latin typeface="Cambria"/>
                <a:cs typeface="Cambria"/>
              </a:rPr>
              <a:t>Linux)</a:t>
            </a:r>
            <a:r>
              <a:rPr sz="150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mbria"/>
                <a:cs typeface="Cambria"/>
              </a:rPr>
              <a:t>for </a:t>
            </a:r>
            <a:r>
              <a:rPr sz="1500" spc="75" dirty="0">
                <a:solidFill>
                  <a:srgbClr val="FFFFFF"/>
                </a:solidFill>
                <a:latin typeface="Cambria"/>
                <a:cs typeface="Cambria"/>
              </a:rPr>
              <a:t>Linux-</a:t>
            </a:r>
            <a:r>
              <a:rPr sz="1500" spc="50" dirty="0">
                <a:solidFill>
                  <a:srgbClr val="FFFFFF"/>
                </a:solidFill>
                <a:latin typeface="Cambria"/>
                <a:cs typeface="Cambria"/>
              </a:rPr>
              <a:t>like</a:t>
            </a:r>
            <a:r>
              <a:rPr sz="15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mbria"/>
                <a:cs typeface="Cambria"/>
              </a:rPr>
              <a:t>experience.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0238" y="2242235"/>
            <a:ext cx="3119755" cy="3743325"/>
          </a:xfrm>
          <a:prstGeom prst="rect">
            <a:avLst/>
          </a:prstGeom>
          <a:solidFill>
            <a:srgbClr val="9B7361"/>
          </a:solidFill>
          <a:ln w="13969">
            <a:solidFill>
              <a:srgbClr val="9B7361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marL="308610">
              <a:lnSpc>
                <a:spcPct val="100000"/>
              </a:lnSpc>
              <a:spcBef>
                <a:spcPts val="1440"/>
              </a:spcBef>
            </a:pPr>
            <a:r>
              <a:rPr sz="6600" spc="-25" dirty="0">
                <a:solidFill>
                  <a:srgbClr val="FFFFFF"/>
                </a:solidFill>
                <a:latin typeface="Cambria"/>
                <a:cs typeface="Cambria"/>
              </a:rPr>
              <a:t>03</a:t>
            </a:r>
            <a:endParaRPr sz="6600">
              <a:latin typeface="Cambria"/>
              <a:cs typeface="Cambria"/>
            </a:endParaRPr>
          </a:p>
          <a:p>
            <a:pPr marL="308610" marR="576580">
              <a:lnSpc>
                <a:spcPct val="90300"/>
              </a:lnSpc>
              <a:spcBef>
                <a:spcPts val="2405"/>
              </a:spcBef>
            </a:pPr>
            <a:r>
              <a:rPr sz="1500" b="1" spc="114" dirty="0">
                <a:solidFill>
                  <a:srgbClr val="FFFFFF"/>
                </a:solidFill>
                <a:latin typeface="Cambria"/>
                <a:cs typeface="Cambria"/>
              </a:rPr>
              <a:t>You</a:t>
            </a:r>
            <a:r>
              <a:rPr sz="1500" b="1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spc="120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1500" b="1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spc="80" dirty="0">
                <a:solidFill>
                  <a:srgbClr val="FFFFFF"/>
                </a:solidFill>
                <a:latin typeface="Cambria"/>
                <a:cs typeface="Cambria"/>
              </a:rPr>
              <a:t>learn</a:t>
            </a:r>
            <a:r>
              <a:rPr sz="1500" b="1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spc="45" dirty="0">
                <a:solidFill>
                  <a:srgbClr val="FFFFFF"/>
                </a:solidFill>
                <a:latin typeface="Cambria"/>
                <a:cs typeface="Cambria"/>
              </a:rPr>
              <a:t>both!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1500" spc="22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locally</a:t>
            </a:r>
            <a:r>
              <a:rPr sz="1500" spc="2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sz="1500" spc="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mbria"/>
                <a:cs typeface="Cambria"/>
              </a:rPr>
              <a:t>Windows,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deploy</a:t>
            </a:r>
            <a:r>
              <a:rPr sz="150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dirty="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sz="1500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90" dirty="0">
                <a:solidFill>
                  <a:srgbClr val="FFFFFF"/>
                </a:solidFill>
                <a:latin typeface="Cambria"/>
                <a:cs typeface="Cambria"/>
              </a:rPr>
              <a:t>Linux</a:t>
            </a:r>
            <a:r>
              <a:rPr sz="15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mbria"/>
                <a:cs typeface="Cambria"/>
              </a:rPr>
              <a:t>servers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11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480" dirty="0">
                <a:latin typeface="Cambria"/>
                <a:cs typeface="Cambria"/>
              </a:rPr>
              <a:t>OS</a:t>
            </a:r>
            <a:r>
              <a:rPr sz="3600" b="1" spc="150" dirty="0">
                <a:latin typeface="Cambria"/>
                <a:cs typeface="Cambria"/>
              </a:rPr>
              <a:t> </a:t>
            </a:r>
            <a:r>
              <a:rPr sz="3600" b="1" spc="200" dirty="0">
                <a:latin typeface="Cambria"/>
                <a:cs typeface="Cambria"/>
              </a:rPr>
              <a:t>Comparisons</a:t>
            </a:r>
            <a:r>
              <a:rPr sz="3600" b="1" spc="135" dirty="0">
                <a:latin typeface="Cambria"/>
                <a:cs typeface="Cambria"/>
              </a:rPr>
              <a:t> </a:t>
            </a:r>
            <a:r>
              <a:rPr sz="3600" b="1" spc="155" dirty="0">
                <a:latin typeface="Cambria"/>
                <a:cs typeface="Cambria"/>
              </a:rPr>
              <a:t>for</a:t>
            </a:r>
            <a:r>
              <a:rPr sz="3600" b="1" spc="150" dirty="0">
                <a:latin typeface="Cambria"/>
                <a:cs typeface="Cambria"/>
              </a:rPr>
              <a:t> </a:t>
            </a:r>
            <a:r>
              <a:rPr sz="3600" b="1" spc="325" dirty="0">
                <a:latin typeface="Cambria"/>
                <a:cs typeface="Cambria"/>
              </a:rPr>
              <a:t>AI</a:t>
            </a:r>
            <a:r>
              <a:rPr sz="3600" b="1" spc="165" dirty="0">
                <a:latin typeface="Cambria"/>
                <a:cs typeface="Cambria"/>
              </a:rPr>
              <a:t> </a:t>
            </a:r>
            <a:r>
              <a:rPr sz="3600" b="1" spc="100" dirty="0">
                <a:latin typeface="Cambria"/>
                <a:cs typeface="Cambria"/>
              </a:rPr>
              <a:t>Work</a:t>
            </a:r>
            <a:endParaRPr sz="36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55712" y="1822450"/>
          <a:ext cx="8594724" cy="4008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1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59">
                <a:tc>
                  <a:txBody>
                    <a:bodyPr/>
                    <a:lstStyle/>
                    <a:p>
                      <a:pPr marL="60706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11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Aspect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6E74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16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Linux</a:t>
                      </a:r>
                      <a:r>
                        <a:rPr sz="1800" b="1" spc="13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6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(Ubuntu/Debian)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6E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800" b="1" spc="8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Windows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6E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800" b="1" spc="135" dirty="0">
                          <a:latin typeface="Cambria"/>
                          <a:cs typeface="Cambria"/>
                        </a:rPr>
                        <a:t>Package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120" dirty="0">
                          <a:latin typeface="Cambria"/>
                          <a:cs typeface="Cambria"/>
                        </a:rPr>
                        <a:t>Management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apt/dpkg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–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e.g.,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0" dirty="0">
                          <a:latin typeface="Cambria"/>
                          <a:cs typeface="Cambria"/>
                        </a:rPr>
                        <a:t>apt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0" dirty="0">
                          <a:latin typeface="Cambria"/>
                          <a:cs typeface="Cambria"/>
                        </a:rPr>
                        <a:t>install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mbria"/>
                          <a:cs typeface="Cambria"/>
                        </a:rPr>
                        <a:t>torch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spc="55" dirty="0">
                          <a:latin typeface="Cambria"/>
                          <a:cs typeface="Cambria"/>
                        </a:rPr>
                        <a:t>Chocolatey</a:t>
                      </a:r>
                      <a:r>
                        <a:rPr sz="18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winget</a:t>
                      </a:r>
                      <a:r>
                        <a:rPr sz="1800" spc="1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–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e.g.,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1800" spc="50" dirty="0">
                          <a:latin typeface="Cambria"/>
                          <a:cs typeface="Cambria"/>
                        </a:rPr>
                        <a:t>winget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install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python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840"/>
                        </a:spcBef>
                      </a:pPr>
                      <a:r>
                        <a:rPr sz="1800" b="1" spc="110" dirty="0">
                          <a:latin typeface="Cambria"/>
                          <a:cs typeface="Cambria"/>
                        </a:rPr>
                        <a:t>Stability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233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39116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spc="125" dirty="0">
                          <a:latin typeface="Cambria"/>
                          <a:cs typeface="Cambria"/>
                        </a:rPr>
                        <a:t>High</a:t>
                      </a:r>
                      <a:r>
                        <a:rPr sz="1800" spc="1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1800" spc="2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servers;</a:t>
                      </a:r>
                      <a:r>
                        <a:rPr sz="1800" spc="2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fewer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crashes</a:t>
                      </a:r>
                      <a:r>
                        <a:rPr sz="1800" spc="1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180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long</a:t>
                      </a:r>
                      <a:r>
                        <a:rPr sz="18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29" dirty="0">
                          <a:latin typeface="Cambria"/>
                          <a:cs typeface="Cambria"/>
                        </a:rPr>
                        <a:t>ML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trains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7854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Good</a:t>
                      </a:r>
                      <a:r>
                        <a:rPr sz="1800" spc="2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1800" spc="2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desktops;</a:t>
                      </a:r>
                      <a:r>
                        <a:rPr sz="1800" spc="3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155" dirty="0">
                          <a:latin typeface="Cambria"/>
                          <a:cs typeface="Cambria"/>
                        </a:rPr>
                        <a:t>WSL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bridges</a:t>
                      </a:r>
                      <a:r>
                        <a:rPr sz="1800" spc="3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gap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b="1" spc="130" dirty="0">
                          <a:latin typeface="Cambria"/>
                          <a:cs typeface="Cambria"/>
                        </a:rPr>
                        <a:t>Cost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spc="55" dirty="0">
                          <a:latin typeface="Cambria"/>
                          <a:cs typeface="Cambria"/>
                        </a:rPr>
                        <a:t>Free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 marR="1066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Licensed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(but</a:t>
                      </a:r>
                      <a:r>
                        <a:rPr sz="1800" spc="1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free</a:t>
                      </a:r>
                      <a:r>
                        <a:rPr sz="1800" spc="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25" dirty="0">
                          <a:latin typeface="Cambria"/>
                          <a:cs typeface="Cambria"/>
                        </a:rPr>
                        <a:t>for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personal)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sz="1800" b="1" spc="180" dirty="0">
                          <a:latin typeface="Cambria"/>
                          <a:cs typeface="Cambria"/>
                        </a:rPr>
                        <a:t>AI</a:t>
                      </a:r>
                      <a:r>
                        <a:rPr sz="1800" b="1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65" dirty="0">
                          <a:latin typeface="Cambria"/>
                          <a:cs typeface="Cambria"/>
                        </a:rPr>
                        <a:t>Tools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343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855"/>
                        </a:spcBef>
                      </a:pPr>
                      <a:r>
                        <a:rPr sz="1800" spc="90" dirty="0">
                          <a:latin typeface="Cambria"/>
                          <a:cs typeface="Cambria"/>
                        </a:rPr>
                        <a:t>Native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35" dirty="0">
                          <a:latin typeface="Cambria"/>
                          <a:cs typeface="Cambria"/>
                        </a:rPr>
                        <a:t>CUDA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support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355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855"/>
                        </a:spcBef>
                      </a:pPr>
                      <a:r>
                        <a:rPr sz="1800" spc="55" dirty="0">
                          <a:latin typeface="Cambria"/>
                          <a:cs typeface="Cambria"/>
                        </a:rPr>
                        <a:t>Requires</a:t>
                      </a:r>
                      <a:r>
                        <a:rPr sz="18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extra</a:t>
                      </a:r>
                      <a:r>
                        <a:rPr sz="18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setup</a:t>
                      </a:r>
                      <a:r>
                        <a:rPr sz="18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1800" spc="1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185" dirty="0">
                          <a:latin typeface="Cambria"/>
                          <a:cs typeface="Cambria"/>
                        </a:rPr>
                        <a:t>GPUs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2355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74295" marR="83566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130" dirty="0">
                          <a:latin typeface="Cambria"/>
                          <a:cs typeface="Cambria"/>
                        </a:rPr>
                        <a:t>Learning </a:t>
                      </a:r>
                      <a:r>
                        <a:rPr sz="1800" b="1" spc="155" dirty="0">
                          <a:latin typeface="Cambria"/>
                          <a:cs typeface="Cambria"/>
                        </a:rPr>
                        <a:t>Curve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spc="60" dirty="0">
                          <a:latin typeface="Cambria"/>
                          <a:cs typeface="Cambria"/>
                        </a:rPr>
                        <a:t>Steeper</a:t>
                      </a:r>
                      <a:r>
                        <a:rPr sz="18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15" dirty="0">
                          <a:latin typeface="Cambria"/>
                          <a:cs typeface="Cambria"/>
                        </a:rPr>
                        <a:t>CLI</a:t>
                      </a:r>
                      <a:r>
                        <a:rPr sz="18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focus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spc="90" dirty="0">
                          <a:latin typeface="Cambria"/>
                          <a:cs typeface="Cambria"/>
                        </a:rPr>
                        <a:t>Gentler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with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175" dirty="0">
                          <a:latin typeface="Cambria"/>
                          <a:cs typeface="Cambria"/>
                        </a:rPr>
                        <a:t>GUIs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68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229" dirty="0">
                <a:latin typeface="Cambria"/>
                <a:cs typeface="Cambria"/>
              </a:rPr>
              <a:t>Interface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62062" y="2013585"/>
            <a:ext cx="8785860" cy="1200150"/>
            <a:chOff x="1262062" y="2013585"/>
            <a:chExt cx="8785860" cy="1200150"/>
          </a:xfrm>
        </p:grpSpPr>
        <p:sp>
          <p:nvSpPr>
            <p:cNvPr id="4" name="object 4"/>
            <p:cNvSpPr/>
            <p:nvPr/>
          </p:nvSpPr>
          <p:spPr>
            <a:xfrm>
              <a:off x="1262062" y="2013585"/>
              <a:ext cx="8785860" cy="1200150"/>
            </a:xfrm>
            <a:custGeom>
              <a:avLst/>
              <a:gdLst/>
              <a:ahLst/>
              <a:cxnLst/>
              <a:rect l="l" t="t" r="r" b="b"/>
              <a:pathLst>
                <a:path w="8785860" h="1200150">
                  <a:moveTo>
                    <a:pt x="8665781" y="0"/>
                  </a:moveTo>
                  <a:lnTo>
                    <a:pt x="120078" y="0"/>
                  </a:lnTo>
                  <a:lnTo>
                    <a:pt x="73348" y="9429"/>
                  </a:lnTo>
                  <a:lnTo>
                    <a:pt x="35178" y="35147"/>
                  </a:lnTo>
                  <a:lnTo>
                    <a:pt x="943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39" y="1126855"/>
                  </a:lnTo>
                  <a:lnTo>
                    <a:pt x="35178" y="1165002"/>
                  </a:lnTo>
                  <a:lnTo>
                    <a:pt x="73348" y="1190720"/>
                  </a:lnTo>
                  <a:lnTo>
                    <a:pt x="120078" y="1200150"/>
                  </a:lnTo>
                  <a:lnTo>
                    <a:pt x="8665781" y="1200150"/>
                  </a:lnTo>
                  <a:lnTo>
                    <a:pt x="8712448" y="1190720"/>
                  </a:lnTo>
                  <a:lnTo>
                    <a:pt x="8750601" y="1165002"/>
                  </a:lnTo>
                  <a:lnTo>
                    <a:pt x="8776348" y="1126855"/>
                  </a:lnTo>
                  <a:lnTo>
                    <a:pt x="8785796" y="1080135"/>
                  </a:lnTo>
                  <a:lnTo>
                    <a:pt x="8785796" y="120014"/>
                  </a:lnTo>
                  <a:lnTo>
                    <a:pt x="8776348" y="73294"/>
                  </a:lnTo>
                  <a:lnTo>
                    <a:pt x="8750601" y="35147"/>
                  </a:lnTo>
                  <a:lnTo>
                    <a:pt x="8712448" y="9429"/>
                  </a:lnTo>
                  <a:lnTo>
                    <a:pt x="8665781" y="0"/>
                  </a:lnTo>
                  <a:close/>
                </a:path>
              </a:pathLst>
            </a:custGeom>
            <a:solidFill>
              <a:srgbClr val="92A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7417" y="2571253"/>
              <a:ext cx="96804" cy="1552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8204" y="2571253"/>
              <a:ext cx="96804" cy="1552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4286" y="2404008"/>
              <a:ext cx="544195" cy="422275"/>
            </a:xfrm>
            <a:custGeom>
              <a:avLst/>
              <a:gdLst/>
              <a:ahLst/>
              <a:cxnLst/>
              <a:rect l="l" t="t" r="r" b="b"/>
              <a:pathLst>
                <a:path w="544194" h="422275">
                  <a:moveTo>
                    <a:pt x="316547" y="175260"/>
                  </a:moveTo>
                  <a:lnTo>
                    <a:pt x="291414" y="164846"/>
                  </a:lnTo>
                  <a:lnTo>
                    <a:pt x="226390" y="321868"/>
                  </a:lnTo>
                  <a:lnTo>
                    <a:pt x="251498" y="332282"/>
                  </a:lnTo>
                  <a:lnTo>
                    <a:pt x="316547" y="175260"/>
                  </a:lnTo>
                  <a:close/>
                </a:path>
                <a:path w="544194" h="422275">
                  <a:moveTo>
                    <a:pt x="543839" y="0"/>
                  </a:moveTo>
                  <a:lnTo>
                    <a:pt x="503059" y="0"/>
                  </a:lnTo>
                  <a:lnTo>
                    <a:pt x="503059" y="108826"/>
                  </a:lnTo>
                  <a:lnTo>
                    <a:pt x="503059" y="380898"/>
                  </a:lnTo>
                  <a:lnTo>
                    <a:pt x="40792" y="380898"/>
                  </a:lnTo>
                  <a:lnTo>
                    <a:pt x="40792" y="108826"/>
                  </a:lnTo>
                  <a:lnTo>
                    <a:pt x="503059" y="108826"/>
                  </a:lnTo>
                  <a:lnTo>
                    <a:pt x="503059" y="0"/>
                  </a:lnTo>
                  <a:lnTo>
                    <a:pt x="482663" y="0"/>
                  </a:lnTo>
                  <a:lnTo>
                    <a:pt x="482663" y="46901"/>
                  </a:lnTo>
                  <a:lnTo>
                    <a:pt x="482663" y="61925"/>
                  </a:lnTo>
                  <a:lnTo>
                    <a:pt x="476580" y="68008"/>
                  </a:lnTo>
                  <a:lnTo>
                    <a:pt x="461556" y="68008"/>
                  </a:lnTo>
                  <a:lnTo>
                    <a:pt x="455472" y="61925"/>
                  </a:lnTo>
                  <a:lnTo>
                    <a:pt x="455472" y="46901"/>
                  </a:lnTo>
                  <a:lnTo>
                    <a:pt x="461556" y="40805"/>
                  </a:lnTo>
                  <a:lnTo>
                    <a:pt x="476580" y="40805"/>
                  </a:lnTo>
                  <a:lnTo>
                    <a:pt x="482663" y="46901"/>
                  </a:lnTo>
                  <a:lnTo>
                    <a:pt x="482663" y="0"/>
                  </a:lnTo>
                  <a:lnTo>
                    <a:pt x="435076" y="0"/>
                  </a:lnTo>
                  <a:lnTo>
                    <a:pt x="435076" y="46901"/>
                  </a:lnTo>
                  <a:lnTo>
                    <a:pt x="435076" y="61925"/>
                  </a:lnTo>
                  <a:lnTo>
                    <a:pt x="428993" y="68008"/>
                  </a:lnTo>
                  <a:lnTo>
                    <a:pt x="413969" y="68008"/>
                  </a:lnTo>
                  <a:lnTo>
                    <a:pt x="407885" y="61925"/>
                  </a:lnTo>
                  <a:lnTo>
                    <a:pt x="407885" y="46901"/>
                  </a:lnTo>
                  <a:lnTo>
                    <a:pt x="413969" y="40805"/>
                  </a:lnTo>
                  <a:lnTo>
                    <a:pt x="428993" y="40805"/>
                  </a:lnTo>
                  <a:lnTo>
                    <a:pt x="435076" y="46901"/>
                  </a:lnTo>
                  <a:lnTo>
                    <a:pt x="435076" y="0"/>
                  </a:lnTo>
                  <a:lnTo>
                    <a:pt x="387489" y="0"/>
                  </a:lnTo>
                  <a:lnTo>
                    <a:pt x="387489" y="46901"/>
                  </a:lnTo>
                  <a:lnTo>
                    <a:pt x="387489" y="61925"/>
                  </a:lnTo>
                  <a:lnTo>
                    <a:pt x="381406" y="68008"/>
                  </a:lnTo>
                  <a:lnTo>
                    <a:pt x="366382" y="68008"/>
                  </a:lnTo>
                  <a:lnTo>
                    <a:pt x="360299" y="61925"/>
                  </a:lnTo>
                  <a:lnTo>
                    <a:pt x="360299" y="46901"/>
                  </a:lnTo>
                  <a:lnTo>
                    <a:pt x="366382" y="40805"/>
                  </a:lnTo>
                  <a:lnTo>
                    <a:pt x="381406" y="40805"/>
                  </a:lnTo>
                  <a:lnTo>
                    <a:pt x="387489" y="46901"/>
                  </a:lnTo>
                  <a:lnTo>
                    <a:pt x="387489" y="0"/>
                  </a:lnTo>
                  <a:lnTo>
                    <a:pt x="0" y="0"/>
                  </a:lnTo>
                  <a:lnTo>
                    <a:pt x="0" y="421703"/>
                  </a:lnTo>
                  <a:lnTo>
                    <a:pt x="543839" y="421703"/>
                  </a:lnTo>
                  <a:lnTo>
                    <a:pt x="543839" y="380898"/>
                  </a:lnTo>
                  <a:lnTo>
                    <a:pt x="543839" y="108826"/>
                  </a:lnTo>
                  <a:lnTo>
                    <a:pt x="543839" y="68008"/>
                  </a:lnTo>
                  <a:lnTo>
                    <a:pt x="543839" y="40805"/>
                  </a:lnTo>
                  <a:lnTo>
                    <a:pt x="5438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262062" y="3513709"/>
            <a:ext cx="8785860" cy="1200150"/>
            <a:chOff x="1262062" y="3513709"/>
            <a:chExt cx="8785860" cy="1200150"/>
          </a:xfrm>
        </p:grpSpPr>
        <p:sp>
          <p:nvSpPr>
            <p:cNvPr id="9" name="object 9"/>
            <p:cNvSpPr/>
            <p:nvPr/>
          </p:nvSpPr>
          <p:spPr>
            <a:xfrm>
              <a:off x="1262062" y="3513709"/>
              <a:ext cx="8785860" cy="1200150"/>
            </a:xfrm>
            <a:custGeom>
              <a:avLst/>
              <a:gdLst/>
              <a:ahLst/>
              <a:cxnLst/>
              <a:rect l="l" t="t" r="r" b="b"/>
              <a:pathLst>
                <a:path w="8785860" h="1200150">
                  <a:moveTo>
                    <a:pt x="8665781" y="0"/>
                  </a:moveTo>
                  <a:lnTo>
                    <a:pt x="120078" y="0"/>
                  </a:lnTo>
                  <a:lnTo>
                    <a:pt x="73348" y="9429"/>
                  </a:lnTo>
                  <a:lnTo>
                    <a:pt x="35178" y="35147"/>
                  </a:lnTo>
                  <a:lnTo>
                    <a:pt x="9439" y="73294"/>
                  </a:lnTo>
                  <a:lnTo>
                    <a:pt x="0" y="120014"/>
                  </a:lnTo>
                  <a:lnTo>
                    <a:pt x="0" y="1080134"/>
                  </a:lnTo>
                  <a:lnTo>
                    <a:pt x="9439" y="1126855"/>
                  </a:lnTo>
                  <a:lnTo>
                    <a:pt x="35178" y="1165002"/>
                  </a:lnTo>
                  <a:lnTo>
                    <a:pt x="73348" y="1190720"/>
                  </a:lnTo>
                  <a:lnTo>
                    <a:pt x="120078" y="1200149"/>
                  </a:lnTo>
                  <a:lnTo>
                    <a:pt x="8665781" y="1200149"/>
                  </a:lnTo>
                  <a:lnTo>
                    <a:pt x="8712448" y="1190720"/>
                  </a:lnTo>
                  <a:lnTo>
                    <a:pt x="8750601" y="1165002"/>
                  </a:lnTo>
                  <a:lnTo>
                    <a:pt x="8776348" y="1126855"/>
                  </a:lnTo>
                  <a:lnTo>
                    <a:pt x="8785796" y="1080134"/>
                  </a:lnTo>
                  <a:lnTo>
                    <a:pt x="8785796" y="120014"/>
                  </a:lnTo>
                  <a:lnTo>
                    <a:pt x="8776348" y="73294"/>
                  </a:lnTo>
                  <a:lnTo>
                    <a:pt x="8750601" y="35147"/>
                  </a:lnTo>
                  <a:lnTo>
                    <a:pt x="8712448" y="9429"/>
                  </a:lnTo>
                  <a:lnTo>
                    <a:pt x="8665781" y="0"/>
                  </a:lnTo>
                  <a:close/>
                </a:path>
              </a:pathLst>
            </a:custGeom>
            <a:solidFill>
              <a:srgbClr val="A7B7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97875" y="3856647"/>
              <a:ext cx="516890" cy="517525"/>
            </a:xfrm>
            <a:custGeom>
              <a:avLst/>
              <a:gdLst/>
              <a:ahLst/>
              <a:cxnLst/>
              <a:rect l="l" t="t" r="r" b="b"/>
              <a:pathLst>
                <a:path w="516889" h="517525">
                  <a:moveTo>
                    <a:pt x="47586" y="380898"/>
                  </a:moveTo>
                  <a:lnTo>
                    <a:pt x="0" y="380898"/>
                  </a:lnTo>
                  <a:lnTo>
                    <a:pt x="0" y="408101"/>
                  </a:lnTo>
                  <a:lnTo>
                    <a:pt x="47586" y="408101"/>
                  </a:lnTo>
                  <a:lnTo>
                    <a:pt x="47586" y="380898"/>
                  </a:lnTo>
                  <a:close/>
                </a:path>
                <a:path w="516889" h="517525">
                  <a:moveTo>
                    <a:pt x="47586" y="326478"/>
                  </a:moveTo>
                  <a:lnTo>
                    <a:pt x="0" y="326478"/>
                  </a:lnTo>
                  <a:lnTo>
                    <a:pt x="0" y="353682"/>
                  </a:lnTo>
                  <a:lnTo>
                    <a:pt x="47586" y="353682"/>
                  </a:lnTo>
                  <a:lnTo>
                    <a:pt x="47586" y="326478"/>
                  </a:lnTo>
                  <a:close/>
                </a:path>
                <a:path w="516889" h="517525">
                  <a:moveTo>
                    <a:pt x="47586" y="272072"/>
                  </a:moveTo>
                  <a:lnTo>
                    <a:pt x="0" y="272072"/>
                  </a:lnTo>
                  <a:lnTo>
                    <a:pt x="0" y="299275"/>
                  </a:lnTo>
                  <a:lnTo>
                    <a:pt x="47586" y="299275"/>
                  </a:lnTo>
                  <a:lnTo>
                    <a:pt x="47586" y="272072"/>
                  </a:lnTo>
                  <a:close/>
                </a:path>
                <a:path w="516889" h="517525">
                  <a:moveTo>
                    <a:pt x="47586" y="217652"/>
                  </a:moveTo>
                  <a:lnTo>
                    <a:pt x="0" y="217652"/>
                  </a:lnTo>
                  <a:lnTo>
                    <a:pt x="0" y="244856"/>
                  </a:lnTo>
                  <a:lnTo>
                    <a:pt x="47586" y="244856"/>
                  </a:lnTo>
                  <a:lnTo>
                    <a:pt x="47586" y="217652"/>
                  </a:lnTo>
                  <a:close/>
                </a:path>
                <a:path w="516889" h="517525">
                  <a:moveTo>
                    <a:pt x="47586" y="163233"/>
                  </a:moveTo>
                  <a:lnTo>
                    <a:pt x="0" y="163233"/>
                  </a:lnTo>
                  <a:lnTo>
                    <a:pt x="0" y="190449"/>
                  </a:lnTo>
                  <a:lnTo>
                    <a:pt x="47586" y="190449"/>
                  </a:lnTo>
                  <a:lnTo>
                    <a:pt x="47586" y="163233"/>
                  </a:lnTo>
                  <a:close/>
                </a:path>
                <a:path w="516889" h="517525">
                  <a:moveTo>
                    <a:pt x="47586" y="108826"/>
                  </a:moveTo>
                  <a:lnTo>
                    <a:pt x="0" y="108826"/>
                  </a:lnTo>
                  <a:lnTo>
                    <a:pt x="0" y="136029"/>
                  </a:lnTo>
                  <a:lnTo>
                    <a:pt x="47586" y="136029"/>
                  </a:lnTo>
                  <a:lnTo>
                    <a:pt x="47586" y="108826"/>
                  </a:lnTo>
                  <a:close/>
                </a:path>
                <a:path w="516889" h="517525">
                  <a:moveTo>
                    <a:pt x="135966" y="469315"/>
                  </a:moveTo>
                  <a:lnTo>
                    <a:pt x="108775" y="469315"/>
                  </a:lnTo>
                  <a:lnTo>
                    <a:pt x="108775" y="516928"/>
                  </a:lnTo>
                  <a:lnTo>
                    <a:pt x="135966" y="516928"/>
                  </a:lnTo>
                  <a:lnTo>
                    <a:pt x="135966" y="469315"/>
                  </a:lnTo>
                  <a:close/>
                </a:path>
                <a:path w="516889" h="517525">
                  <a:moveTo>
                    <a:pt x="135966" y="0"/>
                  </a:moveTo>
                  <a:lnTo>
                    <a:pt x="108775" y="0"/>
                  </a:lnTo>
                  <a:lnTo>
                    <a:pt x="108775" y="47612"/>
                  </a:lnTo>
                  <a:lnTo>
                    <a:pt x="135966" y="47612"/>
                  </a:lnTo>
                  <a:lnTo>
                    <a:pt x="135966" y="0"/>
                  </a:lnTo>
                  <a:close/>
                </a:path>
                <a:path w="516889" h="517525">
                  <a:moveTo>
                    <a:pt x="190347" y="469315"/>
                  </a:moveTo>
                  <a:lnTo>
                    <a:pt x="163156" y="469315"/>
                  </a:lnTo>
                  <a:lnTo>
                    <a:pt x="163156" y="516928"/>
                  </a:lnTo>
                  <a:lnTo>
                    <a:pt x="190347" y="516928"/>
                  </a:lnTo>
                  <a:lnTo>
                    <a:pt x="190347" y="469315"/>
                  </a:lnTo>
                  <a:close/>
                </a:path>
                <a:path w="516889" h="517525">
                  <a:moveTo>
                    <a:pt x="190347" y="0"/>
                  </a:moveTo>
                  <a:lnTo>
                    <a:pt x="163156" y="0"/>
                  </a:lnTo>
                  <a:lnTo>
                    <a:pt x="163156" y="47612"/>
                  </a:lnTo>
                  <a:lnTo>
                    <a:pt x="190347" y="47612"/>
                  </a:lnTo>
                  <a:lnTo>
                    <a:pt x="190347" y="0"/>
                  </a:lnTo>
                  <a:close/>
                </a:path>
                <a:path w="516889" h="517525">
                  <a:moveTo>
                    <a:pt x="244729" y="0"/>
                  </a:moveTo>
                  <a:lnTo>
                    <a:pt x="217538" y="0"/>
                  </a:lnTo>
                  <a:lnTo>
                    <a:pt x="217538" y="47612"/>
                  </a:lnTo>
                  <a:lnTo>
                    <a:pt x="244729" y="47612"/>
                  </a:lnTo>
                  <a:lnTo>
                    <a:pt x="244729" y="0"/>
                  </a:lnTo>
                  <a:close/>
                </a:path>
                <a:path w="516889" h="517525">
                  <a:moveTo>
                    <a:pt x="244741" y="469315"/>
                  </a:moveTo>
                  <a:lnTo>
                    <a:pt x="217538" y="469315"/>
                  </a:lnTo>
                  <a:lnTo>
                    <a:pt x="217538" y="516928"/>
                  </a:lnTo>
                  <a:lnTo>
                    <a:pt x="244741" y="516928"/>
                  </a:lnTo>
                  <a:lnTo>
                    <a:pt x="244741" y="469315"/>
                  </a:lnTo>
                  <a:close/>
                </a:path>
                <a:path w="516889" h="517525">
                  <a:moveTo>
                    <a:pt x="299123" y="469315"/>
                  </a:moveTo>
                  <a:lnTo>
                    <a:pt x="271932" y="469315"/>
                  </a:lnTo>
                  <a:lnTo>
                    <a:pt x="271932" y="516928"/>
                  </a:lnTo>
                  <a:lnTo>
                    <a:pt x="299123" y="516928"/>
                  </a:lnTo>
                  <a:lnTo>
                    <a:pt x="299123" y="469315"/>
                  </a:lnTo>
                  <a:close/>
                </a:path>
                <a:path w="516889" h="517525">
                  <a:moveTo>
                    <a:pt x="299123" y="0"/>
                  </a:moveTo>
                  <a:lnTo>
                    <a:pt x="271932" y="0"/>
                  </a:lnTo>
                  <a:lnTo>
                    <a:pt x="271932" y="47612"/>
                  </a:lnTo>
                  <a:lnTo>
                    <a:pt x="299123" y="47612"/>
                  </a:lnTo>
                  <a:lnTo>
                    <a:pt x="299123" y="0"/>
                  </a:lnTo>
                  <a:close/>
                </a:path>
                <a:path w="516889" h="517525">
                  <a:moveTo>
                    <a:pt x="353504" y="469315"/>
                  </a:moveTo>
                  <a:lnTo>
                    <a:pt x="326313" y="469315"/>
                  </a:lnTo>
                  <a:lnTo>
                    <a:pt x="326313" y="516928"/>
                  </a:lnTo>
                  <a:lnTo>
                    <a:pt x="353504" y="516928"/>
                  </a:lnTo>
                  <a:lnTo>
                    <a:pt x="353504" y="469315"/>
                  </a:lnTo>
                  <a:close/>
                </a:path>
                <a:path w="516889" h="517525">
                  <a:moveTo>
                    <a:pt x="353504" y="0"/>
                  </a:moveTo>
                  <a:lnTo>
                    <a:pt x="326313" y="0"/>
                  </a:lnTo>
                  <a:lnTo>
                    <a:pt x="326313" y="47612"/>
                  </a:lnTo>
                  <a:lnTo>
                    <a:pt x="353504" y="47612"/>
                  </a:lnTo>
                  <a:lnTo>
                    <a:pt x="353504" y="0"/>
                  </a:lnTo>
                  <a:close/>
                </a:path>
                <a:path w="516889" h="517525">
                  <a:moveTo>
                    <a:pt x="407885" y="469315"/>
                  </a:moveTo>
                  <a:lnTo>
                    <a:pt x="380695" y="469315"/>
                  </a:lnTo>
                  <a:lnTo>
                    <a:pt x="380695" y="516928"/>
                  </a:lnTo>
                  <a:lnTo>
                    <a:pt x="407885" y="516928"/>
                  </a:lnTo>
                  <a:lnTo>
                    <a:pt x="407885" y="469315"/>
                  </a:lnTo>
                  <a:close/>
                </a:path>
                <a:path w="516889" h="517525">
                  <a:moveTo>
                    <a:pt x="407885" y="0"/>
                  </a:moveTo>
                  <a:lnTo>
                    <a:pt x="380695" y="0"/>
                  </a:lnTo>
                  <a:lnTo>
                    <a:pt x="380695" y="47612"/>
                  </a:lnTo>
                  <a:lnTo>
                    <a:pt x="407885" y="47612"/>
                  </a:lnTo>
                  <a:lnTo>
                    <a:pt x="407885" y="0"/>
                  </a:lnTo>
                  <a:close/>
                </a:path>
                <a:path w="516889" h="517525">
                  <a:moveTo>
                    <a:pt x="441883" y="102019"/>
                  </a:moveTo>
                  <a:lnTo>
                    <a:pt x="439737" y="91427"/>
                  </a:lnTo>
                  <a:lnTo>
                    <a:pt x="433908" y="82778"/>
                  </a:lnTo>
                  <a:lnTo>
                    <a:pt x="425272" y="76949"/>
                  </a:lnTo>
                  <a:lnTo>
                    <a:pt x="414680" y="74815"/>
                  </a:lnTo>
                  <a:lnTo>
                    <a:pt x="373900" y="74815"/>
                  </a:lnTo>
                  <a:lnTo>
                    <a:pt x="373900" y="142836"/>
                  </a:lnTo>
                  <a:lnTo>
                    <a:pt x="373900" y="374091"/>
                  </a:lnTo>
                  <a:lnTo>
                    <a:pt x="142760" y="374091"/>
                  </a:lnTo>
                  <a:lnTo>
                    <a:pt x="142760" y="142836"/>
                  </a:lnTo>
                  <a:lnTo>
                    <a:pt x="373900" y="142836"/>
                  </a:lnTo>
                  <a:lnTo>
                    <a:pt x="373900" y="74815"/>
                  </a:lnTo>
                  <a:lnTo>
                    <a:pt x="101981" y="74815"/>
                  </a:lnTo>
                  <a:lnTo>
                    <a:pt x="91389" y="76949"/>
                  </a:lnTo>
                  <a:lnTo>
                    <a:pt x="82753" y="82778"/>
                  </a:lnTo>
                  <a:lnTo>
                    <a:pt x="76923" y="91427"/>
                  </a:lnTo>
                  <a:lnTo>
                    <a:pt x="74790" y="102019"/>
                  </a:lnTo>
                  <a:lnTo>
                    <a:pt x="74790" y="414909"/>
                  </a:lnTo>
                  <a:lnTo>
                    <a:pt x="76923" y="425500"/>
                  </a:lnTo>
                  <a:lnTo>
                    <a:pt x="82753" y="434136"/>
                  </a:lnTo>
                  <a:lnTo>
                    <a:pt x="91389" y="439978"/>
                  </a:lnTo>
                  <a:lnTo>
                    <a:pt x="101981" y="442112"/>
                  </a:lnTo>
                  <a:lnTo>
                    <a:pt x="414680" y="442112"/>
                  </a:lnTo>
                  <a:lnTo>
                    <a:pt x="425272" y="439978"/>
                  </a:lnTo>
                  <a:lnTo>
                    <a:pt x="433908" y="434136"/>
                  </a:lnTo>
                  <a:lnTo>
                    <a:pt x="439737" y="425500"/>
                  </a:lnTo>
                  <a:lnTo>
                    <a:pt x="441883" y="414909"/>
                  </a:lnTo>
                  <a:lnTo>
                    <a:pt x="441883" y="374091"/>
                  </a:lnTo>
                  <a:lnTo>
                    <a:pt x="441883" y="142836"/>
                  </a:lnTo>
                  <a:lnTo>
                    <a:pt x="441883" y="102019"/>
                  </a:lnTo>
                  <a:close/>
                </a:path>
                <a:path w="516889" h="517525">
                  <a:moveTo>
                    <a:pt x="516661" y="380898"/>
                  </a:moveTo>
                  <a:lnTo>
                    <a:pt x="469074" y="380898"/>
                  </a:lnTo>
                  <a:lnTo>
                    <a:pt x="469074" y="408101"/>
                  </a:lnTo>
                  <a:lnTo>
                    <a:pt x="516661" y="408101"/>
                  </a:lnTo>
                  <a:lnTo>
                    <a:pt x="516661" y="380898"/>
                  </a:lnTo>
                  <a:close/>
                </a:path>
                <a:path w="516889" h="517525">
                  <a:moveTo>
                    <a:pt x="516661" y="326478"/>
                  </a:moveTo>
                  <a:lnTo>
                    <a:pt x="469074" y="326478"/>
                  </a:lnTo>
                  <a:lnTo>
                    <a:pt x="469074" y="353682"/>
                  </a:lnTo>
                  <a:lnTo>
                    <a:pt x="516661" y="353682"/>
                  </a:lnTo>
                  <a:lnTo>
                    <a:pt x="516661" y="326478"/>
                  </a:lnTo>
                  <a:close/>
                </a:path>
                <a:path w="516889" h="517525">
                  <a:moveTo>
                    <a:pt x="516661" y="272072"/>
                  </a:moveTo>
                  <a:lnTo>
                    <a:pt x="469074" y="272072"/>
                  </a:lnTo>
                  <a:lnTo>
                    <a:pt x="469074" y="299275"/>
                  </a:lnTo>
                  <a:lnTo>
                    <a:pt x="516661" y="299275"/>
                  </a:lnTo>
                  <a:lnTo>
                    <a:pt x="516661" y="272072"/>
                  </a:lnTo>
                  <a:close/>
                </a:path>
                <a:path w="516889" h="517525">
                  <a:moveTo>
                    <a:pt x="516661" y="217652"/>
                  </a:moveTo>
                  <a:lnTo>
                    <a:pt x="469074" y="217652"/>
                  </a:lnTo>
                  <a:lnTo>
                    <a:pt x="469074" y="244856"/>
                  </a:lnTo>
                  <a:lnTo>
                    <a:pt x="516661" y="244856"/>
                  </a:lnTo>
                  <a:lnTo>
                    <a:pt x="516661" y="217652"/>
                  </a:lnTo>
                  <a:close/>
                </a:path>
                <a:path w="516889" h="517525">
                  <a:moveTo>
                    <a:pt x="516661" y="163233"/>
                  </a:moveTo>
                  <a:lnTo>
                    <a:pt x="469074" y="163233"/>
                  </a:lnTo>
                  <a:lnTo>
                    <a:pt x="469074" y="190449"/>
                  </a:lnTo>
                  <a:lnTo>
                    <a:pt x="516661" y="190449"/>
                  </a:lnTo>
                  <a:lnTo>
                    <a:pt x="516661" y="163233"/>
                  </a:lnTo>
                  <a:close/>
                </a:path>
                <a:path w="516889" h="517525">
                  <a:moveTo>
                    <a:pt x="516661" y="108826"/>
                  </a:moveTo>
                  <a:lnTo>
                    <a:pt x="469074" y="108826"/>
                  </a:lnTo>
                  <a:lnTo>
                    <a:pt x="469074" y="136029"/>
                  </a:lnTo>
                  <a:lnTo>
                    <a:pt x="516661" y="136029"/>
                  </a:lnTo>
                  <a:lnTo>
                    <a:pt x="516661" y="108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867838" y="4026680"/>
            <a:ext cx="177165" cy="177165"/>
          </a:xfrm>
          <a:custGeom>
            <a:avLst/>
            <a:gdLst/>
            <a:ahLst/>
            <a:cxnLst/>
            <a:rect l="l" t="t" r="r" b="b"/>
            <a:pathLst>
              <a:path w="177164" h="177164">
                <a:moveTo>
                  <a:pt x="176749" y="0"/>
                </a:moveTo>
                <a:lnTo>
                  <a:pt x="0" y="0"/>
                </a:lnTo>
                <a:lnTo>
                  <a:pt x="0" y="176846"/>
                </a:lnTo>
                <a:lnTo>
                  <a:pt x="176749" y="176846"/>
                </a:lnTo>
                <a:lnTo>
                  <a:pt x="17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262062" y="5013833"/>
            <a:ext cx="8785860" cy="1200785"/>
            <a:chOff x="1262062" y="5013833"/>
            <a:chExt cx="8785860" cy="1200785"/>
          </a:xfrm>
        </p:grpSpPr>
        <p:sp>
          <p:nvSpPr>
            <p:cNvPr id="13" name="object 13"/>
            <p:cNvSpPr/>
            <p:nvPr/>
          </p:nvSpPr>
          <p:spPr>
            <a:xfrm>
              <a:off x="1262062" y="5013833"/>
              <a:ext cx="8785860" cy="1200785"/>
            </a:xfrm>
            <a:custGeom>
              <a:avLst/>
              <a:gdLst/>
              <a:ahLst/>
              <a:cxnLst/>
              <a:rect l="l" t="t" r="r" b="b"/>
              <a:pathLst>
                <a:path w="8785860" h="1200785">
                  <a:moveTo>
                    <a:pt x="8665781" y="0"/>
                  </a:moveTo>
                  <a:lnTo>
                    <a:pt x="120078" y="0"/>
                  </a:lnTo>
                  <a:lnTo>
                    <a:pt x="73348" y="9447"/>
                  </a:lnTo>
                  <a:lnTo>
                    <a:pt x="35178" y="35194"/>
                  </a:lnTo>
                  <a:lnTo>
                    <a:pt x="9439" y="73348"/>
                  </a:lnTo>
                  <a:lnTo>
                    <a:pt x="0" y="120015"/>
                  </a:lnTo>
                  <a:lnTo>
                    <a:pt x="0" y="1080173"/>
                  </a:lnTo>
                  <a:lnTo>
                    <a:pt x="9439" y="1126887"/>
                  </a:lnTo>
                  <a:lnTo>
                    <a:pt x="35178" y="1165036"/>
                  </a:lnTo>
                  <a:lnTo>
                    <a:pt x="73348" y="1190756"/>
                  </a:lnTo>
                  <a:lnTo>
                    <a:pt x="120078" y="1200188"/>
                  </a:lnTo>
                  <a:lnTo>
                    <a:pt x="8665781" y="1200188"/>
                  </a:lnTo>
                  <a:lnTo>
                    <a:pt x="8712448" y="1190756"/>
                  </a:lnTo>
                  <a:lnTo>
                    <a:pt x="8750601" y="1165036"/>
                  </a:lnTo>
                  <a:lnTo>
                    <a:pt x="8776348" y="1126887"/>
                  </a:lnTo>
                  <a:lnTo>
                    <a:pt x="8785796" y="1080173"/>
                  </a:lnTo>
                  <a:lnTo>
                    <a:pt x="8785796" y="120015"/>
                  </a:lnTo>
                  <a:lnTo>
                    <a:pt x="8776348" y="73348"/>
                  </a:lnTo>
                  <a:lnTo>
                    <a:pt x="8750601" y="35194"/>
                  </a:lnTo>
                  <a:lnTo>
                    <a:pt x="8712448" y="9447"/>
                  </a:lnTo>
                  <a:lnTo>
                    <a:pt x="8665781" y="0"/>
                  </a:lnTo>
                  <a:close/>
                </a:path>
              </a:pathLst>
            </a:custGeom>
            <a:solidFill>
              <a:srgbClr val="B8A3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25079" y="5404385"/>
              <a:ext cx="462280" cy="422275"/>
            </a:xfrm>
            <a:custGeom>
              <a:avLst/>
              <a:gdLst/>
              <a:ahLst/>
              <a:cxnLst/>
              <a:rect l="l" t="t" r="r" b="b"/>
              <a:pathLst>
                <a:path w="462280" h="422275">
                  <a:moveTo>
                    <a:pt x="367094" y="326514"/>
                  </a:moveTo>
                  <a:lnTo>
                    <a:pt x="277387" y="326514"/>
                  </a:lnTo>
                  <a:lnTo>
                    <a:pt x="367094" y="421710"/>
                  </a:lnTo>
                  <a:lnTo>
                    <a:pt x="367094" y="326514"/>
                  </a:lnTo>
                  <a:close/>
                </a:path>
                <a:path w="462280" h="422275">
                  <a:moveTo>
                    <a:pt x="439153" y="0"/>
                  </a:moveTo>
                  <a:lnTo>
                    <a:pt x="23113" y="0"/>
                  </a:lnTo>
                  <a:lnTo>
                    <a:pt x="14073" y="1880"/>
                  </a:lnTo>
                  <a:lnTo>
                    <a:pt x="6713" y="6908"/>
                  </a:lnTo>
                  <a:lnTo>
                    <a:pt x="1774" y="14331"/>
                  </a:lnTo>
                  <a:lnTo>
                    <a:pt x="0" y="23398"/>
                  </a:lnTo>
                  <a:lnTo>
                    <a:pt x="0" y="304584"/>
                  </a:lnTo>
                  <a:lnTo>
                    <a:pt x="1774" y="313152"/>
                  </a:lnTo>
                  <a:lnTo>
                    <a:pt x="6529" y="320133"/>
                  </a:lnTo>
                  <a:lnTo>
                    <a:pt x="13552" y="324822"/>
                  </a:lnTo>
                  <a:lnTo>
                    <a:pt x="22133" y="326514"/>
                  </a:lnTo>
                  <a:lnTo>
                    <a:pt x="438966" y="326514"/>
                  </a:lnTo>
                  <a:lnTo>
                    <a:pt x="462243" y="258467"/>
                  </a:lnTo>
                  <a:lnTo>
                    <a:pt x="47586" y="258467"/>
                  </a:lnTo>
                  <a:lnTo>
                    <a:pt x="47586" y="231260"/>
                  </a:lnTo>
                  <a:lnTo>
                    <a:pt x="462246" y="231260"/>
                  </a:lnTo>
                  <a:lnTo>
                    <a:pt x="462249" y="204053"/>
                  </a:lnTo>
                  <a:lnTo>
                    <a:pt x="47586" y="204053"/>
                  </a:lnTo>
                  <a:lnTo>
                    <a:pt x="47586" y="176846"/>
                  </a:lnTo>
                  <a:lnTo>
                    <a:pt x="462251" y="176846"/>
                  </a:lnTo>
                  <a:lnTo>
                    <a:pt x="462267" y="23398"/>
                  </a:lnTo>
                  <a:lnTo>
                    <a:pt x="460492" y="14331"/>
                  </a:lnTo>
                  <a:lnTo>
                    <a:pt x="455554" y="6908"/>
                  </a:lnTo>
                  <a:lnTo>
                    <a:pt x="448193" y="1880"/>
                  </a:lnTo>
                  <a:lnTo>
                    <a:pt x="439153" y="0"/>
                  </a:lnTo>
                  <a:close/>
                </a:path>
                <a:path w="462280" h="422275">
                  <a:moveTo>
                    <a:pt x="203941" y="231260"/>
                  </a:moveTo>
                  <a:lnTo>
                    <a:pt x="176749" y="231260"/>
                  </a:lnTo>
                  <a:lnTo>
                    <a:pt x="176749" y="258467"/>
                  </a:lnTo>
                  <a:lnTo>
                    <a:pt x="203941" y="258467"/>
                  </a:lnTo>
                  <a:lnTo>
                    <a:pt x="203941" y="231260"/>
                  </a:lnTo>
                  <a:close/>
                </a:path>
                <a:path w="462280" h="422275">
                  <a:moveTo>
                    <a:pt x="305912" y="231260"/>
                  </a:moveTo>
                  <a:lnTo>
                    <a:pt x="278720" y="231260"/>
                  </a:lnTo>
                  <a:lnTo>
                    <a:pt x="278720" y="258467"/>
                  </a:lnTo>
                  <a:lnTo>
                    <a:pt x="305912" y="258467"/>
                  </a:lnTo>
                  <a:lnTo>
                    <a:pt x="305912" y="231260"/>
                  </a:lnTo>
                  <a:close/>
                </a:path>
                <a:path w="462280" h="422275">
                  <a:moveTo>
                    <a:pt x="462246" y="231260"/>
                  </a:moveTo>
                  <a:lnTo>
                    <a:pt x="380690" y="231260"/>
                  </a:lnTo>
                  <a:lnTo>
                    <a:pt x="380690" y="258467"/>
                  </a:lnTo>
                  <a:lnTo>
                    <a:pt x="462243" y="258467"/>
                  </a:lnTo>
                  <a:lnTo>
                    <a:pt x="462246" y="231260"/>
                  </a:lnTo>
                  <a:close/>
                </a:path>
                <a:path w="462280" h="422275">
                  <a:moveTo>
                    <a:pt x="163153" y="176846"/>
                  </a:moveTo>
                  <a:lnTo>
                    <a:pt x="129162" y="176846"/>
                  </a:lnTo>
                  <a:lnTo>
                    <a:pt x="129162" y="204053"/>
                  </a:lnTo>
                  <a:lnTo>
                    <a:pt x="163153" y="204053"/>
                  </a:lnTo>
                  <a:lnTo>
                    <a:pt x="163153" y="176846"/>
                  </a:lnTo>
                  <a:close/>
                </a:path>
                <a:path w="462280" h="422275">
                  <a:moveTo>
                    <a:pt x="326306" y="176846"/>
                  </a:moveTo>
                  <a:lnTo>
                    <a:pt x="299114" y="176846"/>
                  </a:lnTo>
                  <a:lnTo>
                    <a:pt x="299114" y="204053"/>
                  </a:lnTo>
                  <a:lnTo>
                    <a:pt x="326306" y="204053"/>
                  </a:lnTo>
                  <a:lnTo>
                    <a:pt x="326306" y="176846"/>
                  </a:lnTo>
                  <a:close/>
                </a:path>
                <a:path w="462280" h="422275">
                  <a:moveTo>
                    <a:pt x="462251" y="176846"/>
                  </a:moveTo>
                  <a:lnTo>
                    <a:pt x="414681" y="176846"/>
                  </a:lnTo>
                  <a:lnTo>
                    <a:pt x="414681" y="204053"/>
                  </a:lnTo>
                  <a:lnTo>
                    <a:pt x="462249" y="204053"/>
                  </a:lnTo>
                  <a:lnTo>
                    <a:pt x="462251" y="1768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62757" y="2133727"/>
            <a:ext cx="7076440" cy="3923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00"/>
              </a:spcBef>
            </a:pPr>
            <a:r>
              <a:rPr sz="2100" b="1" spc="120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2100" b="1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b="1" spc="95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2100" b="1" spc="150" dirty="0">
                <a:solidFill>
                  <a:srgbClr val="FFFFFF"/>
                </a:solidFill>
                <a:latin typeface="Cambria"/>
                <a:cs typeface="Cambria"/>
              </a:rPr>
              <a:t> an</a:t>
            </a:r>
            <a:r>
              <a:rPr sz="2100" b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b="1" spc="105" dirty="0">
                <a:solidFill>
                  <a:srgbClr val="FFFFFF"/>
                </a:solidFill>
                <a:latin typeface="Cambria"/>
                <a:cs typeface="Cambria"/>
              </a:rPr>
              <a:t>interface?</a:t>
            </a:r>
            <a:endParaRPr sz="2100">
              <a:latin typeface="Cambria"/>
              <a:cs typeface="Cambria"/>
            </a:endParaRPr>
          </a:p>
          <a:p>
            <a:pPr marL="12700">
              <a:lnSpc>
                <a:spcPts val="2270"/>
              </a:lnSpc>
            </a:pPr>
            <a:r>
              <a:rPr sz="2100" spc="145" dirty="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sz="21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60" dirty="0">
                <a:solidFill>
                  <a:srgbClr val="FFFFFF"/>
                </a:solidFill>
                <a:latin typeface="Cambria"/>
                <a:cs typeface="Cambria"/>
              </a:rPr>
              <a:t>interface</a:t>
            </a:r>
            <a:r>
              <a:rPr sz="21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85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21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265" dirty="0">
                <a:solidFill>
                  <a:srgbClr val="FFFFFF"/>
                </a:solidFill>
                <a:latin typeface="Cambria"/>
                <a:cs typeface="Cambria"/>
              </a:rPr>
              <a:t>OS</a:t>
            </a:r>
            <a:r>
              <a:rPr sz="21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65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21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10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FFFFFF"/>
                </a:solidFill>
                <a:latin typeface="Cambria"/>
                <a:cs typeface="Cambria"/>
              </a:rPr>
              <a:t>point</a:t>
            </a:r>
            <a:r>
              <a:rPr sz="21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1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60" dirty="0">
                <a:solidFill>
                  <a:srgbClr val="FFFFFF"/>
                </a:solidFill>
                <a:latin typeface="Cambria"/>
                <a:cs typeface="Cambria"/>
              </a:rPr>
              <a:t>interaction</a:t>
            </a:r>
            <a:r>
              <a:rPr sz="21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FFFFFF"/>
                </a:solidFill>
                <a:latin typeface="Cambria"/>
                <a:cs typeface="Cambria"/>
              </a:rPr>
              <a:t>between</a:t>
            </a:r>
            <a:r>
              <a:rPr sz="21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5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endParaRPr sz="2100">
              <a:latin typeface="Cambria"/>
              <a:cs typeface="Cambria"/>
            </a:endParaRPr>
          </a:p>
          <a:p>
            <a:pPr marL="12700">
              <a:lnSpc>
                <a:spcPts val="2395"/>
              </a:lnSpc>
            </a:pPr>
            <a:r>
              <a:rPr sz="2100" spc="65" dirty="0">
                <a:solidFill>
                  <a:srgbClr val="FFFFFF"/>
                </a:solidFill>
                <a:latin typeface="Cambria"/>
                <a:cs typeface="Cambria"/>
              </a:rPr>
              <a:t>user</a:t>
            </a:r>
            <a:r>
              <a:rPr sz="21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85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21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1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80" dirty="0">
                <a:solidFill>
                  <a:srgbClr val="FFFFFF"/>
                </a:solidFill>
                <a:latin typeface="Cambria"/>
                <a:cs typeface="Cambria"/>
              </a:rPr>
              <a:t>system,</a:t>
            </a:r>
            <a:r>
              <a:rPr sz="210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60" dirty="0">
                <a:solidFill>
                  <a:srgbClr val="FFFFFF"/>
                </a:solidFill>
                <a:latin typeface="Cambria"/>
                <a:cs typeface="Cambria"/>
              </a:rPr>
              <a:t>allowing</a:t>
            </a:r>
            <a:r>
              <a:rPr sz="21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60" dirty="0">
                <a:solidFill>
                  <a:srgbClr val="FFFFFF"/>
                </a:solidFill>
                <a:latin typeface="Cambria"/>
                <a:cs typeface="Cambria"/>
              </a:rPr>
              <a:t>commands</a:t>
            </a:r>
            <a:r>
              <a:rPr sz="2100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85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21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40" dirty="0">
                <a:solidFill>
                  <a:srgbClr val="FFFFFF"/>
                </a:solidFill>
                <a:latin typeface="Cambria"/>
                <a:cs typeface="Cambria"/>
              </a:rPr>
              <a:t>feedback</a:t>
            </a: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95"/>
              </a:spcBef>
            </a:pPr>
            <a:endParaRPr sz="2100">
              <a:latin typeface="Cambria"/>
              <a:cs typeface="Cambria"/>
            </a:endParaRPr>
          </a:p>
          <a:p>
            <a:pPr marL="12700">
              <a:lnSpc>
                <a:spcPts val="2395"/>
              </a:lnSpc>
            </a:pPr>
            <a:r>
              <a:rPr sz="2100" b="1" spc="290" dirty="0">
                <a:solidFill>
                  <a:srgbClr val="FFFFFF"/>
                </a:solidFill>
                <a:latin typeface="Cambria"/>
                <a:cs typeface="Cambria"/>
              </a:rPr>
              <a:t>GUI</a:t>
            </a:r>
            <a:r>
              <a:rPr sz="2100" b="1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b="1" spc="140" dirty="0">
                <a:solidFill>
                  <a:srgbClr val="FFFFFF"/>
                </a:solidFill>
                <a:latin typeface="Cambria"/>
                <a:cs typeface="Cambria"/>
              </a:rPr>
              <a:t>(Graphical</a:t>
            </a:r>
            <a:r>
              <a:rPr sz="2100" b="1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b="1" spc="140" dirty="0">
                <a:solidFill>
                  <a:srgbClr val="FFFFFF"/>
                </a:solidFill>
                <a:latin typeface="Cambria"/>
                <a:cs typeface="Cambria"/>
              </a:rPr>
              <a:t>User</a:t>
            </a:r>
            <a:r>
              <a:rPr sz="2100" b="1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b="1" spc="100" dirty="0">
                <a:solidFill>
                  <a:srgbClr val="FFFFFF"/>
                </a:solidFill>
                <a:latin typeface="Cambria"/>
                <a:cs typeface="Cambria"/>
              </a:rPr>
              <a:t>Interface)</a:t>
            </a:r>
            <a:endParaRPr sz="2100">
              <a:latin typeface="Cambria"/>
              <a:cs typeface="Cambria"/>
            </a:endParaRPr>
          </a:p>
          <a:p>
            <a:pPr marL="12700" marR="108585">
              <a:lnSpc>
                <a:spcPts val="2270"/>
              </a:lnSpc>
              <a:spcBef>
                <a:spcPts val="160"/>
              </a:spcBef>
            </a:pPr>
            <a:r>
              <a:rPr sz="2100" spc="110" dirty="0">
                <a:solidFill>
                  <a:srgbClr val="FFFFFF"/>
                </a:solidFill>
                <a:latin typeface="Cambria"/>
                <a:cs typeface="Cambria"/>
              </a:rPr>
              <a:t>Visual,</a:t>
            </a:r>
            <a:r>
              <a:rPr sz="2100" spc="25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FFFFFF"/>
                </a:solidFill>
                <a:latin typeface="Cambria"/>
                <a:cs typeface="Cambria"/>
              </a:rPr>
              <a:t>mouse-</a:t>
            </a:r>
            <a:r>
              <a:rPr sz="2100" spc="55" dirty="0">
                <a:solidFill>
                  <a:srgbClr val="FFFFFF"/>
                </a:solidFill>
                <a:latin typeface="Cambria"/>
                <a:cs typeface="Cambria"/>
              </a:rPr>
              <a:t>driven</a:t>
            </a:r>
            <a:r>
              <a:rPr sz="2100" spc="2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50" dirty="0">
                <a:solidFill>
                  <a:srgbClr val="FFFFFF"/>
                </a:solidFill>
                <a:latin typeface="Cambria"/>
                <a:cs typeface="Cambria"/>
              </a:rPr>
              <a:t>comprising</a:t>
            </a:r>
            <a:r>
              <a:rPr sz="2100" spc="22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70" dirty="0">
                <a:solidFill>
                  <a:srgbClr val="FFFFFF"/>
                </a:solidFill>
                <a:latin typeface="Cambria"/>
                <a:cs typeface="Cambria"/>
              </a:rPr>
              <a:t>Icons,</a:t>
            </a:r>
            <a:r>
              <a:rPr sz="2100" spc="2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FFFFFF"/>
                </a:solidFill>
                <a:latin typeface="Cambria"/>
                <a:cs typeface="Cambria"/>
              </a:rPr>
              <a:t>windows,</a:t>
            </a:r>
            <a:r>
              <a:rPr sz="2100" spc="2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FFFFFF"/>
                </a:solidFill>
                <a:latin typeface="Cambria"/>
                <a:cs typeface="Cambria"/>
              </a:rPr>
              <a:t>menus </a:t>
            </a:r>
            <a:r>
              <a:rPr sz="2100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21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35" dirty="0">
                <a:solidFill>
                  <a:srgbClr val="FFFFFF"/>
                </a:solidFill>
                <a:latin typeface="Cambria"/>
                <a:cs typeface="Cambria"/>
              </a:rPr>
              <a:t>ease</a:t>
            </a: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100">
              <a:latin typeface="Cambria"/>
              <a:cs typeface="Cambria"/>
            </a:endParaRPr>
          </a:p>
          <a:p>
            <a:pPr marL="12700" marR="1003300">
              <a:lnSpc>
                <a:spcPts val="2270"/>
              </a:lnSpc>
            </a:pPr>
            <a:r>
              <a:rPr sz="2100" b="1" spc="105" dirty="0">
                <a:solidFill>
                  <a:srgbClr val="FFFFFF"/>
                </a:solidFill>
                <a:latin typeface="Cambria"/>
                <a:cs typeface="Cambria"/>
              </a:rPr>
              <a:t>Text-</a:t>
            </a:r>
            <a:r>
              <a:rPr sz="2100" b="1" spc="150" dirty="0">
                <a:solidFill>
                  <a:srgbClr val="FFFFFF"/>
                </a:solidFill>
                <a:latin typeface="Cambria"/>
                <a:cs typeface="Cambria"/>
              </a:rPr>
              <a:t>Based</a:t>
            </a:r>
            <a:r>
              <a:rPr sz="2100" b="1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b="1" spc="225" dirty="0">
                <a:solidFill>
                  <a:srgbClr val="FFFFFF"/>
                </a:solidFill>
                <a:latin typeface="Cambria"/>
                <a:cs typeface="Cambria"/>
              </a:rPr>
              <a:t>(CLI</a:t>
            </a:r>
            <a:r>
              <a:rPr sz="2100" b="1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sz="2100" b="1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b="1" spc="180" dirty="0">
                <a:solidFill>
                  <a:srgbClr val="FFFFFF"/>
                </a:solidFill>
                <a:latin typeface="Cambria"/>
                <a:cs typeface="Cambria"/>
              </a:rPr>
              <a:t>Command</a:t>
            </a:r>
            <a:r>
              <a:rPr sz="2100" b="1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b="1" spc="170" dirty="0">
                <a:solidFill>
                  <a:srgbClr val="FFFFFF"/>
                </a:solidFill>
                <a:latin typeface="Cambria"/>
                <a:cs typeface="Cambria"/>
              </a:rPr>
              <a:t>Line</a:t>
            </a:r>
            <a:r>
              <a:rPr sz="2100" b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b="1" spc="100" dirty="0">
                <a:solidFill>
                  <a:srgbClr val="FFFFFF"/>
                </a:solidFill>
                <a:latin typeface="Cambria"/>
                <a:cs typeface="Cambria"/>
              </a:rPr>
              <a:t>Interface) </a:t>
            </a:r>
            <a:r>
              <a:rPr sz="2100" dirty="0">
                <a:solidFill>
                  <a:srgbClr val="FFFFFF"/>
                </a:solidFill>
                <a:latin typeface="Cambria"/>
                <a:cs typeface="Cambria"/>
              </a:rPr>
              <a:t>Type</a:t>
            </a:r>
            <a:r>
              <a:rPr sz="2100" spc="2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55" dirty="0">
                <a:solidFill>
                  <a:srgbClr val="FFFFFF"/>
                </a:solidFill>
                <a:latin typeface="Cambria"/>
                <a:cs typeface="Cambria"/>
              </a:rPr>
              <a:t>commands</a:t>
            </a:r>
            <a:r>
              <a:rPr sz="2100" spc="2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2100" spc="2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FFFFFF"/>
                </a:solidFill>
                <a:latin typeface="Cambria"/>
                <a:cs typeface="Cambria"/>
              </a:rPr>
              <a:t>precise</a:t>
            </a:r>
            <a:r>
              <a:rPr sz="2100" spc="2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FFFFFF"/>
                </a:solidFill>
                <a:latin typeface="Cambria"/>
                <a:cs typeface="Cambria"/>
              </a:rPr>
              <a:t>control</a:t>
            </a:r>
            <a:r>
              <a:rPr sz="2100" spc="2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114" dirty="0">
                <a:solidFill>
                  <a:srgbClr val="FFFFFF"/>
                </a:solidFill>
                <a:latin typeface="Cambria"/>
                <a:cs typeface="Cambria"/>
              </a:rPr>
              <a:t>e.g.,</a:t>
            </a:r>
            <a:r>
              <a:rPr sz="2100" spc="22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100" spc="60" dirty="0">
                <a:solidFill>
                  <a:srgbClr val="FFFFFF"/>
                </a:solidFill>
                <a:latin typeface="Cambria"/>
                <a:cs typeface="Cambria"/>
              </a:rPr>
              <a:t>in </a:t>
            </a:r>
            <a:r>
              <a:rPr sz="2100" spc="75" dirty="0">
                <a:solidFill>
                  <a:srgbClr val="FFFFFF"/>
                </a:solidFill>
                <a:latin typeface="Cambria"/>
                <a:cs typeface="Cambria"/>
              </a:rPr>
              <a:t>Terminal/CMD.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716020" marR="5080">
              <a:lnSpc>
                <a:spcPts val="4750"/>
              </a:lnSpc>
              <a:spcBef>
                <a:spcPts val="700"/>
              </a:spcBef>
            </a:pPr>
            <a:r>
              <a:rPr spc="114" dirty="0"/>
              <a:t>Terminal/CMD</a:t>
            </a:r>
            <a:r>
              <a:rPr spc="130" dirty="0"/>
              <a:t> and </a:t>
            </a:r>
            <a:r>
              <a:rPr spc="195" dirty="0"/>
              <a:t>Shell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57"/>
            <a:ext cx="4653279" cy="68578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44566" y="2020951"/>
            <a:ext cx="5716270" cy="2531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indent="-181610">
              <a:lnSpc>
                <a:spcPts val="2110"/>
              </a:lnSpc>
              <a:spcBef>
                <a:spcPts val="100"/>
              </a:spcBef>
              <a:buClr>
                <a:srgbClr val="6E6E74"/>
              </a:buClr>
              <a:buSzPct val="80555"/>
              <a:buFont typeface="Arial"/>
              <a:buChar char="•"/>
              <a:tabLst>
                <a:tab pos="194310" algn="l"/>
              </a:tabLst>
            </a:pPr>
            <a:r>
              <a:rPr sz="1800" b="1" spc="110" dirty="0">
                <a:latin typeface="Cambria"/>
                <a:cs typeface="Cambria"/>
              </a:rPr>
              <a:t>What</a:t>
            </a:r>
            <a:r>
              <a:rPr sz="1800" b="1" spc="114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is</a:t>
            </a:r>
            <a:r>
              <a:rPr sz="1800" b="1" spc="114" dirty="0">
                <a:latin typeface="Cambria"/>
                <a:cs typeface="Cambria"/>
              </a:rPr>
              <a:t> </a:t>
            </a:r>
            <a:r>
              <a:rPr sz="1800" b="1" spc="105" dirty="0">
                <a:latin typeface="Cambria"/>
                <a:cs typeface="Cambria"/>
              </a:rPr>
              <a:t>Terminal/CMD?</a:t>
            </a:r>
            <a:endParaRPr sz="1800">
              <a:latin typeface="Cambria"/>
              <a:cs typeface="Cambria"/>
            </a:endParaRPr>
          </a:p>
          <a:p>
            <a:pPr marL="195580">
              <a:lnSpc>
                <a:spcPts val="2060"/>
              </a:lnSpc>
            </a:pPr>
            <a:r>
              <a:rPr sz="1800" spc="165" dirty="0">
                <a:latin typeface="Cambria"/>
                <a:cs typeface="Cambria"/>
              </a:rPr>
              <a:t>A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text-</a:t>
            </a:r>
            <a:r>
              <a:rPr sz="1800" spc="50" dirty="0">
                <a:latin typeface="Cambria"/>
                <a:cs typeface="Cambria"/>
              </a:rPr>
              <a:t>based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interface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interact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with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your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235" dirty="0">
                <a:latin typeface="Cambria"/>
                <a:cs typeface="Cambria"/>
              </a:rPr>
              <a:t>OS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–</a:t>
            </a:r>
            <a:endParaRPr sz="1800">
              <a:latin typeface="Cambria"/>
              <a:cs typeface="Cambria"/>
            </a:endParaRPr>
          </a:p>
          <a:p>
            <a:pPr marL="195580">
              <a:lnSpc>
                <a:spcPts val="2105"/>
              </a:lnSpc>
            </a:pPr>
            <a:r>
              <a:rPr sz="1800" spc="70" dirty="0">
                <a:latin typeface="Cambria"/>
                <a:cs typeface="Cambria"/>
              </a:rPr>
              <a:t>like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command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center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your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computer.</a:t>
            </a:r>
            <a:endParaRPr sz="1800">
              <a:latin typeface="Cambria"/>
              <a:cs typeface="Cambria"/>
            </a:endParaRPr>
          </a:p>
          <a:p>
            <a:pPr marL="194310" indent="-181610">
              <a:lnSpc>
                <a:spcPts val="2105"/>
              </a:lnSpc>
              <a:spcBef>
                <a:spcPts val="1490"/>
              </a:spcBef>
              <a:buClr>
                <a:srgbClr val="6E6E74"/>
              </a:buClr>
              <a:buSzPct val="80555"/>
              <a:buFont typeface="Arial"/>
              <a:buChar char="•"/>
              <a:tabLst>
                <a:tab pos="194310" algn="l"/>
              </a:tabLst>
            </a:pPr>
            <a:r>
              <a:rPr sz="1800" b="1" spc="110" dirty="0">
                <a:latin typeface="Cambria"/>
                <a:cs typeface="Cambria"/>
              </a:rPr>
              <a:t>What</a:t>
            </a:r>
            <a:r>
              <a:rPr sz="1800" b="1" spc="114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is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b="1" spc="130" dirty="0">
                <a:latin typeface="Cambria"/>
                <a:cs typeface="Cambria"/>
              </a:rPr>
              <a:t>a</a:t>
            </a:r>
            <a:r>
              <a:rPr sz="1800" b="1" spc="140" dirty="0">
                <a:latin typeface="Cambria"/>
                <a:cs typeface="Cambria"/>
              </a:rPr>
              <a:t> </a:t>
            </a:r>
            <a:r>
              <a:rPr sz="1800" b="1" spc="120" dirty="0">
                <a:latin typeface="Cambria"/>
                <a:cs typeface="Cambria"/>
              </a:rPr>
              <a:t>Shell?</a:t>
            </a:r>
            <a:endParaRPr sz="1800">
              <a:latin typeface="Cambria"/>
              <a:cs typeface="Cambria"/>
            </a:endParaRPr>
          </a:p>
          <a:p>
            <a:pPr marL="195580" marR="5080">
              <a:lnSpc>
                <a:spcPts val="2050"/>
              </a:lnSpc>
              <a:spcBef>
                <a:spcPts val="105"/>
              </a:spcBef>
            </a:pPr>
            <a:r>
              <a:rPr sz="1800" spc="165" dirty="0">
                <a:latin typeface="Cambria"/>
                <a:cs typeface="Cambria"/>
              </a:rPr>
              <a:t>A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program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105" dirty="0">
                <a:latin typeface="Cambria"/>
                <a:cs typeface="Cambria"/>
              </a:rPr>
              <a:t>that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provides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direct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access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the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system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which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it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runs.</a:t>
            </a:r>
            <a:endParaRPr sz="1800">
              <a:latin typeface="Cambria"/>
              <a:cs typeface="Cambria"/>
            </a:endParaRPr>
          </a:p>
          <a:p>
            <a:pPr marL="194310" indent="-181610">
              <a:lnSpc>
                <a:spcPts val="2105"/>
              </a:lnSpc>
              <a:spcBef>
                <a:spcPts val="1440"/>
              </a:spcBef>
              <a:buClr>
                <a:srgbClr val="6E6E74"/>
              </a:buClr>
              <a:buSzPct val="80555"/>
              <a:buFont typeface="Arial"/>
              <a:buChar char="•"/>
              <a:tabLst>
                <a:tab pos="194310" algn="l"/>
              </a:tabLst>
            </a:pPr>
            <a:r>
              <a:rPr sz="1800" b="1" spc="135" dirty="0">
                <a:latin typeface="Cambria"/>
                <a:cs typeface="Cambria"/>
              </a:rPr>
              <a:t>Prompt</a:t>
            </a:r>
            <a:r>
              <a:rPr sz="1800" b="1" spc="125" dirty="0">
                <a:latin typeface="Cambria"/>
                <a:cs typeface="Cambria"/>
              </a:rPr>
              <a:t> </a:t>
            </a:r>
            <a:r>
              <a:rPr sz="1800" b="1" spc="135" dirty="0">
                <a:latin typeface="Cambria"/>
                <a:cs typeface="Cambria"/>
              </a:rPr>
              <a:t>and</a:t>
            </a:r>
            <a:r>
              <a:rPr sz="1800" b="1" spc="140" dirty="0">
                <a:latin typeface="Cambria"/>
                <a:cs typeface="Cambria"/>
              </a:rPr>
              <a:t> </a:t>
            </a:r>
            <a:r>
              <a:rPr sz="1800" b="1" spc="120" dirty="0">
                <a:latin typeface="Cambria"/>
                <a:cs typeface="Cambria"/>
              </a:rPr>
              <a:t>Input</a:t>
            </a:r>
            <a:endParaRPr sz="1800">
              <a:latin typeface="Cambria"/>
              <a:cs typeface="Cambria"/>
            </a:endParaRPr>
          </a:p>
          <a:p>
            <a:pPr marL="195580">
              <a:lnSpc>
                <a:spcPts val="2105"/>
              </a:lnSpc>
            </a:pPr>
            <a:r>
              <a:rPr sz="1800" spc="65" dirty="0">
                <a:latin typeface="Cambria"/>
                <a:cs typeface="Cambria"/>
              </a:rPr>
              <a:t>Prompt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shows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the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current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directory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and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user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0802" y="2750261"/>
            <a:ext cx="262382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 indent="46990">
              <a:lnSpc>
                <a:spcPts val="4320"/>
              </a:lnSpc>
              <a:spcBef>
                <a:spcPts val="640"/>
              </a:spcBef>
            </a:pPr>
            <a:r>
              <a:rPr sz="4000" spc="135" dirty="0">
                <a:latin typeface="Cambria"/>
                <a:cs typeface="Cambria"/>
              </a:rPr>
              <a:t>Navigation Commands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2918" y="1586864"/>
            <a:ext cx="4529455" cy="36417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94945" marR="5080" indent="-182880">
              <a:lnSpc>
                <a:spcPct val="96300"/>
              </a:lnSpc>
              <a:spcBef>
                <a:spcPts val="190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4945" algn="l"/>
              </a:tabLst>
            </a:pPr>
            <a:r>
              <a:rPr sz="2000" b="1" dirty="0">
                <a:solidFill>
                  <a:srgbClr val="00AF50"/>
                </a:solidFill>
                <a:latin typeface="Consolas"/>
                <a:cs typeface="Consolas"/>
              </a:rPr>
              <a:t>pwd</a:t>
            </a:r>
            <a:r>
              <a:rPr sz="2000" b="1" spc="-50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2000" b="1" spc="130" dirty="0">
                <a:latin typeface="Cambria"/>
                <a:cs typeface="Cambria"/>
              </a:rPr>
              <a:t>(Print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Working</a:t>
            </a:r>
            <a:r>
              <a:rPr sz="2000" b="1" spc="15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Directory) </a:t>
            </a:r>
            <a:r>
              <a:rPr sz="2000" spc="80" dirty="0">
                <a:latin typeface="Cambria"/>
                <a:cs typeface="Cambria"/>
              </a:rPr>
              <a:t>Shows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current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path. </a:t>
            </a:r>
            <a:r>
              <a:rPr sz="2000" spc="35" dirty="0">
                <a:latin typeface="Cambria"/>
                <a:cs typeface="Cambria"/>
              </a:rPr>
              <a:t>Linux/Windows </a:t>
            </a:r>
            <a:r>
              <a:rPr sz="2000" spc="90" dirty="0">
                <a:latin typeface="Cambria"/>
                <a:cs typeface="Cambria"/>
              </a:rPr>
              <a:t>same.</a:t>
            </a:r>
            <a:endParaRPr sz="2000">
              <a:latin typeface="Cambria"/>
              <a:cs typeface="Cambria"/>
            </a:endParaRPr>
          </a:p>
          <a:p>
            <a:pPr marL="196215" indent="-183515">
              <a:lnSpc>
                <a:spcPts val="2340"/>
              </a:lnSpc>
              <a:spcBef>
                <a:spcPts val="141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dirty="0">
                <a:solidFill>
                  <a:srgbClr val="00AF50"/>
                </a:solidFill>
                <a:latin typeface="Consolas"/>
                <a:cs typeface="Consolas"/>
              </a:rPr>
              <a:t>cd</a:t>
            </a:r>
            <a:r>
              <a:rPr sz="2000" b="1" spc="-49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(Change</a:t>
            </a:r>
            <a:r>
              <a:rPr sz="2000" b="1" spc="14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Directory)</a:t>
            </a:r>
            <a:endParaRPr sz="2000">
              <a:latin typeface="Cambria"/>
              <a:cs typeface="Cambria"/>
            </a:endParaRPr>
          </a:p>
          <a:p>
            <a:pPr marL="194945" marR="501650">
              <a:lnSpc>
                <a:spcPts val="2340"/>
              </a:lnSpc>
              <a:spcBef>
                <a:spcPts val="70"/>
              </a:spcBef>
            </a:pP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cd</a:t>
            </a:r>
            <a:r>
              <a:rPr sz="2000" spc="4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/path/to/dir</a:t>
            </a:r>
            <a:r>
              <a:rPr sz="2000" spc="-54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cd</a:t>
            </a:r>
            <a:r>
              <a:rPr sz="2000" spc="5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..</a:t>
            </a:r>
            <a:r>
              <a:rPr sz="2000" spc="-509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ambria"/>
                <a:cs typeface="Cambria"/>
              </a:rPr>
              <a:t>(up). </a:t>
            </a:r>
            <a:r>
              <a:rPr sz="2000" dirty="0">
                <a:latin typeface="Cambria"/>
                <a:cs typeface="Cambria"/>
              </a:rPr>
              <a:t>Windows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uses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229" dirty="0">
                <a:latin typeface="Cambria"/>
                <a:cs typeface="Cambria"/>
              </a:rPr>
              <a:t>\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paths.</a:t>
            </a:r>
            <a:endParaRPr sz="2000">
              <a:latin typeface="Cambria"/>
              <a:cs typeface="Cambria"/>
            </a:endParaRPr>
          </a:p>
          <a:p>
            <a:pPr marL="196215" indent="-183515">
              <a:lnSpc>
                <a:spcPts val="2340"/>
              </a:lnSpc>
              <a:spcBef>
                <a:spcPts val="1350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dirty="0">
                <a:solidFill>
                  <a:srgbClr val="00AF50"/>
                </a:solidFill>
                <a:latin typeface="Consolas"/>
                <a:cs typeface="Consolas"/>
              </a:rPr>
              <a:t>ls</a:t>
            </a:r>
            <a:r>
              <a:rPr sz="2000" b="1" spc="-50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2000" b="1" spc="90" dirty="0">
                <a:latin typeface="Cambria"/>
                <a:cs typeface="Cambria"/>
              </a:rPr>
              <a:t>(List)</a:t>
            </a:r>
            <a:endParaRPr sz="2000">
              <a:latin typeface="Cambria"/>
              <a:cs typeface="Cambria"/>
            </a:endParaRPr>
          </a:p>
          <a:p>
            <a:pPr marL="194945" marR="451484">
              <a:lnSpc>
                <a:spcPts val="2280"/>
              </a:lnSpc>
              <a:spcBef>
                <a:spcPts val="114"/>
              </a:spcBef>
            </a:pPr>
            <a:r>
              <a:rPr sz="2000" spc="114" dirty="0">
                <a:latin typeface="Cambria"/>
                <a:cs typeface="Cambria"/>
              </a:rPr>
              <a:t>Lists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files/dirs.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ls</a:t>
            </a:r>
            <a:r>
              <a:rPr sz="2000" spc="16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-l</a:t>
            </a:r>
            <a:r>
              <a:rPr sz="2000" spc="-45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ambria"/>
                <a:cs typeface="Cambria"/>
              </a:rPr>
              <a:t>for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details. </a:t>
            </a:r>
            <a:r>
              <a:rPr sz="2000" spc="45" dirty="0">
                <a:latin typeface="Cambria"/>
                <a:cs typeface="Cambria"/>
              </a:rPr>
              <a:t>Windows: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00AFEF"/>
                </a:solidFill>
                <a:latin typeface="Consolas"/>
                <a:cs typeface="Consolas"/>
              </a:rPr>
              <a:t>dir</a:t>
            </a:r>
            <a:r>
              <a:rPr sz="2000" spc="85" dirty="0">
                <a:latin typeface="Cambria"/>
                <a:cs typeface="Cambria"/>
              </a:rPr>
              <a:t>.Example: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00AFEF"/>
                </a:solidFill>
                <a:latin typeface="Consolas"/>
                <a:cs typeface="Consolas"/>
              </a:rPr>
              <a:t>cd</a:t>
            </a:r>
            <a:endParaRPr sz="2000">
              <a:latin typeface="Consolas"/>
              <a:cs typeface="Consolas"/>
            </a:endParaRPr>
          </a:p>
          <a:p>
            <a:pPr marL="194945">
              <a:lnSpc>
                <a:spcPts val="2200"/>
              </a:lnSpc>
            </a:pP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~/ml_project</a:t>
            </a:r>
            <a:r>
              <a:rPr sz="2000" dirty="0">
                <a:latin typeface="Cambria"/>
                <a:cs typeface="Cambria"/>
              </a:rPr>
              <a:t>;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ls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–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Navigate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your</a:t>
            </a:r>
            <a:endParaRPr sz="2000">
              <a:latin typeface="Cambria"/>
              <a:cs typeface="Cambria"/>
            </a:endParaRPr>
          </a:p>
          <a:p>
            <a:pPr marL="194945">
              <a:lnSpc>
                <a:spcPts val="2375"/>
              </a:lnSpc>
            </a:pPr>
            <a:r>
              <a:rPr sz="2000" spc="180" dirty="0">
                <a:latin typeface="Cambria"/>
                <a:cs typeface="Cambria"/>
              </a:rPr>
              <a:t>AI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repo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741" y="2750261"/>
            <a:ext cx="405384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03300" marR="5080" indent="-991235">
              <a:lnSpc>
                <a:spcPts val="4320"/>
              </a:lnSpc>
              <a:spcBef>
                <a:spcPts val="640"/>
              </a:spcBef>
            </a:pPr>
            <a:r>
              <a:rPr sz="4000" spc="175" dirty="0">
                <a:latin typeface="Cambria"/>
                <a:cs typeface="Cambria"/>
              </a:rPr>
              <a:t>File</a:t>
            </a:r>
            <a:r>
              <a:rPr sz="4000" spc="135" dirty="0">
                <a:latin typeface="Cambria"/>
                <a:cs typeface="Cambria"/>
              </a:rPr>
              <a:t> </a:t>
            </a:r>
            <a:r>
              <a:rPr sz="4000" spc="140" dirty="0">
                <a:latin typeface="Cambria"/>
                <a:cs typeface="Cambria"/>
              </a:rPr>
              <a:t>Creation</a:t>
            </a:r>
            <a:r>
              <a:rPr sz="4000" spc="125" dirty="0">
                <a:latin typeface="Cambria"/>
                <a:cs typeface="Cambria"/>
              </a:rPr>
              <a:t> </a:t>
            </a:r>
            <a:r>
              <a:rPr sz="4000" spc="114" dirty="0">
                <a:latin typeface="Cambria"/>
                <a:cs typeface="Cambria"/>
              </a:rPr>
              <a:t>and </a:t>
            </a:r>
            <a:r>
              <a:rPr sz="4000" spc="145" dirty="0">
                <a:latin typeface="Cambria"/>
                <a:cs typeface="Cambria"/>
              </a:rPr>
              <a:t>Management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2918" y="1628648"/>
            <a:ext cx="4467225" cy="3549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215" indent="-183515">
              <a:lnSpc>
                <a:spcPts val="2345"/>
              </a:lnSpc>
              <a:spcBef>
                <a:spcPts val="10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10" dirty="0">
                <a:solidFill>
                  <a:srgbClr val="00AF50"/>
                </a:solidFill>
                <a:latin typeface="Consolas"/>
                <a:cs typeface="Consolas"/>
              </a:rPr>
              <a:t>touch</a:t>
            </a:r>
            <a:endParaRPr sz="2000">
              <a:latin typeface="Consolas"/>
              <a:cs typeface="Consolas"/>
            </a:endParaRPr>
          </a:p>
          <a:p>
            <a:pPr marL="194945">
              <a:lnSpc>
                <a:spcPts val="2345"/>
              </a:lnSpc>
            </a:pPr>
            <a:r>
              <a:rPr sz="2000" spc="114" dirty="0">
                <a:latin typeface="Cambria"/>
                <a:cs typeface="Cambria"/>
              </a:rPr>
              <a:t>Create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empty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file: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touch</a:t>
            </a:r>
            <a:r>
              <a:rPr sz="2000" spc="2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AFEF"/>
                </a:solidFill>
                <a:latin typeface="Consolas"/>
                <a:cs typeface="Consolas"/>
              </a:rPr>
              <a:t>data.csv</a:t>
            </a:r>
            <a:endParaRPr sz="2000">
              <a:latin typeface="Consolas"/>
              <a:cs typeface="Consolas"/>
            </a:endParaRPr>
          </a:p>
          <a:p>
            <a:pPr marL="196215" indent="-183515">
              <a:lnSpc>
                <a:spcPts val="2340"/>
              </a:lnSpc>
              <a:spcBef>
                <a:spcPts val="147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10" dirty="0">
                <a:solidFill>
                  <a:srgbClr val="00AF50"/>
                </a:solidFill>
                <a:latin typeface="Consolas"/>
                <a:cs typeface="Consolas"/>
              </a:rPr>
              <a:t>mkdir</a:t>
            </a:r>
            <a:endParaRPr sz="2000">
              <a:latin typeface="Consolas"/>
              <a:cs typeface="Consolas"/>
            </a:endParaRPr>
          </a:p>
          <a:p>
            <a:pPr marL="194945">
              <a:lnSpc>
                <a:spcPts val="2340"/>
              </a:lnSpc>
            </a:pPr>
            <a:r>
              <a:rPr sz="2000" spc="145" dirty="0">
                <a:latin typeface="Cambria"/>
                <a:cs typeface="Cambria"/>
              </a:rPr>
              <a:t>Make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Directory: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mkdir</a:t>
            </a:r>
            <a:r>
              <a:rPr sz="2000" spc="2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AFEF"/>
                </a:solidFill>
                <a:latin typeface="Consolas"/>
                <a:cs typeface="Consolas"/>
              </a:rPr>
              <a:t>models</a:t>
            </a:r>
            <a:endParaRPr sz="2000">
              <a:latin typeface="Consolas"/>
              <a:cs typeface="Consolas"/>
            </a:endParaRPr>
          </a:p>
          <a:p>
            <a:pPr marL="196215" indent="-183515">
              <a:lnSpc>
                <a:spcPts val="2340"/>
              </a:lnSpc>
              <a:spcBef>
                <a:spcPts val="147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25" dirty="0">
                <a:solidFill>
                  <a:srgbClr val="00AF50"/>
                </a:solidFill>
                <a:latin typeface="Consolas"/>
                <a:cs typeface="Consolas"/>
              </a:rPr>
              <a:t>rm</a:t>
            </a:r>
            <a:endParaRPr sz="2000">
              <a:latin typeface="Consolas"/>
              <a:cs typeface="Consolas"/>
            </a:endParaRPr>
          </a:p>
          <a:p>
            <a:pPr marL="194945" marR="5080">
              <a:lnSpc>
                <a:spcPct val="96600"/>
              </a:lnSpc>
              <a:spcBef>
                <a:spcPts val="20"/>
              </a:spcBef>
            </a:pPr>
            <a:r>
              <a:rPr sz="2000" spc="85" dirty="0">
                <a:latin typeface="Cambria"/>
                <a:cs typeface="Cambria"/>
              </a:rPr>
              <a:t>Delete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file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directory: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-25" dirty="0">
                <a:solidFill>
                  <a:srgbClr val="00AFEF"/>
                </a:solidFill>
                <a:latin typeface="Consolas"/>
                <a:cs typeface="Consolas"/>
              </a:rPr>
              <a:t>rm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file.txt</a:t>
            </a:r>
            <a:r>
              <a:rPr sz="2000" spc="-53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rm</a:t>
            </a:r>
            <a:r>
              <a:rPr sz="2000" spc="4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-r</a:t>
            </a:r>
            <a:r>
              <a:rPr sz="2000" spc="3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dir</a:t>
            </a:r>
            <a:r>
              <a:rPr sz="2000" spc="3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latin typeface="Cambria"/>
                <a:cs typeface="Cambria"/>
              </a:rPr>
              <a:t>(recursive). </a:t>
            </a:r>
            <a:r>
              <a:rPr sz="2000" spc="110" dirty="0">
                <a:latin typeface="Cambria"/>
                <a:cs typeface="Cambria"/>
              </a:rPr>
              <a:t>Caution: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No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recycle</a:t>
            </a:r>
            <a:r>
              <a:rPr sz="2000" spc="19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bin</a:t>
            </a:r>
            <a:endParaRPr sz="2000">
              <a:latin typeface="Cambria"/>
              <a:cs typeface="Cambria"/>
            </a:endParaRPr>
          </a:p>
          <a:p>
            <a:pPr marL="196215" indent="-183515">
              <a:lnSpc>
                <a:spcPts val="2340"/>
              </a:lnSpc>
              <a:spcBef>
                <a:spcPts val="141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10" dirty="0">
                <a:solidFill>
                  <a:srgbClr val="00AF50"/>
                </a:solidFill>
                <a:latin typeface="Consolas"/>
                <a:cs typeface="Consolas"/>
              </a:rPr>
              <a:t>rmdir</a:t>
            </a:r>
            <a:endParaRPr sz="2000">
              <a:latin typeface="Consolas"/>
              <a:cs typeface="Consolas"/>
            </a:endParaRPr>
          </a:p>
          <a:p>
            <a:pPr marL="194945">
              <a:lnSpc>
                <a:spcPts val="2340"/>
              </a:lnSpc>
            </a:pPr>
            <a:r>
              <a:rPr sz="2000" spc="65" dirty="0">
                <a:latin typeface="Cambria"/>
                <a:cs typeface="Cambria"/>
              </a:rPr>
              <a:t>Remove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empty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dir: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rmdir</a:t>
            </a:r>
            <a:r>
              <a:rPr sz="2000" spc="2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AFEF"/>
                </a:solidFill>
                <a:latin typeface="Consolas"/>
                <a:cs typeface="Consolas"/>
              </a:rPr>
              <a:t>old_dir</a:t>
            </a:r>
            <a:r>
              <a:rPr sz="2000" spc="-1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7695" y="3299586"/>
            <a:ext cx="31051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35" dirty="0">
                <a:latin typeface="Cambria"/>
                <a:cs typeface="Cambria"/>
              </a:rPr>
              <a:t>Copy</a:t>
            </a:r>
            <a:r>
              <a:rPr sz="4000" spc="130" dirty="0">
                <a:latin typeface="Cambria"/>
                <a:cs typeface="Cambria"/>
              </a:rPr>
              <a:t> </a:t>
            </a:r>
            <a:r>
              <a:rPr sz="4000" spc="495" dirty="0">
                <a:latin typeface="Cambria"/>
                <a:cs typeface="Cambria"/>
              </a:rPr>
              <a:t>&amp;</a:t>
            </a:r>
            <a:r>
              <a:rPr sz="4000" spc="130" dirty="0">
                <a:latin typeface="Cambria"/>
                <a:cs typeface="Cambria"/>
              </a:rPr>
              <a:t> </a:t>
            </a:r>
            <a:r>
              <a:rPr sz="4000" spc="70" dirty="0">
                <a:latin typeface="Cambria"/>
                <a:cs typeface="Cambria"/>
              </a:rPr>
              <a:t>Move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2918" y="2411095"/>
            <a:ext cx="4525010" cy="1983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215" indent="-183515">
              <a:lnSpc>
                <a:spcPts val="2345"/>
              </a:lnSpc>
              <a:spcBef>
                <a:spcPts val="10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25" dirty="0">
                <a:solidFill>
                  <a:srgbClr val="00AF50"/>
                </a:solidFill>
                <a:latin typeface="Consolas"/>
                <a:cs typeface="Consolas"/>
              </a:rPr>
              <a:t>cp</a:t>
            </a:r>
            <a:endParaRPr sz="2000">
              <a:latin typeface="Consolas"/>
              <a:cs typeface="Consolas"/>
            </a:endParaRPr>
          </a:p>
          <a:p>
            <a:pPr marL="194945">
              <a:lnSpc>
                <a:spcPts val="2285"/>
              </a:lnSpc>
            </a:pPr>
            <a:r>
              <a:rPr sz="2000" dirty="0">
                <a:latin typeface="Cambria"/>
                <a:cs typeface="Cambria"/>
              </a:rPr>
              <a:t>(Copy):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cp</a:t>
            </a:r>
            <a:r>
              <a:rPr sz="2000" spc="10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source</a:t>
            </a:r>
            <a:r>
              <a:rPr sz="2000" spc="7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dest</a:t>
            </a:r>
            <a:r>
              <a:rPr sz="2000" spc="-509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cp</a:t>
            </a:r>
            <a:r>
              <a:rPr sz="2000" spc="8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-</a:t>
            </a:r>
            <a:r>
              <a:rPr sz="2000" spc="-50" dirty="0">
                <a:solidFill>
                  <a:srgbClr val="00AFEF"/>
                </a:solidFill>
                <a:latin typeface="Consolas"/>
                <a:cs typeface="Consolas"/>
              </a:rPr>
              <a:t>r</a:t>
            </a:r>
            <a:endParaRPr sz="2000">
              <a:latin typeface="Consolas"/>
              <a:cs typeface="Consolas"/>
            </a:endParaRPr>
          </a:p>
          <a:p>
            <a:pPr marL="194945">
              <a:lnSpc>
                <a:spcPts val="2340"/>
              </a:lnSpc>
            </a:pP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dir</a:t>
            </a:r>
            <a:r>
              <a:rPr sz="2000" spc="2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AFEF"/>
                </a:solidFill>
                <a:latin typeface="Consolas"/>
                <a:cs typeface="Consolas"/>
              </a:rPr>
              <a:t>dest</a:t>
            </a:r>
            <a:r>
              <a:rPr sz="2000" spc="-1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196215" indent="-183515">
              <a:lnSpc>
                <a:spcPts val="2340"/>
              </a:lnSpc>
              <a:spcBef>
                <a:spcPts val="147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25" dirty="0">
                <a:solidFill>
                  <a:srgbClr val="00AF50"/>
                </a:solidFill>
                <a:latin typeface="Consolas"/>
                <a:cs typeface="Consolas"/>
              </a:rPr>
              <a:t>mv</a:t>
            </a:r>
            <a:endParaRPr sz="2000">
              <a:latin typeface="Consolas"/>
              <a:cs typeface="Consolas"/>
            </a:endParaRPr>
          </a:p>
          <a:p>
            <a:pPr marL="194945" marR="5080">
              <a:lnSpc>
                <a:spcPts val="2280"/>
              </a:lnSpc>
              <a:spcBef>
                <a:spcPts val="114"/>
              </a:spcBef>
            </a:pPr>
            <a:r>
              <a:rPr sz="2000" dirty="0">
                <a:latin typeface="Cambria"/>
                <a:cs typeface="Cambria"/>
              </a:rPr>
              <a:t>(Move/Rename):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mv</a:t>
            </a:r>
            <a:r>
              <a:rPr sz="2000" spc="17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source</a:t>
            </a:r>
            <a:r>
              <a:rPr sz="2000" spc="15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dest</a:t>
            </a:r>
            <a:r>
              <a:rPr sz="2000" spc="-47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solidFill>
                  <a:srgbClr val="00AFEF"/>
                </a:solidFill>
                <a:latin typeface="Consolas"/>
                <a:cs typeface="Consolas"/>
              </a:rPr>
              <a:t>mv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old</a:t>
            </a:r>
            <a:r>
              <a:rPr sz="2000" spc="2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00AFEF"/>
                </a:solidFill>
                <a:latin typeface="Consolas"/>
                <a:cs typeface="Consolas"/>
              </a:rPr>
              <a:t>new</a:t>
            </a:r>
            <a:r>
              <a:rPr sz="2000" spc="-20" dirty="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7214" y="3299586"/>
            <a:ext cx="3136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90" dirty="0">
                <a:latin typeface="Cambria"/>
                <a:cs typeface="Cambria"/>
              </a:rPr>
              <a:t>Viewing</a:t>
            </a:r>
            <a:r>
              <a:rPr sz="4000" spc="170" dirty="0">
                <a:latin typeface="Cambria"/>
                <a:cs typeface="Cambria"/>
              </a:rPr>
              <a:t> </a:t>
            </a:r>
            <a:r>
              <a:rPr sz="4000" spc="130" dirty="0">
                <a:latin typeface="Cambria"/>
                <a:cs typeface="Cambria"/>
              </a:rPr>
              <a:t>Files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2918" y="1773427"/>
            <a:ext cx="4658360" cy="2765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215" indent="-183515">
              <a:lnSpc>
                <a:spcPts val="2345"/>
              </a:lnSpc>
              <a:spcBef>
                <a:spcPts val="10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25" dirty="0">
                <a:solidFill>
                  <a:srgbClr val="00AF50"/>
                </a:solidFill>
                <a:latin typeface="Consolas"/>
                <a:cs typeface="Consolas"/>
              </a:rPr>
              <a:t>cat</a:t>
            </a:r>
            <a:endParaRPr sz="2000">
              <a:latin typeface="Consolas"/>
              <a:cs typeface="Consolas"/>
            </a:endParaRPr>
          </a:p>
          <a:p>
            <a:pPr marL="194945">
              <a:lnSpc>
                <a:spcPts val="2315"/>
              </a:lnSpc>
            </a:pPr>
            <a:r>
              <a:rPr sz="2000" spc="90" dirty="0">
                <a:latin typeface="Cambria"/>
                <a:cs typeface="Cambria"/>
              </a:rPr>
              <a:t>Concatenate: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cat</a:t>
            </a:r>
            <a:r>
              <a:rPr sz="2000" spc="5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file.txt</a:t>
            </a:r>
            <a:r>
              <a:rPr sz="2000" spc="-52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110" dirty="0">
                <a:latin typeface="Cambria"/>
                <a:cs typeface="Cambria"/>
              </a:rPr>
              <a:t>–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Dumps</a:t>
            </a:r>
            <a:endParaRPr sz="2000">
              <a:latin typeface="Cambria"/>
              <a:cs typeface="Cambria"/>
            </a:endParaRPr>
          </a:p>
          <a:p>
            <a:pPr marL="194945">
              <a:lnSpc>
                <a:spcPts val="2370"/>
              </a:lnSpc>
            </a:pPr>
            <a:r>
              <a:rPr sz="2000" spc="60" dirty="0">
                <a:latin typeface="Cambria"/>
                <a:cs typeface="Cambria"/>
              </a:rPr>
              <a:t>content.</a:t>
            </a:r>
            <a:endParaRPr sz="2000">
              <a:latin typeface="Cambria"/>
              <a:cs typeface="Cambria"/>
            </a:endParaRPr>
          </a:p>
          <a:p>
            <a:pPr marL="196215" indent="-183515">
              <a:lnSpc>
                <a:spcPts val="2340"/>
              </a:lnSpc>
              <a:spcBef>
                <a:spcPts val="141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10" dirty="0">
                <a:solidFill>
                  <a:srgbClr val="00AF50"/>
                </a:solidFill>
                <a:latin typeface="Consolas"/>
                <a:cs typeface="Consolas"/>
              </a:rPr>
              <a:t>more</a:t>
            </a:r>
            <a:r>
              <a:rPr sz="2000" b="1" spc="-10" dirty="0">
                <a:latin typeface="Cambria"/>
                <a:cs typeface="Cambria"/>
              </a:rPr>
              <a:t>/</a:t>
            </a:r>
            <a:r>
              <a:rPr sz="2000" b="1" spc="-10" dirty="0">
                <a:solidFill>
                  <a:srgbClr val="00AF50"/>
                </a:solidFill>
                <a:latin typeface="Consolas"/>
                <a:cs typeface="Consolas"/>
              </a:rPr>
              <a:t>less</a:t>
            </a:r>
            <a:endParaRPr sz="2000">
              <a:latin typeface="Consolas"/>
              <a:cs typeface="Consolas"/>
            </a:endParaRPr>
          </a:p>
          <a:p>
            <a:pPr marL="194945">
              <a:lnSpc>
                <a:spcPts val="2310"/>
              </a:lnSpc>
            </a:pPr>
            <a:r>
              <a:rPr sz="2000" spc="105" dirty="0">
                <a:latin typeface="Cambria"/>
                <a:cs typeface="Cambria"/>
              </a:rPr>
              <a:t>Paginated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view: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less</a:t>
            </a:r>
            <a:r>
              <a:rPr sz="2000" spc="13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AFEF"/>
                </a:solidFill>
                <a:latin typeface="Consolas"/>
                <a:cs typeface="Consolas"/>
              </a:rPr>
              <a:t>huge_log.txt</a:t>
            </a:r>
            <a:endParaRPr sz="2000">
              <a:latin typeface="Consolas"/>
              <a:cs typeface="Consolas"/>
            </a:endParaRPr>
          </a:p>
          <a:p>
            <a:pPr marL="194945">
              <a:lnSpc>
                <a:spcPts val="2370"/>
              </a:lnSpc>
            </a:pPr>
            <a:r>
              <a:rPr sz="2000" dirty="0">
                <a:latin typeface="Cambria"/>
                <a:cs typeface="Cambria"/>
              </a:rPr>
              <a:t>(q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quit)</a:t>
            </a:r>
            <a:endParaRPr sz="2000">
              <a:latin typeface="Cambria"/>
              <a:cs typeface="Cambria"/>
            </a:endParaRPr>
          </a:p>
          <a:p>
            <a:pPr marL="196215" indent="-183515">
              <a:lnSpc>
                <a:spcPts val="2340"/>
              </a:lnSpc>
              <a:spcBef>
                <a:spcPts val="141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20" dirty="0">
                <a:solidFill>
                  <a:srgbClr val="00AF50"/>
                </a:solidFill>
                <a:latin typeface="Consolas"/>
                <a:cs typeface="Consolas"/>
              </a:rPr>
              <a:t>head</a:t>
            </a:r>
            <a:endParaRPr sz="2000">
              <a:latin typeface="Consolas"/>
              <a:cs typeface="Consolas"/>
            </a:endParaRPr>
          </a:p>
          <a:p>
            <a:pPr marL="194945">
              <a:lnSpc>
                <a:spcPts val="2340"/>
              </a:lnSpc>
            </a:pP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head</a:t>
            </a:r>
            <a:r>
              <a:rPr sz="2000" spc="1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-n</a:t>
            </a:r>
            <a:r>
              <a:rPr sz="2000" spc="4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10</a:t>
            </a:r>
            <a:r>
              <a:rPr sz="2000" spc="3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data.csv</a:t>
            </a:r>
            <a:r>
              <a:rPr sz="2000" spc="-53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110" dirty="0">
                <a:latin typeface="Cambria"/>
                <a:cs typeface="Cambria"/>
              </a:rPr>
              <a:t>–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First </a:t>
            </a:r>
            <a:r>
              <a:rPr sz="2000" spc="70" dirty="0">
                <a:latin typeface="Cambria"/>
                <a:cs typeface="Cambria"/>
              </a:rPr>
              <a:t>lines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572" y="-8573"/>
            <a:ext cx="5446395" cy="6875145"/>
            <a:chOff x="-8572" y="-8573"/>
            <a:chExt cx="5446395" cy="687514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429250" cy="6858000"/>
            </a:xfrm>
            <a:custGeom>
              <a:avLst/>
              <a:gdLst/>
              <a:ahLst/>
              <a:cxnLst/>
              <a:rect l="l" t="t" r="r" b="b"/>
              <a:pathLst>
                <a:path w="5429250" h="6858000">
                  <a:moveTo>
                    <a:pt x="54292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5429250" y="6858000"/>
                  </a:lnTo>
                  <a:lnTo>
                    <a:pt x="5429250" y="0"/>
                  </a:lnTo>
                  <a:close/>
                </a:path>
              </a:pathLst>
            </a:custGeom>
            <a:solidFill>
              <a:srgbClr val="A7B7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5429250" cy="6858000"/>
            </a:xfrm>
            <a:custGeom>
              <a:avLst/>
              <a:gdLst/>
              <a:ahLst/>
              <a:cxnLst/>
              <a:rect l="l" t="t" r="r" b="b"/>
              <a:pathLst>
                <a:path w="5429250" h="6858000">
                  <a:moveTo>
                    <a:pt x="0" y="6858000"/>
                  </a:moveTo>
                  <a:lnTo>
                    <a:pt x="5429250" y="6858000"/>
                  </a:lnTo>
                  <a:lnTo>
                    <a:pt x="542925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7145">
              <a:solidFill>
                <a:srgbClr val="F8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319654" y="3299586"/>
            <a:ext cx="2663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5" dirty="0">
                <a:solidFill>
                  <a:srgbClr val="FFFFFF"/>
                </a:solidFill>
                <a:latin typeface="Cambria"/>
                <a:cs typeface="Cambria"/>
              </a:rPr>
              <a:t>Redirection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82918" y="2275458"/>
            <a:ext cx="1790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215" indent="-183515">
              <a:lnSpc>
                <a:spcPct val="100000"/>
              </a:lnSpc>
              <a:spcBef>
                <a:spcPts val="10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130" dirty="0">
                <a:latin typeface="Cambria"/>
                <a:cs typeface="Cambria"/>
              </a:rPr>
              <a:t>Redirection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765797" y="2565019"/>
            <a:ext cx="4302125" cy="899794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ct val="93300"/>
              </a:lnSpc>
              <a:spcBef>
                <a:spcPts val="265"/>
              </a:spcBef>
            </a:pPr>
            <a:r>
              <a:rPr sz="2000" spc="70" dirty="0"/>
              <a:t>command</a:t>
            </a:r>
            <a:r>
              <a:rPr sz="2000" spc="130" dirty="0"/>
              <a:t> </a:t>
            </a:r>
            <a:r>
              <a:rPr sz="2000" spc="100" dirty="0"/>
              <a:t>&gt;</a:t>
            </a:r>
            <a:r>
              <a:rPr sz="2000" spc="170" dirty="0"/>
              <a:t> </a:t>
            </a:r>
            <a:r>
              <a:rPr sz="2000" spc="70" dirty="0"/>
              <a:t>file</a:t>
            </a:r>
            <a:r>
              <a:rPr sz="2000" spc="125" dirty="0"/>
              <a:t> </a:t>
            </a:r>
            <a:r>
              <a:rPr sz="2000" spc="50" dirty="0"/>
              <a:t>(output</a:t>
            </a:r>
            <a:r>
              <a:rPr sz="2000" spc="125" dirty="0"/>
              <a:t> </a:t>
            </a:r>
            <a:r>
              <a:rPr sz="2000" dirty="0"/>
              <a:t>to</a:t>
            </a:r>
            <a:r>
              <a:rPr sz="2000" spc="150" dirty="0"/>
              <a:t> </a:t>
            </a:r>
            <a:r>
              <a:rPr sz="2000" dirty="0"/>
              <a:t>file)</a:t>
            </a:r>
            <a:r>
              <a:rPr sz="2000" spc="130" dirty="0"/>
              <a:t> </a:t>
            </a:r>
            <a:r>
              <a:rPr sz="2000" dirty="0"/>
              <a:t>or</a:t>
            </a:r>
            <a:r>
              <a:rPr sz="2000" spc="145" dirty="0"/>
              <a:t> </a:t>
            </a:r>
            <a:r>
              <a:rPr sz="2000" spc="75" dirty="0"/>
              <a:t>&gt;&gt; </a:t>
            </a:r>
            <a:r>
              <a:rPr sz="2000" dirty="0"/>
              <a:t>(append).</a:t>
            </a:r>
            <a:r>
              <a:rPr sz="2000" spc="35" dirty="0"/>
              <a:t> </a:t>
            </a:r>
            <a:r>
              <a:rPr sz="2000" spc="130" dirty="0"/>
              <a:t>AI:</a:t>
            </a:r>
            <a:r>
              <a:rPr sz="2000" spc="210" dirty="0"/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python</a:t>
            </a:r>
            <a:r>
              <a:rPr sz="2000" spc="15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train.py</a:t>
            </a:r>
            <a:r>
              <a:rPr sz="2000" spc="14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solidFill>
                  <a:srgbClr val="00AFEF"/>
                </a:solidFill>
                <a:latin typeface="Consolas"/>
                <a:cs typeface="Consolas"/>
              </a:rPr>
              <a:t>&gt; </a:t>
            </a:r>
            <a:r>
              <a:rPr sz="2000" spc="-10" dirty="0">
                <a:solidFill>
                  <a:srgbClr val="00AFEF"/>
                </a:solidFill>
                <a:latin typeface="Consolas"/>
                <a:cs typeface="Consolas"/>
              </a:rPr>
              <a:t>log.txt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82918" y="3636645"/>
            <a:ext cx="4451350" cy="90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 indent="-183515">
              <a:lnSpc>
                <a:spcPts val="2310"/>
              </a:lnSpc>
              <a:spcBef>
                <a:spcPts val="100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170" dirty="0">
                <a:latin typeface="Cambria"/>
                <a:cs typeface="Cambria"/>
              </a:rPr>
              <a:t>Piping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40" dirty="0">
                <a:latin typeface="Cambria"/>
                <a:cs typeface="Cambria"/>
              </a:rPr>
              <a:t>(|)</a:t>
            </a:r>
            <a:endParaRPr sz="2000">
              <a:latin typeface="Cambria"/>
              <a:cs typeface="Cambria"/>
            </a:endParaRPr>
          </a:p>
          <a:p>
            <a:pPr marL="194945">
              <a:lnSpc>
                <a:spcPts val="2280"/>
              </a:lnSpc>
            </a:pPr>
            <a:r>
              <a:rPr sz="2000" spc="160" dirty="0">
                <a:latin typeface="Cambria"/>
                <a:cs typeface="Cambria"/>
              </a:rPr>
              <a:t>Chain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commands: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ls</a:t>
            </a:r>
            <a:r>
              <a:rPr sz="2000" spc="3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|</a:t>
            </a:r>
            <a:r>
              <a:rPr sz="2000" spc="3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grep</a:t>
            </a:r>
            <a:r>
              <a:rPr sz="2000" spc="1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.py</a:t>
            </a:r>
            <a:r>
              <a:rPr sz="2000" spc="-52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60" dirty="0">
                <a:latin typeface="Cambria"/>
                <a:cs typeface="Cambria"/>
              </a:rPr>
              <a:t>–</a:t>
            </a:r>
            <a:endParaRPr sz="2000">
              <a:latin typeface="Cambria"/>
              <a:cs typeface="Cambria"/>
            </a:endParaRPr>
          </a:p>
          <a:p>
            <a:pPr marL="194945">
              <a:lnSpc>
                <a:spcPts val="2370"/>
              </a:lnSpc>
            </a:pPr>
            <a:r>
              <a:rPr sz="2000" spc="125" dirty="0">
                <a:latin typeface="Cambria"/>
                <a:cs typeface="Cambria"/>
              </a:rPr>
              <a:t>Find </a:t>
            </a:r>
            <a:r>
              <a:rPr sz="2000" spc="90" dirty="0">
                <a:latin typeface="Cambria"/>
                <a:cs typeface="Cambria"/>
              </a:rPr>
              <a:t>Python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files.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0763" y="2750261"/>
            <a:ext cx="294259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32715" marR="5080" indent="-120650">
              <a:lnSpc>
                <a:spcPts val="4320"/>
              </a:lnSpc>
              <a:spcBef>
                <a:spcPts val="640"/>
              </a:spcBef>
            </a:pPr>
            <a:r>
              <a:rPr sz="4000" spc="114" dirty="0">
                <a:solidFill>
                  <a:srgbClr val="FFFFFF"/>
                </a:solidFill>
                <a:latin typeface="Cambria"/>
                <a:cs typeface="Cambria"/>
              </a:rPr>
              <a:t>Superuser</a:t>
            </a:r>
            <a:r>
              <a:rPr sz="40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spc="445" dirty="0">
                <a:solidFill>
                  <a:srgbClr val="FFFFFF"/>
                </a:solidFill>
                <a:latin typeface="Cambria"/>
                <a:cs typeface="Cambria"/>
              </a:rPr>
              <a:t>&amp; </a:t>
            </a:r>
            <a:r>
              <a:rPr sz="4000" spc="75" dirty="0">
                <a:solidFill>
                  <a:srgbClr val="FFFFFF"/>
                </a:solidFill>
                <a:latin typeface="Cambria"/>
                <a:cs typeface="Cambria"/>
              </a:rPr>
              <a:t>Permissions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2918" y="269494"/>
            <a:ext cx="4664075" cy="5306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 indent="-183515">
              <a:lnSpc>
                <a:spcPts val="2225"/>
              </a:lnSpc>
              <a:spcBef>
                <a:spcPts val="100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20" dirty="0">
                <a:solidFill>
                  <a:srgbClr val="00AF50"/>
                </a:solidFill>
                <a:latin typeface="Consolas"/>
                <a:cs typeface="Consolas"/>
              </a:rPr>
              <a:t>sudo</a:t>
            </a:r>
            <a:endParaRPr sz="2000">
              <a:latin typeface="Consolas"/>
              <a:cs typeface="Consolas"/>
            </a:endParaRPr>
          </a:p>
          <a:p>
            <a:pPr marL="194945" marR="433705">
              <a:lnSpc>
                <a:spcPts val="2039"/>
              </a:lnSpc>
              <a:spcBef>
                <a:spcPts val="195"/>
              </a:spcBef>
            </a:pPr>
            <a:r>
              <a:rPr sz="2000" spc="90" dirty="0">
                <a:latin typeface="Cambria"/>
                <a:cs typeface="Cambria"/>
              </a:rPr>
              <a:t>Superuser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Do: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sudo</a:t>
            </a:r>
            <a:r>
              <a:rPr sz="2000" spc="1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apt</a:t>
            </a:r>
            <a:r>
              <a:rPr sz="2000" spc="3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AFEF"/>
                </a:solidFill>
                <a:latin typeface="Consolas"/>
                <a:cs typeface="Consolas"/>
              </a:rPr>
              <a:t>install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package</a:t>
            </a:r>
            <a:r>
              <a:rPr sz="2000" spc="-55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110" dirty="0">
                <a:latin typeface="Cambria"/>
                <a:cs typeface="Cambria"/>
              </a:rPr>
              <a:t>–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Run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admin</a:t>
            </a:r>
            <a:endParaRPr sz="2000">
              <a:latin typeface="Cambria"/>
              <a:cs typeface="Cambria"/>
            </a:endParaRPr>
          </a:p>
          <a:p>
            <a:pPr marL="196215" indent="-183515">
              <a:lnSpc>
                <a:spcPts val="2250"/>
              </a:lnSpc>
              <a:spcBef>
                <a:spcPts val="1230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10" dirty="0">
                <a:solidFill>
                  <a:srgbClr val="00AF50"/>
                </a:solidFill>
                <a:latin typeface="Consolas"/>
                <a:cs typeface="Consolas"/>
              </a:rPr>
              <a:t>chmod</a:t>
            </a:r>
            <a:endParaRPr sz="2000">
              <a:latin typeface="Consolas"/>
              <a:cs typeface="Consolas"/>
            </a:endParaRPr>
          </a:p>
          <a:p>
            <a:pPr marL="194945" marR="128270">
              <a:lnSpc>
                <a:spcPts val="2039"/>
              </a:lnSpc>
              <a:spcBef>
                <a:spcPts val="220"/>
              </a:spcBef>
            </a:pPr>
            <a:r>
              <a:rPr sz="2000" spc="135" dirty="0">
                <a:latin typeface="Cambria"/>
                <a:cs typeface="Cambria"/>
              </a:rPr>
              <a:t>Change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Mode: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Linux/Unix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command </a:t>
            </a:r>
            <a:r>
              <a:rPr sz="2000" spc="65" dirty="0">
                <a:latin typeface="Cambria"/>
                <a:cs typeface="Cambria"/>
              </a:rPr>
              <a:t>used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modify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file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directory </a:t>
            </a:r>
            <a:r>
              <a:rPr sz="2000" spc="65" dirty="0">
                <a:latin typeface="Cambria"/>
                <a:cs typeface="Cambria"/>
              </a:rPr>
              <a:t>permissions,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controlling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who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can </a:t>
            </a:r>
            <a:r>
              <a:rPr sz="2000" spc="85" dirty="0">
                <a:latin typeface="Cambria"/>
                <a:cs typeface="Cambria"/>
              </a:rPr>
              <a:t>read,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write,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execute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them</a:t>
            </a:r>
            <a:endParaRPr sz="2000">
              <a:latin typeface="Cambria"/>
              <a:cs typeface="Cambria"/>
            </a:endParaRPr>
          </a:p>
          <a:p>
            <a:pPr marL="194945">
              <a:lnSpc>
                <a:spcPts val="1960"/>
              </a:lnSpc>
            </a:pP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chmod</a:t>
            </a:r>
            <a:r>
              <a:rPr sz="2000" spc="4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[options]</a:t>
            </a:r>
            <a:r>
              <a:rPr sz="2000" spc="4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mode</a:t>
            </a:r>
            <a:r>
              <a:rPr sz="2000" spc="4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00AFEF"/>
                </a:solidFill>
                <a:latin typeface="Consolas"/>
                <a:cs typeface="Consolas"/>
              </a:rPr>
              <a:t>file</a:t>
            </a:r>
            <a:endParaRPr sz="2000">
              <a:latin typeface="Consolas"/>
              <a:cs typeface="Consolas"/>
            </a:endParaRPr>
          </a:p>
          <a:p>
            <a:pPr marL="196215" indent="-183515">
              <a:lnSpc>
                <a:spcPts val="2225"/>
              </a:lnSpc>
              <a:spcBef>
                <a:spcPts val="130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130" dirty="0">
                <a:latin typeface="Cambria"/>
                <a:cs typeface="Cambria"/>
              </a:rPr>
              <a:t>Permission </a:t>
            </a:r>
            <a:r>
              <a:rPr sz="2000" b="1" spc="140" dirty="0">
                <a:latin typeface="Cambria"/>
                <a:cs typeface="Cambria"/>
              </a:rPr>
              <a:t>Basics</a:t>
            </a:r>
            <a:endParaRPr sz="2000">
              <a:latin typeface="Cambria"/>
              <a:cs typeface="Cambria"/>
            </a:endParaRPr>
          </a:p>
          <a:p>
            <a:pPr marL="194945" marR="13335">
              <a:lnSpc>
                <a:spcPct val="85000"/>
              </a:lnSpc>
              <a:spcBef>
                <a:spcPts val="190"/>
              </a:spcBef>
            </a:pPr>
            <a:r>
              <a:rPr sz="2000" spc="75" dirty="0">
                <a:latin typeface="Cambria"/>
                <a:cs typeface="Cambria"/>
              </a:rPr>
              <a:t>Permissions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apply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three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groups: </a:t>
            </a:r>
            <a:r>
              <a:rPr sz="2000" b="1" spc="165" dirty="0">
                <a:latin typeface="Cambria"/>
                <a:cs typeface="Cambria"/>
              </a:rPr>
              <a:t>Owner</a:t>
            </a:r>
            <a:r>
              <a:rPr sz="2000" b="1" spc="24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(u)</a:t>
            </a:r>
            <a:r>
              <a:rPr sz="2000" dirty="0">
                <a:latin typeface="Cambria"/>
                <a:cs typeface="Cambria"/>
              </a:rPr>
              <a:t>: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File</a:t>
            </a:r>
            <a:r>
              <a:rPr sz="2000" spc="20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creator.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b="1" spc="175" dirty="0">
                <a:latin typeface="Cambria"/>
                <a:cs typeface="Cambria"/>
              </a:rPr>
              <a:t>Group</a:t>
            </a:r>
            <a:r>
              <a:rPr sz="2000" b="1" spc="254" dirty="0">
                <a:latin typeface="Cambria"/>
                <a:cs typeface="Cambria"/>
              </a:rPr>
              <a:t> </a:t>
            </a:r>
            <a:r>
              <a:rPr sz="2000" b="1" spc="-20" dirty="0">
                <a:latin typeface="Cambria"/>
                <a:cs typeface="Cambria"/>
              </a:rPr>
              <a:t>(g)</a:t>
            </a:r>
            <a:r>
              <a:rPr sz="2000" spc="-20" dirty="0">
                <a:latin typeface="Cambria"/>
                <a:cs typeface="Cambria"/>
              </a:rPr>
              <a:t>: </a:t>
            </a:r>
            <a:r>
              <a:rPr sz="2000" spc="110" dirty="0">
                <a:latin typeface="Cambria"/>
                <a:cs typeface="Cambria"/>
              </a:rPr>
              <a:t>Users </a:t>
            </a:r>
            <a:r>
              <a:rPr sz="2000" spc="95" dirty="0">
                <a:latin typeface="Cambria"/>
                <a:cs typeface="Cambria"/>
              </a:rPr>
              <a:t>in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the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same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group.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b="1" spc="145" dirty="0">
                <a:latin typeface="Cambria"/>
                <a:cs typeface="Cambria"/>
              </a:rPr>
              <a:t>Others</a:t>
            </a:r>
            <a:r>
              <a:rPr sz="2000" b="1" spc="140" dirty="0">
                <a:latin typeface="Cambria"/>
                <a:cs typeface="Cambria"/>
              </a:rPr>
              <a:t> </a:t>
            </a:r>
            <a:r>
              <a:rPr sz="2000" b="1" spc="-20" dirty="0">
                <a:latin typeface="Cambria"/>
                <a:cs typeface="Cambria"/>
              </a:rPr>
              <a:t>(o)</a:t>
            </a:r>
            <a:r>
              <a:rPr sz="2000" spc="-20" dirty="0">
                <a:latin typeface="Cambria"/>
                <a:cs typeface="Cambria"/>
              </a:rPr>
              <a:t>: </a:t>
            </a:r>
            <a:r>
              <a:rPr sz="2000" spc="75" dirty="0">
                <a:latin typeface="Cambria"/>
                <a:cs typeface="Cambria"/>
              </a:rPr>
              <a:t>Everyone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else.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Each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group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can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have:</a:t>
            </a:r>
            <a:endParaRPr sz="20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  <a:spcBef>
                <a:spcPts val="10"/>
              </a:spcBef>
            </a:pPr>
            <a:r>
              <a:rPr sz="2000" dirty="0">
                <a:solidFill>
                  <a:srgbClr val="6E6E74"/>
                </a:solidFill>
                <a:latin typeface="Segoe UI Symbol"/>
                <a:cs typeface="Segoe UI Symbol"/>
              </a:rPr>
              <a:t>🞄</a:t>
            </a:r>
            <a:r>
              <a:rPr sz="2000" spc="204" dirty="0">
                <a:solidFill>
                  <a:srgbClr val="6E6E74"/>
                </a:solidFill>
                <a:latin typeface="Segoe UI Symbol"/>
                <a:cs typeface="Segoe UI Symbol"/>
              </a:rPr>
              <a:t> </a:t>
            </a:r>
            <a:r>
              <a:rPr sz="2000" spc="55" dirty="0">
                <a:solidFill>
                  <a:srgbClr val="252525"/>
                </a:solidFill>
                <a:latin typeface="Cambria"/>
                <a:cs typeface="Cambria"/>
              </a:rPr>
              <a:t>r</a:t>
            </a:r>
            <a:r>
              <a:rPr sz="20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(read,</a:t>
            </a:r>
            <a:r>
              <a:rPr sz="2000" spc="1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4):</a:t>
            </a:r>
            <a:r>
              <a:rPr sz="20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252525"/>
                </a:solidFill>
                <a:latin typeface="Cambria"/>
                <a:cs typeface="Cambria"/>
              </a:rPr>
              <a:t>View</a:t>
            </a:r>
            <a:r>
              <a:rPr sz="20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252525"/>
                </a:solidFill>
                <a:latin typeface="Cambria"/>
                <a:cs typeface="Cambria"/>
              </a:rPr>
              <a:t>file</a:t>
            </a:r>
            <a:r>
              <a:rPr sz="20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252525"/>
                </a:solidFill>
                <a:latin typeface="Cambria"/>
                <a:cs typeface="Cambria"/>
              </a:rPr>
              <a:t>contents.</a:t>
            </a:r>
            <a:endParaRPr sz="20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6E6E74"/>
                </a:solidFill>
                <a:latin typeface="Segoe UI Symbol"/>
                <a:cs typeface="Segoe UI Symbol"/>
              </a:rPr>
              <a:t>🞄</a:t>
            </a:r>
            <a:r>
              <a:rPr sz="2000" spc="225" dirty="0">
                <a:solidFill>
                  <a:srgbClr val="6E6E74"/>
                </a:solidFill>
                <a:latin typeface="Segoe UI Symbol"/>
                <a:cs typeface="Segoe UI Symbol"/>
              </a:rPr>
              <a:t> 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w</a:t>
            </a:r>
            <a:r>
              <a:rPr sz="2000" spc="1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(write,</a:t>
            </a:r>
            <a:r>
              <a:rPr sz="20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2):</a:t>
            </a:r>
            <a:r>
              <a:rPr sz="20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252525"/>
                </a:solidFill>
                <a:latin typeface="Cambria"/>
                <a:cs typeface="Cambria"/>
              </a:rPr>
              <a:t>Edit</a:t>
            </a:r>
            <a:r>
              <a:rPr sz="20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252525"/>
                </a:solidFill>
                <a:latin typeface="Cambria"/>
                <a:cs typeface="Cambria"/>
              </a:rPr>
              <a:t>file.</a:t>
            </a:r>
            <a:endParaRPr sz="2000">
              <a:latin typeface="Cambria"/>
              <a:cs typeface="Cambria"/>
            </a:endParaRPr>
          </a:p>
          <a:p>
            <a:pPr marL="469900" marR="5080" indent="-182880">
              <a:lnSpc>
                <a:spcPct val="80000"/>
              </a:lnSpc>
              <a:spcBef>
                <a:spcPts val="600"/>
              </a:spcBef>
            </a:pPr>
            <a:r>
              <a:rPr sz="2000" dirty="0">
                <a:solidFill>
                  <a:srgbClr val="6E6E74"/>
                </a:solidFill>
                <a:latin typeface="Segoe UI Symbol"/>
                <a:cs typeface="Segoe UI Symbol"/>
              </a:rPr>
              <a:t>🞄</a:t>
            </a:r>
            <a:r>
              <a:rPr sz="2000" spc="235" dirty="0">
                <a:solidFill>
                  <a:srgbClr val="6E6E74"/>
                </a:solidFill>
                <a:latin typeface="Segoe UI Symbol"/>
                <a:cs typeface="Segoe UI Symbol"/>
              </a:rPr>
              <a:t> </a:t>
            </a:r>
            <a:r>
              <a:rPr sz="2000" spc="105" dirty="0">
                <a:solidFill>
                  <a:srgbClr val="252525"/>
                </a:solidFill>
                <a:latin typeface="Cambria"/>
                <a:cs typeface="Cambria"/>
              </a:rPr>
              <a:t>x</a:t>
            </a:r>
            <a:r>
              <a:rPr sz="2000" spc="1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(execute,</a:t>
            </a:r>
            <a:r>
              <a:rPr sz="20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1):</a:t>
            </a:r>
            <a:r>
              <a:rPr sz="2000" spc="1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252525"/>
                </a:solidFill>
                <a:latin typeface="Cambria"/>
                <a:cs typeface="Cambria"/>
              </a:rPr>
              <a:t>Run</a:t>
            </a:r>
            <a:r>
              <a:rPr sz="2000" spc="1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252525"/>
                </a:solidFill>
                <a:latin typeface="Cambria"/>
                <a:cs typeface="Cambria"/>
              </a:rPr>
              <a:t>file</a:t>
            </a:r>
            <a:r>
              <a:rPr sz="20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252525"/>
                </a:solidFill>
                <a:latin typeface="Cambria"/>
                <a:cs typeface="Cambria"/>
              </a:rPr>
              <a:t>(e.g.,</a:t>
            </a:r>
            <a:r>
              <a:rPr sz="20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ambria"/>
                <a:cs typeface="Cambria"/>
              </a:rPr>
              <a:t>scripts) </a:t>
            </a:r>
            <a:r>
              <a:rPr sz="2000" dirty="0">
                <a:solidFill>
                  <a:srgbClr val="252525"/>
                </a:solidFill>
                <a:latin typeface="Cambria"/>
                <a:cs typeface="Cambria"/>
              </a:rPr>
              <a:t>or</a:t>
            </a:r>
            <a:r>
              <a:rPr sz="20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252525"/>
                </a:solidFill>
                <a:latin typeface="Cambria"/>
                <a:cs typeface="Cambria"/>
              </a:rPr>
              <a:t>enter</a:t>
            </a:r>
            <a:r>
              <a:rPr sz="2000" spc="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ambria"/>
                <a:cs typeface="Cambria"/>
              </a:rPr>
              <a:t>directory.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0367" y="2750261"/>
            <a:ext cx="306324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 indent="1118870">
              <a:lnSpc>
                <a:spcPts val="4320"/>
              </a:lnSpc>
              <a:spcBef>
                <a:spcPts val="640"/>
              </a:spcBef>
            </a:pPr>
            <a:r>
              <a:rPr sz="4000" spc="140" dirty="0">
                <a:solidFill>
                  <a:srgbClr val="FFFFFF"/>
                </a:solidFill>
                <a:latin typeface="Cambria"/>
                <a:cs typeface="Cambria"/>
              </a:rPr>
              <a:t>Package </a:t>
            </a:r>
            <a:r>
              <a:rPr sz="4000" spc="145" dirty="0">
                <a:solidFill>
                  <a:srgbClr val="FFFFFF"/>
                </a:solidFill>
                <a:latin typeface="Cambria"/>
                <a:cs typeface="Cambria"/>
              </a:rPr>
              <a:t>Management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2918" y="1774951"/>
            <a:ext cx="4570730" cy="2764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215" indent="-183515">
              <a:lnSpc>
                <a:spcPts val="2340"/>
              </a:lnSpc>
              <a:spcBef>
                <a:spcPts val="10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spc="-20" dirty="0">
                <a:solidFill>
                  <a:srgbClr val="00AF50"/>
                </a:solidFill>
                <a:latin typeface="Consolas"/>
                <a:cs typeface="Consolas"/>
              </a:rPr>
              <a:t>dpkg</a:t>
            </a:r>
            <a:endParaRPr sz="2000">
              <a:latin typeface="Consolas"/>
              <a:cs typeface="Consolas"/>
            </a:endParaRPr>
          </a:p>
          <a:p>
            <a:pPr marL="194945">
              <a:lnSpc>
                <a:spcPts val="2310"/>
              </a:lnSpc>
            </a:pPr>
            <a:r>
              <a:rPr sz="2000" spc="60" dirty="0">
                <a:latin typeface="Cambria"/>
                <a:cs typeface="Cambria"/>
              </a:rPr>
              <a:t>Low-</a:t>
            </a:r>
            <a:r>
              <a:rPr sz="2000" spc="50" dirty="0">
                <a:latin typeface="Cambria"/>
                <a:cs typeface="Cambria"/>
              </a:rPr>
              <a:t>level: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dpkg</a:t>
            </a:r>
            <a:r>
              <a:rPr sz="2000" spc="6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-i</a:t>
            </a:r>
            <a:r>
              <a:rPr sz="2000" spc="5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package.deb</a:t>
            </a:r>
            <a:r>
              <a:rPr sz="2000" spc="-53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60" dirty="0">
                <a:latin typeface="Cambria"/>
                <a:cs typeface="Cambria"/>
              </a:rPr>
              <a:t>–</a:t>
            </a:r>
            <a:endParaRPr sz="2000">
              <a:latin typeface="Cambria"/>
              <a:cs typeface="Cambria"/>
            </a:endParaRPr>
          </a:p>
          <a:p>
            <a:pPr marL="194945">
              <a:lnSpc>
                <a:spcPts val="2370"/>
              </a:lnSpc>
            </a:pPr>
            <a:r>
              <a:rPr sz="2000" spc="110" dirty="0">
                <a:latin typeface="Cambria"/>
                <a:cs typeface="Cambria"/>
              </a:rPr>
              <a:t>Install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.deb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files</a:t>
            </a:r>
            <a:endParaRPr sz="2000">
              <a:latin typeface="Cambria"/>
              <a:cs typeface="Cambria"/>
            </a:endParaRPr>
          </a:p>
          <a:p>
            <a:pPr marL="196215" indent="-183515">
              <a:lnSpc>
                <a:spcPts val="2340"/>
              </a:lnSpc>
              <a:spcBef>
                <a:spcPts val="1415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dirty="0">
                <a:solidFill>
                  <a:srgbClr val="00AF50"/>
                </a:solidFill>
                <a:latin typeface="Consolas"/>
                <a:cs typeface="Consolas"/>
              </a:rPr>
              <a:t>apt</a:t>
            </a:r>
            <a:r>
              <a:rPr sz="2000" b="1" spc="-50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2000" b="1" spc="80" dirty="0">
                <a:latin typeface="Cambria"/>
                <a:cs typeface="Cambria"/>
              </a:rPr>
              <a:t>(Ubuntu/Debian)</a:t>
            </a:r>
            <a:endParaRPr sz="2000">
              <a:latin typeface="Cambria"/>
              <a:cs typeface="Cambria"/>
            </a:endParaRPr>
          </a:p>
          <a:p>
            <a:pPr marL="194945" marR="5080">
              <a:lnSpc>
                <a:spcPts val="2280"/>
              </a:lnSpc>
              <a:spcBef>
                <a:spcPts val="114"/>
              </a:spcBef>
            </a:pP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sudo</a:t>
            </a:r>
            <a:r>
              <a:rPr sz="2000" spc="2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apt</a:t>
            </a:r>
            <a:r>
              <a:rPr sz="2000" spc="4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update</a:t>
            </a:r>
            <a:r>
              <a:rPr sz="2000" spc="-52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45" dirty="0">
                <a:latin typeface="Cambria"/>
                <a:cs typeface="Cambria"/>
              </a:rPr>
              <a:t>(refresh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list),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00AFEF"/>
                </a:solidFill>
                <a:latin typeface="Consolas"/>
                <a:cs typeface="Consolas"/>
              </a:rPr>
              <a:t>sudo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apt</a:t>
            </a:r>
            <a:r>
              <a:rPr sz="2000" spc="5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upgrade</a:t>
            </a:r>
            <a:r>
              <a:rPr sz="2000" spc="-530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55" dirty="0">
                <a:latin typeface="Cambria"/>
                <a:cs typeface="Cambria"/>
              </a:rPr>
              <a:t>(update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packages)</a:t>
            </a:r>
            <a:endParaRPr sz="2000">
              <a:latin typeface="Cambria"/>
              <a:cs typeface="Cambria"/>
            </a:endParaRPr>
          </a:p>
          <a:p>
            <a:pPr marL="196215" indent="-183515">
              <a:lnSpc>
                <a:spcPts val="2340"/>
              </a:lnSpc>
              <a:spcBef>
                <a:spcPts val="1420"/>
              </a:spcBef>
              <a:buClr>
                <a:srgbClr val="6E6E74"/>
              </a:buClr>
              <a:buSzPct val="80000"/>
              <a:buFont typeface="Arial"/>
              <a:buChar char="•"/>
              <a:tabLst>
                <a:tab pos="196215" algn="l"/>
              </a:tabLst>
            </a:pPr>
            <a:r>
              <a:rPr sz="2000" b="1" dirty="0">
                <a:solidFill>
                  <a:srgbClr val="00AF50"/>
                </a:solidFill>
                <a:latin typeface="Consolas"/>
                <a:cs typeface="Consolas"/>
              </a:rPr>
              <a:t>winget</a:t>
            </a:r>
            <a:r>
              <a:rPr sz="2000" b="1" spc="-484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2000" b="1" spc="75" dirty="0">
                <a:latin typeface="Cambria"/>
                <a:cs typeface="Cambria"/>
              </a:rPr>
              <a:t>(Windows)</a:t>
            </a:r>
            <a:endParaRPr sz="2000">
              <a:latin typeface="Cambria"/>
              <a:cs typeface="Cambria"/>
            </a:endParaRPr>
          </a:p>
          <a:p>
            <a:pPr marL="194945">
              <a:lnSpc>
                <a:spcPts val="2340"/>
              </a:lnSpc>
            </a:pP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winget</a:t>
            </a:r>
            <a:r>
              <a:rPr sz="2000" spc="4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AFEF"/>
                </a:solidFill>
                <a:latin typeface="Consolas"/>
                <a:cs typeface="Consolas"/>
              </a:rPr>
              <a:t>install</a:t>
            </a:r>
            <a:r>
              <a:rPr sz="2000" spc="4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AFEF"/>
                </a:solidFill>
                <a:latin typeface="Consolas"/>
                <a:cs typeface="Consolas"/>
              </a:rPr>
              <a:t>Anaconda3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3985" y="3837813"/>
            <a:ext cx="2590800" cy="5238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83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85" dirty="0"/>
              <a:t>Setting</a:t>
            </a:r>
            <a:r>
              <a:rPr spc="125" dirty="0"/>
              <a:t> </a:t>
            </a:r>
            <a:r>
              <a:rPr spc="365" dirty="0"/>
              <a:t>Up</a:t>
            </a:r>
            <a:r>
              <a:rPr spc="160" dirty="0"/>
              <a:t> </a:t>
            </a:r>
            <a:r>
              <a:rPr spc="135" dirty="0"/>
              <a:t>the</a:t>
            </a:r>
            <a:r>
              <a:rPr spc="160" dirty="0"/>
              <a:t> </a:t>
            </a:r>
            <a:r>
              <a:rPr spc="140" dirty="0"/>
              <a:t>Python</a:t>
            </a:r>
            <a:r>
              <a:rPr spc="135" dirty="0"/>
              <a:t> </a:t>
            </a:r>
            <a:r>
              <a:rPr spc="130" dirty="0"/>
              <a:t>Environment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0866" y="1948688"/>
            <a:ext cx="4020820" cy="3313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310" indent="-181610">
              <a:lnSpc>
                <a:spcPts val="2110"/>
              </a:lnSpc>
              <a:spcBef>
                <a:spcPts val="100"/>
              </a:spcBef>
              <a:buClr>
                <a:srgbClr val="6E6E74"/>
              </a:buClr>
              <a:buSzPct val="80555"/>
              <a:buFont typeface="Arial"/>
              <a:buChar char="•"/>
              <a:tabLst>
                <a:tab pos="194310" algn="l"/>
              </a:tabLst>
            </a:pPr>
            <a:r>
              <a:rPr sz="1800" b="1" spc="120" dirty="0">
                <a:latin typeface="Cambria"/>
                <a:cs typeface="Cambria"/>
              </a:rPr>
              <a:t>Install </a:t>
            </a:r>
            <a:r>
              <a:rPr sz="1800" b="1" spc="140" dirty="0">
                <a:latin typeface="Cambria"/>
                <a:cs typeface="Cambria"/>
              </a:rPr>
              <a:t>Python</a:t>
            </a:r>
            <a:endParaRPr sz="1800">
              <a:latin typeface="Cambria"/>
              <a:cs typeface="Cambria"/>
            </a:endParaRPr>
          </a:p>
          <a:p>
            <a:pPr marL="195580" marR="384810">
              <a:lnSpc>
                <a:spcPts val="2050"/>
              </a:lnSpc>
              <a:spcBef>
                <a:spcPts val="110"/>
              </a:spcBef>
            </a:pPr>
            <a:r>
              <a:rPr sz="1800" dirty="0">
                <a:latin typeface="Cambria"/>
                <a:cs typeface="Cambria"/>
              </a:rPr>
              <a:t>You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can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install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Python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by </a:t>
            </a:r>
            <a:r>
              <a:rPr sz="1800" spc="45" dirty="0">
                <a:latin typeface="Cambria"/>
                <a:cs typeface="Cambria"/>
              </a:rPr>
              <a:t>downloading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it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u="sng" spc="55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Cambria"/>
                <a:cs typeface="Cambria"/>
                <a:hlinkClick r:id="rId3"/>
              </a:rPr>
              <a:t>python.org</a:t>
            </a:r>
            <a:r>
              <a:rPr sz="1800" u="none" spc="55" dirty="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 marL="194310" marR="205104" indent="-181610">
              <a:lnSpc>
                <a:spcPts val="2050"/>
              </a:lnSpc>
              <a:spcBef>
                <a:spcPts val="1605"/>
              </a:spcBef>
              <a:buClr>
                <a:srgbClr val="6E6E74"/>
              </a:buClr>
              <a:buSzPct val="80555"/>
              <a:buFont typeface="Arial"/>
              <a:buChar char="•"/>
              <a:tabLst>
                <a:tab pos="195580" algn="l"/>
              </a:tabLst>
            </a:pPr>
            <a:r>
              <a:rPr sz="1800" b="1" spc="120" dirty="0">
                <a:latin typeface="Cambria"/>
                <a:cs typeface="Cambria"/>
              </a:rPr>
              <a:t>Install</a:t>
            </a:r>
            <a:r>
              <a:rPr sz="1800" b="1" spc="125" dirty="0">
                <a:latin typeface="Cambria"/>
                <a:cs typeface="Cambria"/>
              </a:rPr>
              <a:t> </a:t>
            </a:r>
            <a:r>
              <a:rPr sz="1800" b="1" spc="135" dirty="0">
                <a:latin typeface="Cambria"/>
                <a:cs typeface="Cambria"/>
              </a:rPr>
              <a:t>Visual</a:t>
            </a:r>
            <a:r>
              <a:rPr sz="1800" b="1" spc="114" dirty="0">
                <a:latin typeface="Cambria"/>
                <a:cs typeface="Cambria"/>
              </a:rPr>
              <a:t> </a:t>
            </a:r>
            <a:r>
              <a:rPr sz="1800" b="1" spc="140" dirty="0">
                <a:latin typeface="Cambria"/>
                <a:cs typeface="Cambria"/>
              </a:rPr>
              <a:t>Studio</a:t>
            </a:r>
            <a:r>
              <a:rPr sz="1800" b="1" spc="114" dirty="0">
                <a:latin typeface="Cambria"/>
                <a:cs typeface="Cambria"/>
              </a:rPr>
              <a:t> </a:t>
            </a:r>
            <a:r>
              <a:rPr sz="1800" b="1" spc="160" dirty="0">
                <a:latin typeface="Cambria"/>
                <a:cs typeface="Cambria"/>
              </a:rPr>
              <a:t>Code</a:t>
            </a:r>
            <a:r>
              <a:rPr sz="1800" b="1" spc="135" dirty="0">
                <a:latin typeface="Cambria"/>
                <a:cs typeface="Cambria"/>
              </a:rPr>
              <a:t> </a:t>
            </a:r>
            <a:r>
              <a:rPr sz="1800" b="1" spc="130" dirty="0">
                <a:latin typeface="Cambria"/>
                <a:cs typeface="Cambria"/>
              </a:rPr>
              <a:t>(VS 	</a:t>
            </a:r>
            <a:r>
              <a:rPr sz="1800" b="1" spc="110" dirty="0">
                <a:latin typeface="Cambria"/>
                <a:cs typeface="Cambria"/>
              </a:rPr>
              <a:t>Code)</a:t>
            </a:r>
            <a:endParaRPr sz="1800">
              <a:latin typeface="Cambria"/>
              <a:cs typeface="Cambria"/>
            </a:endParaRPr>
          </a:p>
          <a:p>
            <a:pPr marL="195580" marR="5080">
              <a:lnSpc>
                <a:spcPts val="2050"/>
              </a:lnSpc>
            </a:pPr>
            <a:r>
              <a:rPr sz="1800" spc="55" dirty="0">
                <a:latin typeface="Cambria"/>
                <a:cs typeface="Cambria"/>
              </a:rPr>
              <a:t>Download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and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install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225" dirty="0">
                <a:latin typeface="Cambria"/>
                <a:cs typeface="Cambria"/>
              </a:rPr>
              <a:t>VS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Code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from </a:t>
            </a:r>
            <a:r>
              <a:rPr sz="1800" spc="75" dirty="0">
                <a:latin typeface="Cambria"/>
                <a:cs typeface="Cambria"/>
              </a:rPr>
              <a:t>the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official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u="sng" spc="40" dirty="0">
                <a:solidFill>
                  <a:srgbClr val="67AABE"/>
                </a:solidFill>
                <a:uFill>
                  <a:solidFill>
                    <a:srgbClr val="67AABE"/>
                  </a:solidFill>
                </a:uFill>
                <a:latin typeface="Cambria"/>
                <a:cs typeface="Cambria"/>
                <a:hlinkClick r:id="rId4"/>
              </a:rPr>
              <a:t>website</a:t>
            </a:r>
            <a:r>
              <a:rPr sz="1800" u="none" spc="40" dirty="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  <a:p>
            <a:pPr marL="194310" indent="-181610">
              <a:lnSpc>
                <a:spcPts val="2105"/>
              </a:lnSpc>
              <a:spcBef>
                <a:spcPts val="1445"/>
              </a:spcBef>
              <a:buClr>
                <a:srgbClr val="6E6E74"/>
              </a:buClr>
              <a:buSzPct val="80555"/>
              <a:buFont typeface="Arial"/>
              <a:buChar char="•"/>
              <a:tabLst>
                <a:tab pos="194310" algn="l"/>
              </a:tabLst>
            </a:pPr>
            <a:r>
              <a:rPr sz="1800" b="1" spc="120" dirty="0">
                <a:latin typeface="Cambria"/>
                <a:cs typeface="Cambria"/>
              </a:rPr>
              <a:t>Install</a:t>
            </a:r>
            <a:r>
              <a:rPr sz="1800" b="1" spc="125" dirty="0">
                <a:latin typeface="Cambria"/>
                <a:cs typeface="Cambria"/>
              </a:rPr>
              <a:t> </a:t>
            </a:r>
            <a:r>
              <a:rPr sz="1800" b="1" spc="90" dirty="0">
                <a:latin typeface="Cambria"/>
                <a:cs typeface="Cambria"/>
              </a:rPr>
              <a:t>some</a:t>
            </a:r>
            <a:r>
              <a:rPr sz="1800" b="1" spc="135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extensions</a:t>
            </a:r>
            <a:endParaRPr sz="1800">
              <a:latin typeface="Cambria"/>
              <a:cs typeface="Cambria"/>
            </a:endParaRPr>
          </a:p>
          <a:p>
            <a:pPr marL="195580">
              <a:lnSpc>
                <a:spcPts val="2050"/>
              </a:lnSpc>
            </a:pPr>
            <a:r>
              <a:rPr sz="1800" spc="70" dirty="0">
                <a:latin typeface="Cambria"/>
                <a:cs typeface="Cambria"/>
              </a:rPr>
              <a:t>Python</a:t>
            </a:r>
            <a:endParaRPr sz="1800">
              <a:latin typeface="Cambria"/>
              <a:cs typeface="Cambria"/>
            </a:endParaRPr>
          </a:p>
          <a:p>
            <a:pPr marL="195580" marR="2414270">
              <a:lnSpc>
                <a:spcPts val="2050"/>
              </a:lnSpc>
              <a:spcBef>
                <a:spcPts val="105"/>
              </a:spcBef>
            </a:pPr>
            <a:r>
              <a:rPr sz="1800" spc="70" dirty="0">
                <a:latin typeface="Cambria"/>
                <a:cs typeface="Cambria"/>
              </a:rPr>
              <a:t>Code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Runner </a:t>
            </a:r>
            <a:r>
              <a:rPr sz="1800" spc="105" dirty="0">
                <a:latin typeface="Cambria"/>
                <a:cs typeface="Cambria"/>
              </a:rPr>
              <a:t>Jupyter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78826" y="2059432"/>
            <a:ext cx="1369568" cy="13695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92668" y="4790287"/>
            <a:ext cx="1342008" cy="15613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8513" y="129032"/>
            <a:ext cx="51212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70" dirty="0">
                <a:latin typeface="Cambria"/>
                <a:cs typeface="Cambria"/>
              </a:rPr>
              <a:t>Working</a:t>
            </a:r>
            <a:r>
              <a:rPr sz="2000" b="1" spc="30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with</a:t>
            </a:r>
            <a:r>
              <a:rPr sz="2000" b="1" spc="45" dirty="0">
                <a:latin typeface="Cambria"/>
                <a:cs typeface="Cambria"/>
              </a:rPr>
              <a:t> </a:t>
            </a:r>
            <a:r>
              <a:rPr sz="2000" b="1" spc="90" dirty="0">
                <a:latin typeface="Cambria"/>
                <a:cs typeface="Cambria"/>
              </a:rPr>
              <a:t>Files,</a:t>
            </a:r>
            <a:r>
              <a:rPr sz="2000" b="1" spc="20" dirty="0">
                <a:latin typeface="Cambria"/>
                <a:cs typeface="Cambria"/>
              </a:rPr>
              <a:t> </a:t>
            </a:r>
            <a:r>
              <a:rPr sz="2000" b="1" spc="80" dirty="0">
                <a:latin typeface="Cambria"/>
                <a:cs typeface="Cambria"/>
              </a:rPr>
              <a:t>Folders,</a:t>
            </a:r>
            <a:r>
              <a:rPr sz="2000" b="1" spc="10" dirty="0">
                <a:latin typeface="Cambria"/>
                <a:cs typeface="Cambria"/>
              </a:rPr>
              <a:t> </a:t>
            </a:r>
            <a:r>
              <a:rPr sz="2000" b="1" spc="80" dirty="0">
                <a:latin typeface="Cambria"/>
                <a:cs typeface="Cambria"/>
              </a:rPr>
              <a:t>Kernel,</a:t>
            </a:r>
            <a:r>
              <a:rPr sz="2000" b="1" spc="20" dirty="0">
                <a:latin typeface="Cambria"/>
                <a:cs typeface="Cambria"/>
              </a:rPr>
              <a:t> </a:t>
            </a:r>
            <a:r>
              <a:rPr sz="2000" b="1" spc="80" dirty="0"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8513" y="403047"/>
            <a:ext cx="26498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80" dirty="0">
                <a:latin typeface="Cambria"/>
                <a:cs typeface="Cambria"/>
              </a:rPr>
              <a:t>Terminal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in</a:t>
            </a:r>
            <a:r>
              <a:rPr sz="2000" b="1" spc="40" dirty="0">
                <a:latin typeface="Cambria"/>
                <a:cs typeface="Cambria"/>
              </a:rPr>
              <a:t> </a:t>
            </a:r>
            <a:r>
              <a:rPr sz="2000" b="1" spc="254" dirty="0">
                <a:latin typeface="Cambria"/>
                <a:cs typeface="Cambria"/>
              </a:rPr>
              <a:t>VS</a:t>
            </a:r>
            <a:r>
              <a:rPr sz="2000" b="1" spc="30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Code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513" y="773250"/>
            <a:ext cx="5833110" cy="329819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800" b="1" spc="125" dirty="0">
                <a:latin typeface="Cambria"/>
                <a:cs typeface="Cambria"/>
              </a:rPr>
              <a:t>Select</a:t>
            </a:r>
            <a:r>
              <a:rPr sz="1800" b="1" spc="150" dirty="0">
                <a:latin typeface="Cambria"/>
                <a:cs typeface="Cambria"/>
              </a:rPr>
              <a:t> </a:t>
            </a:r>
            <a:r>
              <a:rPr sz="1800" b="1" spc="130" dirty="0">
                <a:latin typeface="Cambria"/>
                <a:cs typeface="Cambria"/>
              </a:rPr>
              <a:t>a</a:t>
            </a:r>
            <a:r>
              <a:rPr sz="1800" b="1" spc="145" dirty="0">
                <a:latin typeface="Cambria"/>
                <a:cs typeface="Cambria"/>
              </a:rPr>
              <a:t> File </a:t>
            </a:r>
            <a:r>
              <a:rPr sz="1800" b="1" spc="90" dirty="0">
                <a:latin typeface="Cambria"/>
                <a:cs typeface="Cambria"/>
              </a:rPr>
              <a:t>or</a:t>
            </a:r>
            <a:r>
              <a:rPr sz="1800" b="1" spc="155" dirty="0">
                <a:latin typeface="Cambria"/>
                <a:cs typeface="Cambria"/>
              </a:rPr>
              <a:t> </a:t>
            </a:r>
            <a:r>
              <a:rPr sz="1800" b="1" spc="130" dirty="0">
                <a:latin typeface="Cambria"/>
                <a:cs typeface="Cambria"/>
              </a:rPr>
              <a:t>Folder</a:t>
            </a:r>
            <a:r>
              <a:rPr sz="1800" b="1" spc="150" dirty="0">
                <a:latin typeface="Cambria"/>
                <a:cs typeface="Cambria"/>
              </a:rPr>
              <a:t> </a:t>
            </a:r>
            <a:r>
              <a:rPr sz="1800" b="1" spc="130" dirty="0">
                <a:latin typeface="Cambria"/>
                <a:cs typeface="Cambria"/>
              </a:rPr>
              <a:t>in </a:t>
            </a:r>
            <a:r>
              <a:rPr sz="1800" b="1" spc="250" dirty="0">
                <a:latin typeface="Cambria"/>
                <a:cs typeface="Cambria"/>
              </a:rPr>
              <a:t>VS</a:t>
            </a:r>
            <a:r>
              <a:rPr sz="1800" b="1" spc="140" dirty="0">
                <a:latin typeface="Cambria"/>
                <a:cs typeface="Cambria"/>
              </a:rPr>
              <a:t> Code</a:t>
            </a:r>
            <a:endParaRPr sz="18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320"/>
              </a:spcBef>
            </a:pPr>
            <a:r>
              <a:rPr sz="1600" dirty="0">
                <a:solidFill>
                  <a:srgbClr val="6E6E74"/>
                </a:solidFill>
                <a:latin typeface="Segoe UI Symbol"/>
                <a:cs typeface="Segoe UI Symbol"/>
              </a:rPr>
              <a:t>🞄</a:t>
            </a:r>
            <a:r>
              <a:rPr sz="1600" spc="420" dirty="0">
                <a:solidFill>
                  <a:srgbClr val="6E6E74"/>
                </a:solidFill>
                <a:latin typeface="Segoe UI Symbol"/>
                <a:cs typeface="Segoe UI Symbol"/>
              </a:rPr>
              <a:t> </a:t>
            </a:r>
            <a:r>
              <a:rPr sz="1600" spc="75" dirty="0">
                <a:solidFill>
                  <a:srgbClr val="252525"/>
                </a:solidFill>
                <a:latin typeface="Cambria"/>
                <a:cs typeface="Cambria"/>
              </a:rPr>
              <a:t>Open</a:t>
            </a:r>
            <a:r>
              <a:rPr sz="16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190" dirty="0">
                <a:solidFill>
                  <a:srgbClr val="252525"/>
                </a:solidFill>
                <a:latin typeface="Cambria"/>
                <a:cs typeface="Cambria"/>
              </a:rPr>
              <a:t>VS</a:t>
            </a:r>
            <a:r>
              <a:rPr sz="1600" spc="9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60" dirty="0">
                <a:solidFill>
                  <a:srgbClr val="252525"/>
                </a:solidFill>
                <a:latin typeface="Cambria"/>
                <a:cs typeface="Cambria"/>
              </a:rPr>
              <a:t>Code.</a:t>
            </a:r>
            <a:endParaRPr sz="16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6E6E74"/>
                </a:solidFill>
                <a:latin typeface="Segoe UI Symbol"/>
                <a:cs typeface="Segoe UI Symbol"/>
              </a:rPr>
              <a:t>🞄</a:t>
            </a:r>
            <a:r>
              <a:rPr sz="1600" spc="450" dirty="0">
                <a:solidFill>
                  <a:srgbClr val="6E6E74"/>
                </a:solidFill>
                <a:latin typeface="Segoe UI Symbol"/>
                <a:cs typeface="Segoe UI Symbol"/>
              </a:rPr>
              <a:t> </a:t>
            </a:r>
            <a:r>
              <a:rPr sz="1600" spc="90" dirty="0">
                <a:solidFill>
                  <a:srgbClr val="252525"/>
                </a:solidFill>
                <a:latin typeface="Cambria"/>
                <a:cs typeface="Cambria"/>
              </a:rPr>
              <a:t>Click</a:t>
            </a:r>
            <a:r>
              <a:rPr sz="16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on</a:t>
            </a:r>
            <a:r>
              <a:rPr sz="16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80" dirty="0">
                <a:solidFill>
                  <a:srgbClr val="252525"/>
                </a:solidFill>
                <a:latin typeface="Cambria"/>
                <a:cs typeface="Cambria"/>
              </a:rPr>
              <a:t>File</a:t>
            </a:r>
            <a:r>
              <a:rPr sz="16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252525"/>
                </a:solidFill>
                <a:latin typeface="Cambria"/>
                <a:cs typeface="Cambria"/>
              </a:rPr>
              <a:t>in</a:t>
            </a:r>
            <a:r>
              <a:rPr sz="1600" spc="1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16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top</a:t>
            </a:r>
            <a:r>
              <a:rPr sz="16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252525"/>
                </a:solidFill>
                <a:latin typeface="Cambria"/>
                <a:cs typeface="Cambria"/>
              </a:rPr>
              <a:t>menu.</a:t>
            </a:r>
            <a:endParaRPr sz="16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solidFill>
                  <a:srgbClr val="6E6E74"/>
                </a:solidFill>
                <a:latin typeface="Segoe UI Symbol"/>
                <a:cs typeface="Segoe UI Symbol"/>
              </a:rPr>
              <a:t>🞄</a:t>
            </a:r>
            <a:r>
              <a:rPr sz="1600" spc="50" dirty="0">
                <a:solidFill>
                  <a:srgbClr val="6E6E74"/>
                </a:solidFill>
                <a:latin typeface="Segoe UI Symbol"/>
                <a:cs typeface="Segoe UI Symbol"/>
              </a:rPr>
              <a:t>  </a:t>
            </a:r>
            <a:r>
              <a:rPr sz="1600" spc="65" dirty="0">
                <a:solidFill>
                  <a:srgbClr val="252525"/>
                </a:solidFill>
                <a:latin typeface="Cambria"/>
                <a:cs typeface="Cambria"/>
              </a:rPr>
              <a:t>Select</a:t>
            </a:r>
            <a:r>
              <a:rPr sz="1600" spc="16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75" dirty="0">
                <a:solidFill>
                  <a:srgbClr val="252525"/>
                </a:solidFill>
                <a:latin typeface="Cambria"/>
                <a:cs typeface="Cambria"/>
              </a:rPr>
              <a:t>Open</a:t>
            </a:r>
            <a:r>
              <a:rPr sz="1600" spc="1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Folder</a:t>
            </a:r>
            <a:r>
              <a:rPr sz="1600" spc="16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to</a:t>
            </a:r>
            <a:r>
              <a:rPr sz="1600" spc="1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choose</a:t>
            </a:r>
            <a:r>
              <a:rPr sz="1600" spc="1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your</a:t>
            </a:r>
            <a:r>
              <a:rPr sz="1600" spc="17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project</a:t>
            </a:r>
            <a:r>
              <a:rPr sz="1600" spc="1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Cambria"/>
                <a:cs typeface="Cambria"/>
              </a:rPr>
              <a:t>directory.</a:t>
            </a:r>
            <a:endParaRPr sz="1600">
              <a:latin typeface="Cambria"/>
              <a:cs typeface="Cambria"/>
            </a:endParaRPr>
          </a:p>
          <a:p>
            <a:pPr marL="469900" marR="5715" indent="-182880">
              <a:lnSpc>
                <a:spcPts val="1730"/>
              </a:lnSpc>
              <a:spcBef>
                <a:spcPts val="325"/>
              </a:spcBef>
            </a:pPr>
            <a:r>
              <a:rPr sz="1600" dirty="0">
                <a:solidFill>
                  <a:srgbClr val="6E6E74"/>
                </a:solidFill>
                <a:latin typeface="Segoe UI Symbol"/>
                <a:cs typeface="Segoe UI Symbol"/>
              </a:rPr>
              <a:t>🞄</a:t>
            </a:r>
            <a:r>
              <a:rPr sz="1600" spc="484" dirty="0">
                <a:solidFill>
                  <a:srgbClr val="6E6E74"/>
                </a:solidFill>
                <a:latin typeface="Segoe UI Symbol"/>
                <a:cs typeface="Segoe UI Symbol"/>
              </a:rPr>
              <a:t> </a:t>
            </a:r>
            <a:r>
              <a:rPr sz="1600" spc="50" dirty="0">
                <a:solidFill>
                  <a:srgbClr val="252525"/>
                </a:solidFill>
                <a:latin typeface="Cambria"/>
                <a:cs typeface="Cambria"/>
              </a:rPr>
              <a:t>Alternatively,</a:t>
            </a:r>
            <a:r>
              <a:rPr sz="1600" spc="2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click</a:t>
            </a:r>
            <a:r>
              <a:rPr sz="1600" spc="2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1600" spc="2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Explorer</a:t>
            </a:r>
            <a:r>
              <a:rPr sz="1600" spc="2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icon</a:t>
            </a:r>
            <a:r>
              <a:rPr sz="1600" spc="2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on</a:t>
            </a:r>
            <a:r>
              <a:rPr sz="1600" spc="27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1600" spc="2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0" dirty="0">
                <a:solidFill>
                  <a:srgbClr val="252525"/>
                </a:solidFill>
                <a:latin typeface="Cambria"/>
                <a:cs typeface="Cambria"/>
              </a:rPr>
              <a:t>left</a:t>
            </a:r>
            <a:r>
              <a:rPr sz="1600" spc="2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Cambria"/>
                <a:cs typeface="Cambria"/>
              </a:rPr>
              <a:t>sidebar </a:t>
            </a:r>
            <a:r>
              <a:rPr sz="1600" spc="65" dirty="0">
                <a:solidFill>
                  <a:srgbClr val="252525"/>
                </a:solidFill>
                <a:latin typeface="Cambria"/>
                <a:cs typeface="Cambria"/>
              </a:rPr>
              <a:t>and</a:t>
            </a:r>
            <a:r>
              <a:rPr sz="1600" spc="1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select</a:t>
            </a:r>
            <a:r>
              <a:rPr sz="1600" spc="16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1600" spc="18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45" dirty="0">
                <a:solidFill>
                  <a:srgbClr val="252525"/>
                </a:solidFill>
                <a:latin typeface="Cambria"/>
                <a:cs typeface="Cambria"/>
              </a:rPr>
              <a:t>file.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800" b="1" spc="125" dirty="0">
                <a:latin typeface="Cambria"/>
                <a:cs typeface="Cambria"/>
              </a:rPr>
              <a:t>Select</a:t>
            </a:r>
            <a:r>
              <a:rPr sz="1800" b="1" spc="165" dirty="0">
                <a:latin typeface="Cambria"/>
                <a:cs typeface="Cambria"/>
              </a:rPr>
              <a:t> </a:t>
            </a:r>
            <a:r>
              <a:rPr sz="1800" b="1" spc="180" dirty="0">
                <a:latin typeface="Cambria"/>
                <a:cs typeface="Cambria"/>
              </a:rPr>
              <a:t>Jupyter</a:t>
            </a:r>
            <a:r>
              <a:rPr sz="1800" b="1" spc="175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Kernel</a:t>
            </a:r>
            <a:endParaRPr sz="18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310"/>
              </a:spcBef>
            </a:pPr>
            <a:r>
              <a:rPr sz="1600" dirty="0">
                <a:solidFill>
                  <a:srgbClr val="6E6E74"/>
                </a:solidFill>
                <a:latin typeface="Segoe UI Symbol"/>
                <a:cs typeface="Segoe UI Symbol"/>
              </a:rPr>
              <a:t>🞄</a:t>
            </a:r>
            <a:r>
              <a:rPr sz="1600" spc="75" dirty="0">
                <a:solidFill>
                  <a:srgbClr val="6E6E74"/>
                </a:solidFill>
                <a:latin typeface="Segoe UI Symbol"/>
                <a:cs typeface="Segoe UI Symbol"/>
              </a:rPr>
              <a:t>  </a:t>
            </a:r>
            <a:r>
              <a:rPr sz="1600" spc="60" dirty="0">
                <a:solidFill>
                  <a:srgbClr val="252525"/>
                </a:solidFill>
                <a:latin typeface="Cambria"/>
                <a:cs typeface="Cambria"/>
              </a:rPr>
              <a:t>After</a:t>
            </a:r>
            <a:r>
              <a:rPr sz="1600" spc="1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opening</a:t>
            </a:r>
            <a:r>
              <a:rPr sz="1600" spc="20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1600" spc="19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90" dirty="0">
                <a:solidFill>
                  <a:srgbClr val="252525"/>
                </a:solidFill>
                <a:latin typeface="Cambria"/>
                <a:cs typeface="Cambria"/>
              </a:rPr>
              <a:t>Jupyter</a:t>
            </a:r>
            <a:r>
              <a:rPr sz="1600" spc="2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Notebook</a:t>
            </a:r>
            <a:r>
              <a:rPr sz="1600" spc="1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file</a:t>
            </a:r>
            <a:r>
              <a:rPr sz="1600" spc="18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Cambria"/>
                <a:cs typeface="Cambria"/>
              </a:rPr>
              <a:t>(.ipynb):</a:t>
            </a:r>
            <a:endParaRPr sz="1600">
              <a:latin typeface="Cambria"/>
              <a:cs typeface="Cambria"/>
            </a:endParaRPr>
          </a:p>
          <a:p>
            <a:pPr marL="469900" marR="5080" indent="-182880">
              <a:lnSpc>
                <a:spcPts val="1730"/>
              </a:lnSpc>
              <a:spcBef>
                <a:spcPts val="325"/>
              </a:spcBef>
            </a:pPr>
            <a:r>
              <a:rPr sz="1600" dirty="0">
                <a:solidFill>
                  <a:srgbClr val="6E6E74"/>
                </a:solidFill>
                <a:latin typeface="Segoe UI Symbol"/>
                <a:cs typeface="Segoe UI Symbol"/>
              </a:rPr>
              <a:t>🞄</a:t>
            </a:r>
            <a:r>
              <a:rPr sz="1600" spc="430" dirty="0">
                <a:solidFill>
                  <a:srgbClr val="6E6E74"/>
                </a:solidFill>
                <a:latin typeface="Segoe UI Symbol"/>
                <a:cs typeface="Segoe UI Symbol"/>
              </a:rPr>
              <a:t> </a:t>
            </a:r>
            <a:r>
              <a:rPr sz="1600" spc="90" dirty="0">
                <a:solidFill>
                  <a:srgbClr val="252525"/>
                </a:solidFill>
                <a:latin typeface="Cambria"/>
                <a:cs typeface="Cambria"/>
              </a:rPr>
              <a:t>Click</a:t>
            </a:r>
            <a:r>
              <a:rPr sz="1600" spc="140" dirty="0">
                <a:solidFill>
                  <a:srgbClr val="252525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on</a:t>
            </a:r>
            <a:r>
              <a:rPr sz="1600" spc="135" dirty="0">
                <a:solidFill>
                  <a:srgbClr val="252525"/>
                </a:solidFill>
                <a:latin typeface="Cambria"/>
                <a:cs typeface="Cambria"/>
              </a:rPr>
              <a:t> 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1600" spc="150" dirty="0">
                <a:solidFill>
                  <a:srgbClr val="252525"/>
                </a:solidFill>
                <a:latin typeface="Cambria"/>
                <a:cs typeface="Cambria"/>
              </a:rPr>
              <a:t> 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kernel</a:t>
            </a:r>
            <a:r>
              <a:rPr sz="1600" spc="145" dirty="0">
                <a:solidFill>
                  <a:srgbClr val="252525"/>
                </a:solidFill>
                <a:latin typeface="Cambria"/>
                <a:cs typeface="Cambria"/>
              </a:rPr>
              <a:t>  </a:t>
            </a:r>
            <a:r>
              <a:rPr sz="1600" spc="60" dirty="0">
                <a:solidFill>
                  <a:srgbClr val="252525"/>
                </a:solidFill>
                <a:latin typeface="Cambria"/>
                <a:cs typeface="Cambria"/>
              </a:rPr>
              <a:t>name</a:t>
            </a:r>
            <a:r>
              <a:rPr sz="1600" spc="145" dirty="0">
                <a:solidFill>
                  <a:srgbClr val="252525"/>
                </a:solidFill>
                <a:latin typeface="Cambria"/>
                <a:cs typeface="Cambria"/>
              </a:rPr>
              <a:t>  </a:t>
            </a:r>
            <a:r>
              <a:rPr sz="1600" spc="-10" dirty="0">
                <a:solidFill>
                  <a:srgbClr val="252525"/>
                </a:solidFill>
                <a:latin typeface="Cambria"/>
                <a:cs typeface="Cambria"/>
              </a:rPr>
              <a:t>(top-</a:t>
            </a:r>
            <a:r>
              <a:rPr sz="1600" spc="60" dirty="0">
                <a:solidFill>
                  <a:srgbClr val="252525"/>
                </a:solidFill>
                <a:latin typeface="Cambria"/>
                <a:cs typeface="Cambria"/>
              </a:rPr>
              <a:t>right</a:t>
            </a:r>
            <a:r>
              <a:rPr sz="1600" spc="150" dirty="0">
                <a:solidFill>
                  <a:srgbClr val="252525"/>
                </a:solidFill>
                <a:latin typeface="Cambria"/>
                <a:cs typeface="Cambria"/>
              </a:rPr>
              <a:t> 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of</a:t>
            </a:r>
            <a:r>
              <a:rPr sz="1600" spc="140" dirty="0">
                <a:solidFill>
                  <a:srgbClr val="252525"/>
                </a:solidFill>
                <a:latin typeface="Cambria"/>
                <a:cs typeface="Cambria"/>
              </a:rPr>
              <a:t> 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1600" spc="150" dirty="0">
                <a:solidFill>
                  <a:srgbClr val="252525"/>
                </a:solidFill>
                <a:latin typeface="Cambria"/>
                <a:cs typeface="Cambria"/>
              </a:rPr>
              <a:t>  </a:t>
            </a:r>
            <a:r>
              <a:rPr sz="1600" spc="-10" dirty="0">
                <a:solidFill>
                  <a:srgbClr val="252525"/>
                </a:solidFill>
                <a:latin typeface="Cambria"/>
                <a:cs typeface="Cambria"/>
              </a:rPr>
              <a:t>notebook editor).</a:t>
            </a:r>
            <a:endParaRPr sz="1600">
              <a:latin typeface="Cambria"/>
              <a:cs typeface="Cambria"/>
            </a:endParaRPr>
          </a:p>
          <a:p>
            <a:pPr marL="286385">
              <a:lnSpc>
                <a:spcPts val="1825"/>
              </a:lnSpc>
              <a:spcBef>
                <a:spcPts val="80"/>
              </a:spcBef>
            </a:pPr>
            <a:r>
              <a:rPr sz="1600" dirty="0">
                <a:solidFill>
                  <a:srgbClr val="6E6E74"/>
                </a:solidFill>
                <a:latin typeface="Segoe UI Symbol"/>
                <a:cs typeface="Segoe UI Symbol"/>
              </a:rPr>
              <a:t>🞄</a:t>
            </a:r>
            <a:r>
              <a:rPr sz="1600" spc="45" dirty="0">
                <a:solidFill>
                  <a:srgbClr val="6E6E74"/>
                </a:solidFill>
                <a:latin typeface="Segoe UI Symbol"/>
                <a:cs typeface="Segoe UI Symbol"/>
              </a:rPr>
              <a:t> 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Choose</a:t>
            </a:r>
            <a:r>
              <a:rPr sz="1600" spc="4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1600" spc="43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252525"/>
                </a:solidFill>
                <a:latin typeface="Cambria"/>
                <a:cs typeface="Cambria"/>
              </a:rPr>
              <a:t>Python</a:t>
            </a:r>
            <a:r>
              <a:rPr sz="1600" spc="4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environment</a:t>
            </a:r>
            <a:r>
              <a:rPr sz="1600" spc="4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or</a:t>
            </a:r>
            <a:r>
              <a:rPr sz="1600" spc="45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kernel</a:t>
            </a:r>
            <a:r>
              <a:rPr sz="1600" spc="43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you</a:t>
            </a:r>
            <a:r>
              <a:rPr sz="1600" spc="4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252525"/>
                </a:solidFill>
                <a:latin typeface="Cambria"/>
                <a:cs typeface="Cambria"/>
              </a:rPr>
              <a:t>want</a:t>
            </a:r>
            <a:r>
              <a:rPr sz="1600" spc="45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-25" dirty="0">
                <a:solidFill>
                  <a:srgbClr val="252525"/>
                </a:solidFill>
                <a:latin typeface="Cambria"/>
                <a:cs typeface="Cambria"/>
              </a:rPr>
              <a:t>to</a:t>
            </a:r>
            <a:endParaRPr sz="1600">
              <a:latin typeface="Cambria"/>
              <a:cs typeface="Cambria"/>
            </a:endParaRPr>
          </a:p>
          <a:p>
            <a:pPr marL="469900">
              <a:lnSpc>
                <a:spcPts val="1825"/>
              </a:lnSpc>
            </a:pPr>
            <a:r>
              <a:rPr sz="1600" spc="50" dirty="0">
                <a:solidFill>
                  <a:srgbClr val="252525"/>
                </a:solidFill>
                <a:latin typeface="Cambria"/>
                <a:cs typeface="Cambria"/>
              </a:rPr>
              <a:t>use</a:t>
            </a:r>
            <a:r>
              <a:rPr sz="16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dirty="0">
                <a:solidFill>
                  <a:srgbClr val="252525"/>
                </a:solidFill>
                <a:latin typeface="Cambria"/>
                <a:cs typeface="Cambria"/>
              </a:rPr>
              <a:t>for</a:t>
            </a:r>
            <a:r>
              <a:rPr sz="16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65" dirty="0">
                <a:solidFill>
                  <a:srgbClr val="252525"/>
                </a:solidFill>
                <a:latin typeface="Cambria"/>
                <a:cs typeface="Cambria"/>
              </a:rPr>
              <a:t>running</a:t>
            </a:r>
            <a:r>
              <a:rPr sz="16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55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16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Cambria"/>
                <a:cs typeface="Cambria"/>
              </a:rPr>
              <a:t>notebook.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4609" y="6147917"/>
            <a:ext cx="534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8E8E93"/>
                </a:solidFill>
                <a:latin typeface="Cambria"/>
                <a:cs typeface="Cambria"/>
              </a:rPr>
              <a:t>19</a:t>
            </a:r>
            <a:endParaRPr sz="36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95516" y="2268982"/>
            <a:ext cx="4985385" cy="1577340"/>
            <a:chOff x="6295516" y="2268982"/>
            <a:chExt cx="4985385" cy="15773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5516" y="2268982"/>
              <a:ext cx="4985131" cy="15769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6411" y="2574036"/>
              <a:ext cx="474725" cy="31165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624698" y="2602318"/>
            <a:ext cx="1094740" cy="23431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180"/>
              </a:spcBef>
            </a:pPr>
            <a:r>
              <a:rPr sz="1200" spc="50" dirty="0">
                <a:solidFill>
                  <a:srgbClr val="FF0000"/>
                </a:solidFill>
                <a:latin typeface="Cambria"/>
                <a:cs typeface="Cambria"/>
              </a:rPr>
              <a:t>Open</a:t>
            </a:r>
            <a:r>
              <a:rPr sz="1200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Cambria"/>
                <a:cs typeface="Cambria"/>
              </a:rPr>
              <a:t>folder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86880" y="3845940"/>
            <a:ext cx="5026025" cy="1384300"/>
            <a:chOff x="6286880" y="3845940"/>
            <a:chExt cx="5026025" cy="13843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6880" y="3845940"/>
              <a:ext cx="4991227" cy="13843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59723" y="4442447"/>
              <a:ext cx="685647" cy="57595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48927" y="4535436"/>
              <a:ext cx="2363597" cy="68261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161144" y="4644897"/>
            <a:ext cx="1944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635" marR="5080" indent="-24257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Cambria"/>
                <a:cs typeface="Cambria"/>
              </a:rPr>
              <a:t>Select</a:t>
            </a:r>
            <a:r>
              <a:rPr sz="120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FF0000"/>
                </a:solidFill>
                <a:latin typeface="Cambria"/>
                <a:cs typeface="Cambria"/>
              </a:rPr>
              <a:t>your</a:t>
            </a:r>
            <a:r>
              <a:rPr sz="1200" spc="2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FF0000"/>
                </a:solidFill>
                <a:latin typeface="Cambria"/>
                <a:cs typeface="Cambria"/>
              </a:rPr>
              <a:t>folder</a:t>
            </a:r>
            <a:r>
              <a:rPr sz="1200" spc="20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spc="5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120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spc="-20" dirty="0">
                <a:solidFill>
                  <a:srgbClr val="FF0000"/>
                </a:solidFill>
                <a:latin typeface="Cambria"/>
                <a:cs typeface="Cambria"/>
              </a:rPr>
              <a:t>open </a:t>
            </a:r>
            <a:r>
              <a:rPr sz="1200" dirty="0">
                <a:solidFill>
                  <a:srgbClr val="FF0000"/>
                </a:solidFill>
                <a:latin typeface="Cambria"/>
                <a:cs typeface="Cambria"/>
              </a:rPr>
              <a:t>in</a:t>
            </a:r>
            <a:r>
              <a:rPr sz="12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spc="50" dirty="0">
                <a:solidFill>
                  <a:srgbClr val="FF0000"/>
                </a:solidFill>
                <a:latin typeface="Cambria"/>
                <a:cs typeface="Cambria"/>
              </a:rPr>
              <a:t>visual</a:t>
            </a:r>
            <a:r>
              <a:rPr sz="1200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FF0000"/>
                </a:solidFill>
                <a:latin typeface="Cambria"/>
                <a:cs typeface="Cambria"/>
              </a:rPr>
              <a:t>studio</a:t>
            </a:r>
            <a:r>
              <a:rPr sz="12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spc="-20" dirty="0">
                <a:solidFill>
                  <a:srgbClr val="FF0000"/>
                </a:solidFill>
                <a:latin typeface="Cambria"/>
                <a:cs typeface="Cambria"/>
              </a:rPr>
              <a:t>code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70878" y="5204967"/>
            <a:ext cx="5007610" cy="1653539"/>
            <a:chOff x="6270878" y="5204967"/>
            <a:chExt cx="5007610" cy="1653539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0878" y="5204967"/>
              <a:ext cx="5007229" cy="165303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95559" y="5663183"/>
              <a:ext cx="621690" cy="68110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621901" y="6165215"/>
            <a:ext cx="1402715" cy="23431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185"/>
              </a:spcBef>
            </a:pPr>
            <a:r>
              <a:rPr sz="1200" dirty="0">
                <a:solidFill>
                  <a:srgbClr val="FF0000"/>
                </a:solidFill>
                <a:latin typeface="Cambria"/>
                <a:cs typeface="Cambria"/>
              </a:rPr>
              <a:t>Select</a:t>
            </a:r>
            <a:r>
              <a:rPr sz="1200" spc="3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Cambria"/>
                <a:cs typeface="Cambria"/>
              </a:rPr>
              <a:t>kernel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117" y="507"/>
            <a:ext cx="11262995" cy="6858000"/>
            <a:chOff x="18117" y="507"/>
            <a:chExt cx="11262995" cy="6858000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78498" y="507"/>
              <a:ext cx="5002149" cy="224967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23660" y="36550"/>
              <a:ext cx="588137" cy="66893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02908" y="179451"/>
              <a:ext cx="1211960" cy="10841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117" y="4134357"/>
              <a:ext cx="6268720" cy="272364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06752" y="4408906"/>
              <a:ext cx="589711" cy="66893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90420" y="4615561"/>
              <a:ext cx="1386967" cy="10091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" y="0"/>
              <a:ext cx="11734800" cy="6858000"/>
            </a:xfrm>
            <a:custGeom>
              <a:avLst/>
              <a:gdLst/>
              <a:ahLst/>
              <a:cxnLst/>
              <a:rect l="l" t="t" r="r" b="b"/>
              <a:pathLst>
                <a:path w="11734800" h="6858000">
                  <a:moveTo>
                    <a:pt x="0" y="6858000"/>
                  </a:moveTo>
                  <a:lnTo>
                    <a:pt x="11734800" y="6858000"/>
                  </a:lnTo>
                  <a:lnTo>
                    <a:pt x="117348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6858000"/>
            </a:xfrm>
            <a:custGeom>
              <a:avLst/>
              <a:gdLst/>
              <a:ahLst/>
              <a:cxnLst/>
              <a:rect l="l" t="t" r="r" b="b"/>
              <a:pathLst>
                <a:path w="457200" h="6858000">
                  <a:moveTo>
                    <a:pt x="457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" y="68580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83411" y="4202684"/>
            <a:ext cx="3317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75" dirty="0">
                <a:solidFill>
                  <a:srgbClr val="D5D2CC"/>
                </a:solidFill>
                <a:latin typeface="Cambria"/>
                <a:cs typeface="Cambria"/>
              </a:rPr>
              <a:t>Happy</a:t>
            </a:r>
            <a:r>
              <a:rPr sz="4000" spc="170" dirty="0">
                <a:solidFill>
                  <a:srgbClr val="D5D2CC"/>
                </a:solidFill>
                <a:latin typeface="Cambria"/>
                <a:cs typeface="Cambria"/>
              </a:rPr>
              <a:t> </a:t>
            </a:r>
            <a:r>
              <a:rPr sz="4000" spc="125" dirty="0">
                <a:solidFill>
                  <a:srgbClr val="D5D2CC"/>
                </a:solidFill>
                <a:latin typeface="Cambria"/>
                <a:cs typeface="Cambria"/>
              </a:rPr>
              <a:t>Coding</a:t>
            </a:r>
            <a:endParaRPr sz="40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48" y="2257830"/>
            <a:ext cx="3036787" cy="30384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7AAB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1042</TotalTime>
  <Words>1331</Words>
  <Application>Microsoft Office PowerPoint</Application>
  <PresentationFormat>Widescreen</PresentationFormat>
  <Paragraphs>207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Cambria</vt:lpstr>
      <vt:lpstr>Consolas</vt:lpstr>
      <vt:lpstr>Segoe UI</vt:lpstr>
      <vt:lpstr>Segoe UI Symbol</vt:lpstr>
      <vt:lpstr>Tahoma</vt:lpstr>
      <vt:lpstr>Times New Roman</vt:lpstr>
      <vt:lpstr>Office Theme</vt:lpstr>
      <vt:lpstr>Spring of Code Artificial Intelligence</vt:lpstr>
      <vt:lpstr>Day 02 – Linux Shell Scripting Fundamentals</vt:lpstr>
      <vt:lpstr>What is a Computer?</vt:lpstr>
      <vt:lpstr>How does a Computer understand the instructions?</vt:lpstr>
      <vt:lpstr>How does a Computer understand the instructions?</vt:lpstr>
      <vt:lpstr>How does a Computer understand the instructions?</vt:lpstr>
      <vt:lpstr>Introduction to Operating Systems?</vt:lpstr>
      <vt:lpstr>OS Comparisons for AI Work</vt:lpstr>
      <vt:lpstr>Interface</vt:lpstr>
      <vt:lpstr>Terminal/CMD and Shell</vt:lpstr>
      <vt:lpstr>PowerPoint Presentation</vt:lpstr>
      <vt:lpstr>PowerPoint Presentation</vt:lpstr>
      <vt:lpstr>PowerPoint Presentation</vt:lpstr>
      <vt:lpstr>PowerPoint Presentation</vt:lpstr>
      <vt:lpstr>command &gt; file (output to file) or &gt;&gt; (append). AI: python train.py &gt; log.txt</vt:lpstr>
      <vt:lpstr>PowerPoint Presentation</vt:lpstr>
      <vt:lpstr>PowerPoint Presentation</vt:lpstr>
      <vt:lpstr>Setting Up the Python Environment</vt:lpstr>
      <vt:lpstr>Terminal in VS Code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Asad Afridi</cp:lastModifiedBy>
  <cp:revision>1</cp:revision>
  <dcterms:created xsi:type="dcterms:W3CDTF">2026-02-12T11:38:48Z</dcterms:created>
  <dcterms:modified xsi:type="dcterms:W3CDTF">2026-02-13T06:51:26Z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2026-02-12T00:00:00Z</vt:filetime>
  </property>
  <property fmtid="{D5CDD505-2E9C-101B-9397-08002B2CF9AE}" pid="5" name="Producer">
    <vt:lpwstr>Microsoft® PowerPoint® for Microsoft 365</vt:lpwstr>
  </property>
</Properties>
</file>